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harts/chart10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4" r:id="rId2"/>
  </p:sldMasterIdLst>
  <p:notesMasterIdLst>
    <p:notesMasterId r:id="rId5"/>
  </p:notesMasterIdLst>
  <p:sldIdLst>
    <p:sldId id="1881839119" r:id="rId3"/>
    <p:sldId id="259" r:id="rId4"/>
    <p:sldId id="1881839120" r:id="rId10"/>
    <p:sldId id="188183912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  <Relationship Id="rId10" Type="http://schemas.openxmlformats.org/officeDocument/2006/relationships/slide" Target="slides/slide3.xml"/>
  <Relationship Id="rId11" Type="http://schemas.openxmlformats.org/officeDocument/2006/relationships/slide" Target="slides/slide4.xml"/>
</Relationships>
</file>

<file path=ppt/charts/_rels/chart101.xml.rels><?xml version="1.0" encoding="UTF-8" standalone="yes"?><Relationships xmlns="http://schemas.openxmlformats.org/package/2006/relationships"><Relationship Id="rId1" Type="http://schemas.openxmlformats.org/officeDocument/2006/relationships/package" Target="../embeddings/Priority_Chart_Data.xlsx"/>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FFE60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24"/>
                    </a:solidFill>
                    <a:latin typeface="EYInterstat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   Risk reduction and prevention</c:v>
                  </c:pt>
                  <c:pt idx="1">
                    <c:v>2   Land-use change and habitat protection</c:v>
                  </c:pt>
                  <c:pt idx="2">
                    <c:v>3   Water availability</c:v>
                  </c:pt>
                  <c:pt idx="3">
                    <c:v>4   Water quality</c:v>
                  </c:pt>
                  <c:pt idx="4">
                    <c:v>5   Sustainable agriculture</c:v>
                  </c:pt>
                  <c:pt idx="5">
                    <c:v>6   Long-term adaptation and resilience</c:v>
                  </c:pt>
                  <c:pt idx="6">
                    <c:v>7   Water usage</c:v>
                  </c:pt>
                  <c:pt idx="7">
                    <c:v>8   Nature-positive buildings</c:v>
                  </c:pt>
                  <c:pt idx="8">
                    <c:v>9   Flood mitigation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4.5</c:v>
                </c:pt>
                <c:pt idx="1">
                  <c:v>4.2</c:v>
                </c:pt>
                <c:pt idx="2">
                  <c:v>4</c:v>
                </c:pt>
                <c:pt idx="3">
                  <c:v>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A5A5B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24"/>
                    </a:solidFill>
                    <a:latin typeface="EYInterstat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   Risk reduction and prevention</c:v>
                  </c:pt>
                  <c:pt idx="1">
                    <c:v>2   Land-use change and habitat protection</c:v>
                  </c:pt>
                  <c:pt idx="2">
                    <c:v>3   Water availability</c:v>
                  </c:pt>
                  <c:pt idx="3">
                    <c:v>4   Water quality</c:v>
                  </c:pt>
                  <c:pt idx="4">
                    <c:v>5   Sustainable agriculture</c:v>
                  </c:pt>
                  <c:pt idx="5">
                    <c:v>6   Long-term adaptation and resilience</c:v>
                  </c:pt>
                  <c:pt idx="6">
                    <c:v>7   Water usage</c:v>
                  </c:pt>
                  <c:pt idx="7">
                    <c:v>8   Nature-positive buildings</c:v>
                  </c:pt>
                  <c:pt idx="8">
                    <c:v>9   Flood mitigation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3.9</c:v>
                </c:pt>
                <c:pt idx="5">
                  <c:v>3.5</c:v>
                </c:pt>
                <c:pt idx="6">
                  <c:v>3.3</c:v>
                </c:pt>
                <c:pt idx="7">
                  <c:v>3.1</c:v>
                </c:pt>
                <c:pt idx="8">
                  <c:v>3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1" i="0" strike="noStrike" sz="1100" u="none">
                  <a:solidFill>
                    <a:srgbClr val="1A1A24"/>
                  </a:solidFill>
                  <a:latin typeface="EYInterstat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2F2F2"/>
                </a:solidFill>
                <a:latin typeface="EYInterstate Ligh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1C2B1-23C1-4307-B4AD-DAB351667850}" type="datetimeFigureOut">
              <a:rPr lang="en-IE" smtClean="0"/>
              <a:t>07/10/2026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DF5790-E546-4855-B1FF-519DEAB91AE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938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LBG, Working with nature (2024), pp.3–14.</a:t>
            </a:r>
          </a:p>
          <a:p>
            <a:r>
              <a:t>LBG, Built to Last (Sep 2026), pp.2–21.</a:t>
            </a:r>
          </a:p>
          <a:p>
            <a:r>
              <a:t>LBG, Sustainability Data Sheet 2025, tabs 15, 18, 20, 23.</a:t>
            </a:r>
          </a:p>
          <a:p>
            <a:r>
              <a:t>LBG, Sustainable Financing Framework 2025, pp.7–17.</a:t>
            </a:r>
          </a:p>
          <a:p>
            <a:r>
              <a:t>EY NBSAP PowerBI Excel (UK rows); LBG_UK_NBSAP_Mapping_v2.xlsx, Scoring tab.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E77733-57F8-4C9B-8F25-DC6A87FADDF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LBG_UK_NBSAP_Mapping_v2.xlsx: Scoring, Rubric, Evidence_Log and NBSAP_Mapping tabs.</a:t>
            </a:r>
          </a:p>
          <a:p>
            <a:r>
              <a:t>LBG, Sustainability Data Sheet 2025, tab 18 (exposure at 31 Dec 2025; property companies and mortgages not classed as nature priority by LBG, footnotes 8 and 11).</a:t>
            </a:r>
          </a:p>
          <a:p>
            <a:r>
              <a:t>LBG, Built to Last (2026), pp.15–17 (HARP, Cleve Hill).</a:t>
            </a:r>
          </a:p>
          <a:p>
            <a:r>
              <a:t>EY NBSAP PowerBI Excel, Market_Examples (GBR) – values indicative.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E77733-57F8-4C9B-8F25-DC6A87FADDF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LBG_UK_NBSAP_Mapping_v2.xlsx, Scoring tab (top four priorities).</a:t>
            </a:r>
          </a:p>
          <a:p>
            <a:r>
              <a:t>Support areas indicative; to be aligned with the EY CCaSS service catalogue.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E77733-57F8-4C9B-8F25-DC6A87FADDF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4.bin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emf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blurry image of a rainbow&#10;&#10;Description automatically generated"/>
          <p:cNvPicPr/>
          <p:nvPr userDrawn="1"/>
        </p:nvPicPr>
        <p:blipFill>
          <a:blip r:embed="rId4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75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7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sz="1600">
                <a:latin typeface="EYInterstate Regular" panose="0200050302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89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99" name="Freeform 298"/>
            <p:cNvSpPr/>
            <p:nvPr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/>
            <p:cNvSpPr/>
            <p:nvPr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FF32FF"/>
                </a:gs>
                <a:gs pos="100000">
                  <a:srgbClr val="32FF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97" name="Freeform 296"/>
            <p:cNvSpPr/>
            <p:nvPr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/>
            <p:cNvSpPr/>
            <p:nvPr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10" name="Group 309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311" name="Freeform 310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 311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6622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Spectru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5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 descr="A bright light in the dark&#10;&#10;Description automatically generated"/>
          <p:cNvPicPr/>
          <p:nvPr userDrawn="1"/>
        </p:nvPicPr>
        <p:blipFill>
          <a:blip r:embed="rId4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B400FF"/>
                </a:gs>
                <a:gs pos="100000">
                  <a:srgbClr val="4696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/>
            </a:p>
          </p:txBody>
        </p:sp>
      </p:grpSp>
      <p:grpSp>
        <p:nvGrpSpPr>
          <p:cNvPr id="3" name="Group 2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" name="Group 15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00023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Spectrum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colorful light in the dark&#10;&#10;Description automatically generated"/>
          <p:cNvPicPr/>
          <p:nvPr userDrawn="1"/>
        </p:nvPicPr>
        <p:blipFill>
          <a:blip r:embed="rId4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FF32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4" name="Group 3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90475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Yellow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solidFill>
              <a:schemeClr val="tx2"/>
            </a:soli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3" name="Group 2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74045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Wri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5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2" name="Title 4"/>
          <p:cNvSpPr>
            <a:spLocks noGrp="1"/>
          </p:cNvSpPr>
          <p:nvPr>
            <p:ph type="title"/>
          </p:nvPr>
        </p:nvSpPr>
        <p:spPr>
          <a:xfrm>
            <a:off x="889762" y="21272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38649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3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44759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719508"/>
            <a:ext cx="5706110" cy="4360545"/>
            <a:chOff x="485774" y="719508"/>
            <a:chExt cx="5706110" cy="4360545"/>
          </a:xfrm>
        </p:grpSpPr>
        <p:sp>
          <p:nvSpPr>
            <p:cNvPr id="10" name="Freeform 25"/>
            <p:cNvSpPr/>
            <p:nvPr userDrawn="1"/>
          </p:nvSpPr>
          <p:spPr>
            <a:xfrm>
              <a:off x="485774" y="49784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3"/>
            <p:cNvSpPr/>
            <p:nvPr userDrawn="1"/>
          </p:nvSpPr>
          <p:spPr>
            <a:xfrm>
              <a:off x="485775" y="7195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solidFill>
              <a:schemeClr val="tx2"/>
            </a:soli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sp>
        <p:nvSpPr>
          <p:cNvPr id="15" name="TextBox 14"/>
          <p:cNvSpPr txBox="1"/>
          <p:nvPr userDrawn="1"/>
        </p:nvSpPr>
        <p:spPr>
          <a:xfrm>
            <a:off x="461984" y="5552404"/>
            <a:ext cx="1045073" cy="19758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GB" sz="1200">
                <a:solidFill>
                  <a:schemeClr val="bg1"/>
                </a:solidFill>
                <a:latin typeface="EYInterstate Light" panose="02000506000000020004" pitchFamily="2" charset="0"/>
              </a:rPr>
              <a:t>Written by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1333184" y="5656264"/>
            <a:ext cx="8122101" cy="0"/>
          </a:xfrm>
          <a:prstGeom prst="line">
            <a:avLst/>
          </a:prstGeom>
          <a:ln w="9525" cap="flat" cmpd="sng" algn="ctr">
            <a:solidFill>
              <a:srgbClr val="C4C4C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1333184" y="5966393"/>
            <a:ext cx="3089275" cy="180000"/>
          </a:xfrm>
        </p:spPr>
        <p:txBody>
          <a:bodyPr/>
          <a:lstStyle>
            <a:lvl1pPr marL="0" indent="0">
              <a:buNone/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5" hasCustomPrompt="1"/>
          </p:nvPr>
        </p:nvSpPr>
        <p:spPr>
          <a:xfrm>
            <a:off x="1333184" y="6164011"/>
            <a:ext cx="3089275" cy="1800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Job Title</a:t>
            </a:r>
            <a:endParaRPr lang="en-GB"/>
          </a:p>
        </p:txBody>
      </p:sp>
      <p:sp>
        <p:nvSpPr>
          <p:cNvPr id="18" name="Picture Placeholder 19"/>
          <p:cNvSpPr>
            <a:spLocks noGrp="1"/>
          </p:cNvSpPr>
          <p:nvPr>
            <p:ph type="pic" sz="quarter" idx="16"/>
          </p:nvPr>
        </p:nvSpPr>
        <p:spPr>
          <a:xfrm>
            <a:off x="461983" y="5861846"/>
            <a:ext cx="576000" cy="57600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97099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7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FF32FF"/>
                </a:gs>
                <a:gs pos="100000">
                  <a:srgbClr val="32FF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1437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7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5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B400FF"/>
                </a:gs>
                <a:gs pos="100000">
                  <a:srgbClr val="4696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/>
            </a:p>
          </p:txBody>
        </p:sp>
      </p:grpSp>
      <p:grpSp>
        <p:nvGrpSpPr>
          <p:cNvPr id="2" name="Group 1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1454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7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3" name="Group 2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" name="Freeform 1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FF32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79118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7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00C864"/>
                </a:gs>
                <a:gs pos="100000">
                  <a:srgbClr val="4696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089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32FF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4" name="Group 3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9931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32FF"/>
                </a:gs>
                <a:gs pos="100000">
                  <a:srgbClr val="FF3C00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4" name="Group 3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9472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B4FF00"/>
                </a:gs>
                <a:gs pos="100000">
                  <a:srgbClr val="32FF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873046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image of a colorful light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ED584E2-E6B2-4A7D-81B0-8FBC634F9BA5}" type="slidenum">
              <a:rPr lang="en-GB" smtClean="0"/>
              <a:t>‹#›</a:t>
            </a:fld>
            <a:endParaRPr lang="en-GB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3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4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5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6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27635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rry image of a colorful light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C693411-32CC-4679-A80D-23B1CD26AF17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652400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lorful light in the dark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DB1848-C723-40CA-AAF8-27AE56B8CEF8}" type="slidenum">
              <a:rPr lang="en-GB" smtClean="0"/>
              <a:t>‹#›</a:t>
            </a:fld>
            <a:endParaRPr lang="en-GB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0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89926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rry image of a rainbow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1BE1EA0-7103-4CDC-9A5A-77B17722C816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3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4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5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6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63064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olorful circle on a black background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126494D-DA71-43AD-9576-F8B7D241F4FA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grpSp>
        <p:nvGrpSpPr>
          <p:cNvPr id="9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0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934714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rry image of a rainbow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216920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85000"/>
              </a:lnSpc>
              <a:spcAft>
                <a:spcPts val="0"/>
              </a:spcAft>
              <a:buNone/>
              <a:defRPr kumimoji="0" lang="en-US" sz="16600" b="1" i="0" u="none" strike="noStrike" kern="1200" cap="none" spc="0" normalizeH="0" baseline="0" dirty="0">
                <a:ln>
                  <a:noFill/>
                </a:ln>
                <a:solidFill>
                  <a:srgbClr val="747480">
                    <a:alpha val="50000"/>
                  </a:srgbClr>
                </a:solidFill>
                <a:uLnTx/>
                <a:uFillTx/>
                <a:latin typeface="EYInterstate Light" panose="02000506000000020004" pitchFamily="2" charset="0"/>
                <a:ea typeface="+mn-ea"/>
                <a:cs typeface="+mn-cs"/>
              </a:defRPr>
            </a:lvl1pPr>
          </a:lstStyle>
          <a:p>
            <a:pPr marL="0" marR="0" lvl="0" indent="0" algn="l" defTabSz="1007887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/>
              <a:t>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305361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38C7B00-708E-4E98-B608-05CD6141EFC3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0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73988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urry image of a rainbow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5523" y="369888"/>
            <a:ext cx="3314701" cy="470898"/>
          </a:xfrm>
        </p:spPr>
        <p:txBody>
          <a:bodyPr/>
          <a:lstStyle/>
          <a:p>
            <a:r>
              <a:rPr lang="en-GB"/>
              <a:t>Contents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485775" y="1411287"/>
            <a:ext cx="5099050" cy="4638675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Introduction text goes here and delete the bullet if not required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6099647" y="1411287"/>
            <a:ext cx="5610225" cy="4638675"/>
          </a:xfrm>
        </p:spPr>
        <p:txBody>
          <a:bodyPr/>
          <a:lstStyle>
            <a:lvl1pPr marL="457200" indent="-457200">
              <a:buFont typeface="+mj-lt"/>
              <a:buAutoNum type="arabicPeriod"/>
              <a:defRPr sz="1800"/>
            </a:lvl1pPr>
            <a:lvl2pPr marL="914400" indent="-457200">
              <a:defRPr sz="1600"/>
            </a:lvl2pPr>
            <a:lvl3pPr marL="914400" indent="-457200">
              <a:defRPr sz="1600"/>
            </a:lvl3pPr>
            <a:lvl4pPr marL="914400" indent="-457200">
              <a:defRPr sz="1400"/>
            </a:lvl4pPr>
            <a:lvl5pPr marL="914400" indent="-457200">
              <a:defRPr sz="1400"/>
            </a:lvl5pPr>
          </a:lstStyle>
          <a:p>
            <a:pPr lvl="0"/>
            <a:r>
              <a:rPr lang="en-IN"/>
              <a:t>Section header goes here and to insert page numbers use the tab button on the keyboard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0FDFFA-E04C-4AED-83E7-8D0E4FB6C33C}" type="slidenum">
              <a:rPr lang="en-GB" smtClean="0"/>
              <a:t>‹#›</a:t>
            </a:fld>
            <a:endParaRPr lang="en-GB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56476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4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 descr="A bright light in the dark&#10;&#10;Description automatically generated"/>
          <p:cNvPicPr/>
          <p:nvPr userDrawn="1"/>
        </p:nvPicPr>
        <p:blipFill>
          <a:blip r:embed="rId4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5523" y="369888"/>
            <a:ext cx="11224347" cy="470898"/>
          </a:xfrm>
        </p:spPr>
        <p:txBody>
          <a:bodyPr vert="horz"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396623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485523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6" name="SmartArt Placeholder 35"/>
          <p:cNvSpPr>
            <a:spLocks noGrp="1"/>
          </p:cNvSpPr>
          <p:nvPr>
            <p:ph type="dgm" sz="quarter" idx="36" hasCustomPrompt="1"/>
          </p:nvPr>
        </p:nvSpPr>
        <p:spPr>
          <a:xfrm>
            <a:off x="2556050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</a:lvl1pPr>
          </a:lstStyle>
          <a:p>
            <a:r>
              <a:rPr lang="en-US"/>
              <a:t> 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2756521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19" name="Text Placeholder 6"/>
          <p:cNvSpPr>
            <a:spLocks noGrp="1"/>
          </p:cNvSpPr>
          <p:nvPr>
            <p:ph type="body" sz="quarter" idx="29" hasCustomPrompt="1"/>
          </p:nvPr>
        </p:nvSpPr>
        <p:spPr>
          <a:xfrm flipH="1">
            <a:off x="2845421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7" name="SmartArt Placeholder 35"/>
          <p:cNvSpPr>
            <a:spLocks noGrp="1"/>
          </p:cNvSpPr>
          <p:nvPr>
            <p:ph type="dgm" sz="quarter" idx="37" hasCustomPrompt="1"/>
          </p:nvPr>
        </p:nvSpPr>
        <p:spPr>
          <a:xfrm flipH="1">
            <a:off x="4915948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</a:lvl1pPr>
          </a:lstStyle>
          <a:p>
            <a:r>
              <a:rPr lang="en-US"/>
              <a:t> </a:t>
            </a:r>
          </a:p>
        </p:txBody>
      </p:sp>
      <p:sp>
        <p:nvSpPr>
          <p:cNvPr id="20" name="Text Placeholder 9"/>
          <p:cNvSpPr>
            <a:spLocks noGrp="1"/>
          </p:cNvSpPr>
          <p:nvPr>
            <p:ph type="body" sz="quarter" idx="30" hasCustomPrompt="1"/>
          </p:nvPr>
        </p:nvSpPr>
        <p:spPr>
          <a:xfrm>
            <a:off x="5116419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31" hasCustomPrompt="1"/>
          </p:nvPr>
        </p:nvSpPr>
        <p:spPr>
          <a:xfrm flipH="1">
            <a:off x="5205319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8" name="SmartArt Placeholder 35"/>
          <p:cNvSpPr>
            <a:spLocks noGrp="1"/>
          </p:cNvSpPr>
          <p:nvPr>
            <p:ph type="dgm" sz="quarter" idx="38" hasCustomPrompt="1"/>
          </p:nvPr>
        </p:nvSpPr>
        <p:spPr>
          <a:xfrm>
            <a:off x="7275846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</a:lvl1pPr>
          </a:lstStyle>
          <a:p>
            <a:r>
              <a:rPr lang="en-US"/>
              <a:t>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32" hasCustomPrompt="1"/>
          </p:nvPr>
        </p:nvSpPr>
        <p:spPr>
          <a:xfrm>
            <a:off x="7476317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33" hasCustomPrompt="1"/>
          </p:nvPr>
        </p:nvSpPr>
        <p:spPr>
          <a:xfrm>
            <a:off x="7565217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9" name="SmartArt Placeholder 35"/>
          <p:cNvSpPr>
            <a:spLocks noGrp="1"/>
          </p:cNvSpPr>
          <p:nvPr>
            <p:ph type="dgm" sz="quarter" idx="39" hasCustomPrompt="1"/>
          </p:nvPr>
        </p:nvSpPr>
        <p:spPr>
          <a:xfrm>
            <a:off x="9635744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</a:lvl1pPr>
          </a:lstStyle>
          <a:p>
            <a:r>
              <a:rPr lang="en-US"/>
              <a:t> 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34" hasCustomPrompt="1"/>
          </p:nvPr>
        </p:nvSpPr>
        <p:spPr>
          <a:xfrm>
            <a:off x="9836214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35" hasCustomPrompt="1"/>
          </p:nvPr>
        </p:nvSpPr>
        <p:spPr>
          <a:xfrm>
            <a:off x="9925114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fld id="{5AAF7C1F-4F4E-4041-B532-2ABAEFD071B8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1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4622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olorful circle on a black background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485774" y="1411287"/>
            <a:ext cx="11218863" cy="4638675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8000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4F9DDD0-D032-4344-A085-74FA98C6B8BF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grpSp>
        <p:nvGrpSpPr>
          <p:cNvPr id="8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31278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olorful light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485774" y="1411287"/>
            <a:ext cx="11218863" cy="4638675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8000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61AEE8-B02E-49A3-B84C-3C1728A5CE38}" type="slidenum">
              <a:rPr lang="en-GB" smtClean="0"/>
              <a:t>‹#›</a:t>
            </a:fld>
            <a:endParaRPr lang="en-GB"/>
          </a:p>
        </p:txBody>
      </p:sp>
      <p:sp>
        <p:nvSpPr>
          <p:cNvPr id="17" name="Date Placeholder 16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94400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and 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4" name="Text Placeholder 23"/>
          <p:cNvSpPr>
            <a:spLocks noGrp="1"/>
          </p:cNvSpPr>
          <p:nvPr>
            <p:ph type="body" sz="quarter" idx="26" hasCustomPrompt="1"/>
          </p:nvPr>
        </p:nvSpPr>
        <p:spPr>
          <a:xfrm>
            <a:off x="772884" y="358916"/>
            <a:ext cx="2023892" cy="1419083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9200" b="0" i="0">
                <a:solidFill>
                  <a:schemeClr val="tx2"/>
                </a:solidFill>
                <a:latin typeface="Georgia Pro" panose="02040502050405020303" pitchFamily="18" charset="0"/>
              </a:defRPr>
            </a:lvl1pPr>
          </a:lstStyle>
          <a:p>
            <a:pPr lvl="0"/>
            <a:r>
              <a:rPr lang="en-GB"/>
              <a:t>“</a:t>
            </a:r>
          </a:p>
        </p:txBody>
      </p:sp>
      <p:sp>
        <p:nvSpPr>
          <p:cNvPr id="5" name="Text Placeholder 23"/>
          <p:cNvSpPr>
            <a:spLocks noGrp="1"/>
          </p:cNvSpPr>
          <p:nvPr>
            <p:ph type="body" sz="quarter" idx="25" hasCustomPrompt="1"/>
          </p:nvPr>
        </p:nvSpPr>
        <p:spPr>
          <a:xfrm>
            <a:off x="864959" y="1958113"/>
            <a:ext cx="7524979" cy="2721927"/>
          </a:xfrm>
        </p:spPr>
        <p:txBody>
          <a:bodyPr/>
          <a:lstStyle>
            <a:lvl1pPr marL="0" indent="0">
              <a:buNone/>
              <a:defRPr sz="4800" b="0" i="0">
                <a:latin typeface="Georgia Pro" panose="02040502050405020303" pitchFamily="18" charset="0"/>
              </a:defRPr>
            </a:lvl1pPr>
          </a:lstStyle>
          <a:p>
            <a:pPr lvl="0"/>
            <a:r>
              <a:rPr lang="en-GB"/>
              <a:t>Quote goes here.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864959" y="4980757"/>
            <a:ext cx="3445104" cy="1938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buNone/>
              <a:defRPr sz="1400" b="1" i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/>
              <a:t>Name</a:t>
            </a:r>
            <a:endParaRPr lang="en-US"/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864961" y="5184857"/>
            <a:ext cx="3445104" cy="153888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Job title</a:t>
            </a:r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218C1317-6CB0-45E7-9E7B-266B22DA9F7F}" type="slidenum">
              <a:rPr lang="en-GB" smtClean="0"/>
              <a:t>‹#›</a:t>
            </a:fld>
            <a:endParaRPr lang="en-GB"/>
          </a:p>
        </p:txBody>
      </p:sp>
      <p:sp>
        <p:nvSpPr>
          <p:cNvPr id="18" name="Date Placeholder 17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sp>
        <p:nvSpPr>
          <p:cNvPr id="15" name="SmartArt Placeholder 13"/>
          <p:cNvSpPr>
            <a:spLocks noGrp="1"/>
          </p:cNvSpPr>
          <p:nvPr>
            <p:ph type="dgm" sz="quarter" idx="34" hasCustomPrompt="1"/>
          </p:nvPr>
        </p:nvSpPr>
        <p:spPr bwMode="black">
          <a:xfrm>
            <a:off x="11623900" y="6276977"/>
            <a:ext cx="346158" cy="126864"/>
          </a:xfrm>
          <a:custGeom>
            <a:avLst/>
            <a:gdLst>
              <a:gd name="connsiteX0" fmla="*/ 346158 w 346158"/>
              <a:gd name="connsiteY0" fmla="*/ 0 h 126864"/>
              <a:gd name="connsiteX1" fmla="*/ 346158 w 346158"/>
              <a:gd name="connsiteY1" fmla="*/ 65245 h 126864"/>
              <a:gd name="connsiteX2" fmla="*/ 0 w 346158"/>
              <a:gd name="connsiteY2" fmla="*/ 126864 h 126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6158" h="126864">
                <a:moveTo>
                  <a:pt x="346158" y="0"/>
                </a:moveTo>
                <a:lnTo>
                  <a:pt x="346158" y="65245"/>
                </a:lnTo>
                <a:lnTo>
                  <a:pt x="0" y="126864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  <p:sp>
        <p:nvSpPr>
          <p:cNvPr id="17" name="SmartArt Placeholder 14"/>
          <p:cNvSpPr>
            <a:spLocks noGrp="1"/>
          </p:cNvSpPr>
          <p:nvPr>
            <p:ph type="dgm" sz="quarter" idx="29" hasCustomPrompt="1"/>
          </p:nvPr>
        </p:nvSpPr>
        <p:spPr bwMode="black">
          <a:xfrm>
            <a:off x="11625712" y="6456399"/>
            <a:ext cx="291788" cy="175797"/>
          </a:xfrm>
          <a:custGeom>
            <a:avLst/>
            <a:gdLst>
              <a:gd name="connsiteX0" fmla="*/ 117803 w 291788"/>
              <a:gd name="connsiteY0" fmla="*/ 0 h 175797"/>
              <a:gd name="connsiteX1" fmla="*/ 175798 w 291788"/>
              <a:gd name="connsiteY1" fmla="*/ 0 h 175797"/>
              <a:gd name="connsiteX2" fmla="*/ 204796 w 291788"/>
              <a:gd name="connsiteY2" fmla="*/ 57995 h 175797"/>
              <a:gd name="connsiteX3" fmla="*/ 233793 w 291788"/>
              <a:gd name="connsiteY3" fmla="*/ 0 h 175797"/>
              <a:gd name="connsiteX4" fmla="*/ 291788 w 291788"/>
              <a:gd name="connsiteY4" fmla="*/ 0 h 175797"/>
              <a:gd name="connsiteX5" fmla="*/ 230168 w 291788"/>
              <a:gd name="connsiteY5" fmla="*/ 105116 h 175797"/>
              <a:gd name="connsiteX6" fmla="*/ 230168 w 291788"/>
              <a:gd name="connsiteY6" fmla="*/ 175797 h 175797"/>
              <a:gd name="connsiteX7" fmla="*/ 177610 w 291788"/>
              <a:gd name="connsiteY7" fmla="*/ 175797 h 175797"/>
              <a:gd name="connsiteX8" fmla="*/ 177610 w 291788"/>
              <a:gd name="connsiteY8" fmla="*/ 105116 h 175797"/>
              <a:gd name="connsiteX9" fmla="*/ 0 w 291788"/>
              <a:gd name="connsiteY9" fmla="*/ 0 h 175797"/>
              <a:gd name="connsiteX10" fmla="*/ 99679 w 291788"/>
              <a:gd name="connsiteY10" fmla="*/ 0 h 175797"/>
              <a:gd name="connsiteX11" fmla="*/ 123240 w 291788"/>
              <a:gd name="connsiteY11" fmla="*/ 39872 h 175797"/>
              <a:gd name="connsiteX12" fmla="*/ 54370 w 291788"/>
              <a:gd name="connsiteY12" fmla="*/ 39872 h 175797"/>
              <a:gd name="connsiteX13" fmla="*/ 54370 w 291788"/>
              <a:gd name="connsiteY13" fmla="*/ 68869 h 175797"/>
              <a:gd name="connsiteX14" fmla="*/ 117802 w 291788"/>
              <a:gd name="connsiteY14" fmla="*/ 68869 h 175797"/>
              <a:gd name="connsiteX15" fmla="*/ 117802 w 291788"/>
              <a:gd name="connsiteY15" fmla="*/ 105116 h 175797"/>
              <a:gd name="connsiteX16" fmla="*/ 54370 w 291788"/>
              <a:gd name="connsiteY16" fmla="*/ 105116 h 175797"/>
              <a:gd name="connsiteX17" fmla="*/ 54370 w 291788"/>
              <a:gd name="connsiteY17" fmla="*/ 134113 h 175797"/>
              <a:gd name="connsiteX18" fmla="*/ 141363 w 291788"/>
              <a:gd name="connsiteY18" fmla="*/ 134113 h 175797"/>
              <a:gd name="connsiteX19" fmla="*/ 141363 w 291788"/>
              <a:gd name="connsiteY19" fmla="*/ 175797 h 175797"/>
              <a:gd name="connsiteX20" fmla="*/ 0 w 291788"/>
              <a:gd name="connsiteY20" fmla="*/ 175797 h 175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1788" h="175797">
                <a:moveTo>
                  <a:pt x="117803" y="0"/>
                </a:moveTo>
                <a:lnTo>
                  <a:pt x="175798" y="0"/>
                </a:lnTo>
                <a:lnTo>
                  <a:pt x="204796" y="57995"/>
                </a:lnTo>
                <a:lnTo>
                  <a:pt x="233793" y="0"/>
                </a:lnTo>
                <a:lnTo>
                  <a:pt x="291788" y="0"/>
                </a:lnTo>
                <a:lnTo>
                  <a:pt x="230168" y="105116"/>
                </a:lnTo>
                <a:lnTo>
                  <a:pt x="230168" y="175797"/>
                </a:lnTo>
                <a:lnTo>
                  <a:pt x="177610" y="175797"/>
                </a:lnTo>
                <a:lnTo>
                  <a:pt x="177610" y="105116"/>
                </a:lnTo>
                <a:close/>
                <a:moveTo>
                  <a:pt x="0" y="0"/>
                </a:moveTo>
                <a:lnTo>
                  <a:pt x="99679" y="0"/>
                </a:lnTo>
                <a:lnTo>
                  <a:pt x="123240" y="39872"/>
                </a:lnTo>
                <a:lnTo>
                  <a:pt x="54370" y="39872"/>
                </a:lnTo>
                <a:lnTo>
                  <a:pt x="54370" y="68869"/>
                </a:lnTo>
                <a:lnTo>
                  <a:pt x="117802" y="68869"/>
                </a:lnTo>
                <a:lnTo>
                  <a:pt x="117802" y="105116"/>
                </a:lnTo>
                <a:lnTo>
                  <a:pt x="54370" y="105116"/>
                </a:lnTo>
                <a:lnTo>
                  <a:pt x="54370" y="134113"/>
                </a:lnTo>
                <a:lnTo>
                  <a:pt x="141363" y="134113"/>
                </a:lnTo>
                <a:lnTo>
                  <a:pt x="141363" y="175797"/>
                </a:lnTo>
                <a:lnTo>
                  <a:pt x="0" y="175797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58320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a Placeholder 6"/>
          <p:cNvSpPr>
            <a:spLocks noGrp="1"/>
          </p:cNvSpPr>
          <p:nvPr>
            <p:ph type="media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/>
          </a:p>
        </p:txBody>
      </p:sp>
      <p:sp>
        <p:nvSpPr>
          <p:cNvPr id="6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485747" y="6327804"/>
            <a:ext cx="509098" cy="123111"/>
          </a:xfrm>
        </p:spPr>
        <p:txBody>
          <a:bodyPr/>
          <a:lstStyle/>
          <a:p>
            <a:fld id="{7204FF08-ACE0-4AA3-B197-D684A68AB0DD}" type="slidenum">
              <a:rPr lang="en-GB" smtClean="0"/>
              <a:t>‹#›</a:t>
            </a:fld>
            <a:endParaRPr lang="en-GB"/>
          </a:p>
        </p:txBody>
      </p:sp>
      <p:sp>
        <p:nvSpPr>
          <p:cNvPr id="4" name="Date Placeholder 8"/>
          <p:cNvSpPr>
            <a:spLocks noGrp="1"/>
          </p:cNvSpPr>
          <p:nvPr>
            <p:ph type="dt" sz="half" idx="10"/>
          </p:nvPr>
        </p:nvSpPr>
        <p:spPr>
          <a:xfrm>
            <a:off x="994845" y="6327804"/>
            <a:ext cx="1275686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2270531" y="6327804"/>
            <a:ext cx="3825470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2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sp>
        <p:nvSpPr>
          <p:cNvPr id="12" name="SmartArt Placeholder 13"/>
          <p:cNvSpPr>
            <a:spLocks noGrp="1"/>
          </p:cNvSpPr>
          <p:nvPr>
            <p:ph type="dgm" sz="quarter" idx="28" hasCustomPrompt="1"/>
          </p:nvPr>
        </p:nvSpPr>
        <p:spPr bwMode="black">
          <a:xfrm>
            <a:off x="11623900" y="6276977"/>
            <a:ext cx="346158" cy="126864"/>
          </a:xfrm>
          <a:custGeom>
            <a:avLst/>
            <a:gdLst>
              <a:gd name="connsiteX0" fmla="*/ 346158 w 346158"/>
              <a:gd name="connsiteY0" fmla="*/ 0 h 126864"/>
              <a:gd name="connsiteX1" fmla="*/ 346158 w 346158"/>
              <a:gd name="connsiteY1" fmla="*/ 65245 h 126864"/>
              <a:gd name="connsiteX2" fmla="*/ 0 w 346158"/>
              <a:gd name="connsiteY2" fmla="*/ 126864 h 126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6158" h="126864">
                <a:moveTo>
                  <a:pt x="346158" y="0"/>
                </a:moveTo>
                <a:lnTo>
                  <a:pt x="346158" y="65245"/>
                </a:lnTo>
                <a:lnTo>
                  <a:pt x="0" y="126864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  <p:sp>
        <p:nvSpPr>
          <p:cNvPr id="13" name="SmartArt Placeholder 14"/>
          <p:cNvSpPr>
            <a:spLocks noGrp="1"/>
          </p:cNvSpPr>
          <p:nvPr>
            <p:ph type="dgm" sz="quarter" idx="29" hasCustomPrompt="1"/>
          </p:nvPr>
        </p:nvSpPr>
        <p:spPr bwMode="black">
          <a:xfrm>
            <a:off x="11625712" y="6456399"/>
            <a:ext cx="291788" cy="175797"/>
          </a:xfrm>
          <a:custGeom>
            <a:avLst/>
            <a:gdLst>
              <a:gd name="connsiteX0" fmla="*/ 117803 w 291788"/>
              <a:gd name="connsiteY0" fmla="*/ 0 h 175797"/>
              <a:gd name="connsiteX1" fmla="*/ 175798 w 291788"/>
              <a:gd name="connsiteY1" fmla="*/ 0 h 175797"/>
              <a:gd name="connsiteX2" fmla="*/ 204796 w 291788"/>
              <a:gd name="connsiteY2" fmla="*/ 57995 h 175797"/>
              <a:gd name="connsiteX3" fmla="*/ 233793 w 291788"/>
              <a:gd name="connsiteY3" fmla="*/ 0 h 175797"/>
              <a:gd name="connsiteX4" fmla="*/ 291788 w 291788"/>
              <a:gd name="connsiteY4" fmla="*/ 0 h 175797"/>
              <a:gd name="connsiteX5" fmla="*/ 230168 w 291788"/>
              <a:gd name="connsiteY5" fmla="*/ 105116 h 175797"/>
              <a:gd name="connsiteX6" fmla="*/ 230168 w 291788"/>
              <a:gd name="connsiteY6" fmla="*/ 175797 h 175797"/>
              <a:gd name="connsiteX7" fmla="*/ 177610 w 291788"/>
              <a:gd name="connsiteY7" fmla="*/ 175797 h 175797"/>
              <a:gd name="connsiteX8" fmla="*/ 177610 w 291788"/>
              <a:gd name="connsiteY8" fmla="*/ 105116 h 175797"/>
              <a:gd name="connsiteX9" fmla="*/ 0 w 291788"/>
              <a:gd name="connsiteY9" fmla="*/ 0 h 175797"/>
              <a:gd name="connsiteX10" fmla="*/ 99679 w 291788"/>
              <a:gd name="connsiteY10" fmla="*/ 0 h 175797"/>
              <a:gd name="connsiteX11" fmla="*/ 123240 w 291788"/>
              <a:gd name="connsiteY11" fmla="*/ 39872 h 175797"/>
              <a:gd name="connsiteX12" fmla="*/ 54370 w 291788"/>
              <a:gd name="connsiteY12" fmla="*/ 39872 h 175797"/>
              <a:gd name="connsiteX13" fmla="*/ 54370 w 291788"/>
              <a:gd name="connsiteY13" fmla="*/ 68869 h 175797"/>
              <a:gd name="connsiteX14" fmla="*/ 117802 w 291788"/>
              <a:gd name="connsiteY14" fmla="*/ 68869 h 175797"/>
              <a:gd name="connsiteX15" fmla="*/ 117802 w 291788"/>
              <a:gd name="connsiteY15" fmla="*/ 105116 h 175797"/>
              <a:gd name="connsiteX16" fmla="*/ 54370 w 291788"/>
              <a:gd name="connsiteY16" fmla="*/ 105116 h 175797"/>
              <a:gd name="connsiteX17" fmla="*/ 54370 w 291788"/>
              <a:gd name="connsiteY17" fmla="*/ 134113 h 175797"/>
              <a:gd name="connsiteX18" fmla="*/ 141363 w 291788"/>
              <a:gd name="connsiteY18" fmla="*/ 134113 h 175797"/>
              <a:gd name="connsiteX19" fmla="*/ 141363 w 291788"/>
              <a:gd name="connsiteY19" fmla="*/ 175797 h 175797"/>
              <a:gd name="connsiteX20" fmla="*/ 0 w 291788"/>
              <a:gd name="connsiteY20" fmla="*/ 175797 h 175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1788" h="175797">
                <a:moveTo>
                  <a:pt x="117803" y="0"/>
                </a:moveTo>
                <a:lnTo>
                  <a:pt x="175798" y="0"/>
                </a:lnTo>
                <a:lnTo>
                  <a:pt x="204796" y="57995"/>
                </a:lnTo>
                <a:lnTo>
                  <a:pt x="233793" y="0"/>
                </a:lnTo>
                <a:lnTo>
                  <a:pt x="291788" y="0"/>
                </a:lnTo>
                <a:lnTo>
                  <a:pt x="230168" y="105116"/>
                </a:lnTo>
                <a:lnTo>
                  <a:pt x="230168" y="175797"/>
                </a:lnTo>
                <a:lnTo>
                  <a:pt x="177610" y="175797"/>
                </a:lnTo>
                <a:lnTo>
                  <a:pt x="177610" y="105116"/>
                </a:lnTo>
                <a:close/>
                <a:moveTo>
                  <a:pt x="0" y="0"/>
                </a:moveTo>
                <a:lnTo>
                  <a:pt x="99679" y="0"/>
                </a:lnTo>
                <a:lnTo>
                  <a:pt x="123240" y="39872"/>
                </a:lnTo>
                <a:lnTo>
                  <a:pt x="54370" y="39872"/>
                </a:lnTo>
                <a:lnTo>
                  <a:pt x="54370" y="68869"/>
                </a:lnTo>
                <a:lnTo>
                  <a:pt x="117802" y="68869"/>
                </a:lnTo>
                <a:lnTo>
                  <a:pt x="117802" y="105116"/>
                </a:lnTo>
                <a:lnTo>
                  <a:pt x="54370" y="105116"/>
                </a:lnTo>
                <a:lnTo>
                  <a:pt x="54370" y="134113"/>
                </a:lnTo>
                <a:lnTo>
                  <a:pt x="141363" y="134113"/>
                </a:lnTo>
                <a:lnTo>
                  <a:pt x="141363" y="175797"/>
                </a:lnTo>
                <a:lnTo>
                  <a:pt x="0" y="175797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721270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315954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Background" descr="A blurry image of a rainbow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-1"/>
            <a:ext cx="12193200" cy="6861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85523" y="2523291"/>
            <a:ext cx="3571200" cy="1438855"/>
          </a:xfrm>
        </p:spPr>
        <p:txBody>
          <a:bodyPr>
            <a:spAutoFit/>
          </a:bodyPr>
          <a:lstStyle>
            <a:lvl1pPr marL="0" indent="0" algn="ctr">
              <a:lnSpc>
                <a:spcPct val="85000"/>
              </a:lnSpc>
              <a:buNone/>
              <a:defRPr sz="11000" b="1">
                <a:solidFill>
                  <a:schemeClr val="bg1"/>
                </a:solidFill>
                <a:latin typeface="+mj-lt"/>
              </a:defRPr>
            </a:lvl1pPr>
            <a:lvl2pPr marL="252000" indent="0" algn="ctr">
              <a:buNone/>
            </a:lvl2pPr>
            <a:lvl3pPr algn="ctr"/>
            <a:lvl4pPr algn="ctr"/>
            <a:lvl5pPr algn="ctr"/>
          </a:lstStyle>
          <a:p>
            <a:pPr lvl="0"/>
            <a:r>
              <a:rPr lang="en-GB"/>
              <a:t>000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485523" y="3936165"/>
            <a:ext cx="3571200" cy="2113797"/>
          </a:xfrm>
        </p:spPr>
        <p:txBody>
          <a:bodyPr/>
          <a:lstStyle>
            <a:lvl1pPr marL="0" indent="0" algn="ctr">
              <a:buNone/>
            </a:lvl1pPr>
            <a:lvl2pPr marL="0" indent="0" algn="ctr">
              <a:buNone/>
              <a:defRPr sz="1800"/>
            </a:lvl2pPr>
            <a:lvl3pPr marL="0" indent="0" algn="ctr">
              <a:buNone/>
              <a:defRPr sz="1600"/>
            </a:lvl3pPr>
            <a:lvl4pPr marL="0" indent="0" algn="ctr">
              <a:buNone/>
              <a:defRPr sz="1400"/>
            </a:lvl4pPr>
            <a:lvl5pPr marL="0" indent="0" algn="ctr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4312096" y="2531683"/>
            <a:ext cx="3571200" cy="1438855"/>
          </a:xfrm>
        </p:spPr>
        <p:txBody>
          <a:bodyPr>
            <a:spAutoFit/>
          </a:bodyPr>
          <a:lstStyle>
            <a:lvl1pPr marL="0" indent="0" algn="ctr">
              <a:lnSpc>
                <a:spcPct val="85000"/>
              </a:lnSpc>
              <a:buNone/>
              <a:defRPr sz="11000" b="1">
                <a:solidFill>
                  <a:schemeClr val="bg1"/>
                </a:solidFill>
                <a:latin typeface="+mj-lt"/>
              </a:defRPr>
            </a:lvl1pPr>
            <a:lvl2pPr algn="ctr"/>
            <a:lvl3pPr algn="ctr"/>
            <a:lvl4pPr algn="ctr"/>
            <a:lvl5pPr algn="ctr"/>
          </a:lstStyle>
          <a:p>
            <a:pPr lvl="0"/>
            <a:r>
              <a:rPr lang="en-GB"/>
              <a:t>000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7"/>
          </p:nvPr>
        </p:nvSpPr>
        <p:spPr>
          <a:xfrm>
            <a:off x="4312096" y="3936165"/>
            <a:ext cx="3571200" cy="2113797"/>
          </a:xfrm>
        </p:spPr>
        <p:txBody>
          <a:bodyPr/>
          <a:lstStyle>
            <a:lvl1pPr marL="0" indent="0" algn="ctr">
              <a:buNone/>
            </a:lvl1pPr>
            <a:lvl2pPr marL="0" indent="0" algn="ctr">
              <a:buNone/>
              <a:defRPr sz="1800"/>
            </a:lvl2pPr>
            <a:lvl3pPr marL="0" indent="0" algn="ctr">
              <a:buNone/>
              <a:defRPr sz="1600"/>
            </a:lvl3pPr>
            <a:lvl4pPr marL="0" indent="0" algn="ctr">
              <a:buNone/>
              <a:defRPr sz="1400"/>
            </a:lvl4pPr>
            <a:lvl5pPr marL="0" indent="0" algn="ctr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8138670" y="2531683"/>
            <a:ext cx="3571200" cy="1438855"/>
          </a:xfrm>
        </p:spPr>
        <p:txBody>
          <a:bodyPr>
            <a:spAutoFit/>
          </a:bodyPr>
          <a:lstStyle>
            <a:lvl1pPr marL="0" indent="0" algn="ctr">
              <a:lnSpc>
                <a:spcPct val="85000"/>
              </a:lnSpc>
              <a:buNone/>
              <a:defRPr sz="11000" b="1">
                <a:solidFill>
                  <a:schemeClr val="bg1"/>
                </a:solidFill>
                <a:latin typeface="+mj-lt"/>
              </a:defRPr>
            </a:lvl1pPr>
            <a:lvl2pPr algn="ctr"/>
            <a:lvl3pPr algn="ctr"/>
            <a:lvl4pPr algn="ctr"/>
            <a:lvl5pPr algn="ctr"/>
          </a:lstStyle>
          <a:p>
            <a:pPr lvl="0"/>
            <a:r>
              <a:rPr lang="en-GB"/>
              <a:t>000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8"/>
          </p:nvPr>
        </p:nvSpPr>
        <p:spPr>
          <a:xfrm>
            <a:off x="8138670" y="3936165"/>
            <a:ext cx="3571200" cy="2113797"/>
          </a:xfrm>
        </p:spPr>
        <p:txBody>
          <a:bodyPr/>
          <a:lstStyle>
            <a:lvl1pPr marL="0" indent="0" algn="ctr">
              <a:buNone/>
            </a:lvl1pPr>
            <a:lvl2pPr marL="0" indent="0" algn="ctr">
              <a:buNone/>
              <a:defRPr sz="1800"/>
            </a:lvl2pPr>
            <a:lvl3pPr marL="0" indent="0" algn="ctr">
              <a:buNone/>
              <a:defRPr sz="1600"/>
            </a:lvl3pPr>
            <a:lvl4pPr marL="0" indent="0" algn="ctr">
              <a:buNone/>
              <a:defRPr sz="1400"/>
            </a:lvl4pPr>
            <a:lvl5pPr marL="0" indent="0" algn="ctr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5747" y="6327804"/>
            <a:ext cx="509098" cy="123111"/>
          </a:xfrm>
          <a:prstGeom prst="rect">
            <a:avLst/>
          </a:prstGeom>
        </p:spPr>
        <p:txBody>
          <a:bodyPr/>
          <a:lstStyle/>
          <a:p>
            <a:fld id="{786A0FED-F61E-4244-81E1-9D77C39BCDF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94845" y="6327804"/>
            <a:ext cx="1275686" cy="12311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270531" y="6327804"/>
            <a:ext cx="3825470" cy="12311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grpSp>
        <p:nvGrpSpPr>
          <p:cNvPr id="9" name="Logo"/>
          <p:cNvGrpSpPr/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1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25403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lides-bullets-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2913" y="438150"/>
            <a:ext cx="11322050" cy="714375"/>
          </a:xfrm>
        </p:spPr>
        <p:txBody>
          <a:bodyPr/>
          <a:lstStyle>
            <a:lvl1pPr>
              <a:lnSpc>
                <a:spcPts val="2700"/>
              </a:lnSpc>
              <a:spcAft>
                <a:spcPts val="300"/>
              </a:spcAft>
              <a:defRPr sz="2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Standard slide</a:t>
            </a:r>
            <a:endParaRPr lang="en-GB"/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11461907" y="6356351"/>
            <a:ext cx="303055" cy="311150"/>
            <a:chOff x="7110" y="4004"/>
            <a:chExt cx="191" cy="196"/>
          </a:xfrm>
        </p:grpSpPr>
        <p:sp>
          <p:nvSpPr>
            <p:cNvPr id="12" name="Freeform 5"/>
            <p:cNvSpPr/>
            <p:nvPr userDrawn="1"/>
          </p:nvSpPr>
          <p:spPr bwMode="auto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8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8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8"/>
            </a:p>
          </p:txBody>
        </p:sp>
      </p:grpSp>
      <p:sp>
        <p:nvSpPr>
          <p:cNvPr id="17" name="Slide Number Placeholder 4"/>
          <p:cNvSpPr txBox="1"/>
          <p:nvPr userDrawn="1"/>
        </p:nvSpPr>
        <p:spPr>
          <a:xfrm>
            <a:off x="440929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E6DAB4A4-27C4-4692-AFD5-1E6CE69ADBDA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134979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2">
          <p15:clr>
            <a:srgbClr val="FBAE40"/>
          </p15:clr>
        </p15:guide>
        <p15:guide id="5" pos="7432">
          <p15:clr>
            <a:srgbClr val="F26B43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94200"/>
            <a:ext cx="10972800" cy="590400"/>
          </a:xfrm>
        </p:spPr>
        <p:txBody>
          <a:bodyPr/>
          <a:lstStyle>
            <a:lvl1pPr>
              <a:defRPr sz="2399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Line 10"/>
          <p:cNvSpPr>
            <a:spLocks noChangeShapeType="1"/>
          </p:cNvSpPr>
          <p:nvPr userDrawn="1"/>
        </p:nvSpPr>
        <p:spPr bwMode="auto">
          <a:xfrm>
            <a:off x="609601" y="907750"/>
            <a:ext cx="10974284" cy="0"/>
          </a:xfrm>
          <a:prstGeom prst="line">
            <a:avLst/>
          </a:prstGeom>
          <a:noFill/>
          <a:ln w="19050">
            <a:solidFill>
              <a:schemeClr val="tx2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8" noProof="0">
              <a:solidFill>
                <a:schemeClr val="bg1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29593" y="6471244"/>
            <a:ext cx="1190638" cy="1800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491874" y="6471244"/>
            <a:ext cx="3208254" cy="180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FF213AF8-FFED-4B53-BA54-1560C121C9F4}" type="slidenum">
              <a:rPr smtClean="0"/>
              <a:t>‹#›</a:t>
            </a:fld>
            <a:endParaRPr/>
          </a:p>
        </p:txBody>
      </p:sp>
      <p:sp>
        <p:nvSpPr>
          <p:cNvPr id="8" name="Text Placeholder 2"/>
          <p:cNvSpPr>
            <a:spLocks noGrp="1"/>
          </p:cNvSpPr>
          <p:nvPr>
            <p:ph idx="1"/>
          </p:nvPr>
        </p:nvSpPr>
        <p:spPr>
          <a:xfrm>
            <a:off x="609601" y="1137920"/>
            <a:ext cx="10972800" cy="49479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3" name="Picture 122"/>
          <p:cNvPicPr>
            <a:picLocks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>
          <a:xfrm>
            <a:off x="11678390" y="6379058"/>
            <a:ext cx="270278" cy="2912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9263146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Final leg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88827" cy="6858000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607483" y="719139"/>
            <a:ext cx="3598126" cy="4680594"/>
          </a:xfrm>
          <a:prstGeom prst="rect">
            <a:avLst/>
          </a:prstGeom>
        </p:spPr>
        <p:txBody>
          <a:bodyPr lIns="0" tIns="0" rIns="35981" bIns="0">
            <a:noAutofit/>
          </a:bodyPr>
          <a:lstStyle/>
          <a:p>
            <a:pPr marL="0" marR="0" lvl="0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1199"/>
              </a:spcAft>
              <a:buClrTx/>
              <a:buSzTx/>
              <a:buFont typeface="Arial" pitchFamily="34" charset="0"/>
              <a:buNone/>
              <a:tabLst/>
            </a:pPr>
            <a:r>
              <a:rPr kumimoji="0" lang="en-US" sz="999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EY</a:t>
            </a:r>
            <a:r>
              <a:rPr kumimoji="0" lang="en-GB" sz="999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 | Assurance | Tax | Transactions | Advisory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999" kern="0" noProof="0">
                <a:solidFill>
                  <a:schemeClr val="bg1"/>
                </a:solidFill>
                <a:latin typeface="EYInterstate Light"/>
                <a:ea typeface="+mn-ea"/>
                <a:cs typeface="Arial"/>
              </a:rPr>
              <a:t>About EY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kumimoji="0" lang="en-IN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EYInterstate Light" pitchFamily="2" charset="0"/>
              <a:ea typeface="+mn-ea"/>
              <a:cs typeface="+mn-cs"/>
            </a:endParaRPr>
          </a:p>
          <a:p>
            <a:pPr marL="0" marR="0" lvl="3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75000"/>
              <a:buFontTx/>
              <a:buNone/>
              <a:tabLst/>
            </a:pPr>
            <a: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EY is a global leader in assurance, tax, transaction and advisory services. The insights and quality services we deliver help build trust and confidence </a:t>
            </a:r>
            <a:b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</a:br>
            <a: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in the capital markets and in economies the world over. We develop outstanding leaders who team to deliver on our promises to all of our stakeholders. In so doing, we play a critical role in building a better </a:t>
            </a:r>
            <a:b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</a:br>
            <a: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working world for our people, for our clients and for our communities.</a:t>
            </a:r>
            <a:endParaRPr kumimoji="0" lang="en-GB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EYInterstate Light" pitchFamily="2" charset="0"/>
              <a:ea typeface="+mn-ea"/>
              <a:cs typeface="+mn-cs"/>
            </a:endParaRPr>
          </a:p>
          <a:p>
            <a:pPr marL="0" marR="0" lvl="3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75000"/>
              <a:buFontTx/>
              <a:buNone/>
              <a:tabLst/>
            </a:pPr>
            <a: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EY refers to the global organization, and may refer to one or more, of the member firms of Ernst &amp; Young Global Limited, each of which is a separate legal entity. Ernst &amp; Young Global Limited, a UK company limited by guarantee, does not provide services to clients. Information about how EY collects and uses personal data and a description of the rights individuals have under data protection legislation are available via ey.com/privacy. For more information about our organization, please visit ey.com.</a:t>
            </a:r>
            <a:endParaRPr kumimoji="0" lang="en-GB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EYInterstate Light" pitchFamily="2" charset="0"/>
              <a:ea typeface="+mn-ea"/>
              <a:cs typeface="+mn-cs"/>
            </a:endParaRP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© 2020 EYGM Limited.</a:t>
            </a:r>
            <a:b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</a:b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All Rights Reserved.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lang="en-GB" sz="800" kern="0" noProof="0">
              <a:solidFill>
                <a:schemeClr val="bg1"/>
              </a:solidFill>
              <a:latin typeface="EYInterstate Light"/>
              <a:ea typeface="+mn-ea"/>
              <a:cs typeface="+mn-cs"/>
            </a:endParaRP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EYG/OC/FEA no.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lang="en-GB" sz="800" kern="0" noProof="0">
              <a:solidFill>
                <a:schemeClr val="bg1"/>
              </a:solidFill>
              <a:latin typeface="EYInterstate Light"/>
              <a:ea typeface="+mn-ea"/>
              <a:cs typeface="+mn-cs"/>
            </a:endParaRP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EY##### (UK) ##/20. CSG London.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lang="en-GB" sz="800" kern="0" noProof="0">
              <a:solidFill>
                <a:schemeClr val="bg1"/>
              </a:solidFill>
              <a:latin typeface="EYInterstate Light"/>
              <a:ea typeface="+mn-ea"/>
              <a:cs typeface="+mn-cs"/>
            </a:endParaRP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ED MMYY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lang="en-GB" sz="800" kern="0" noProof="0">
              <a:solidFill>
                <a:schemeClr val="bg1"/>
              </a:solidFill>
              <a:latin typeface="EYInterstate Light"/>
              <a:ea typeface="+mn-ea"/>
              <a:cs typeface="+mn-cs"/>
            </a:endParaRPr>
          </a:p>
          <a:p>
            <a:pPr marL="0" marR="0" lvl="3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Pct val="75000"/>
              <a:buFontTx/>
              <a:buNone/>
              <a:tabLst/>
            </a:pPr>
            <a: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This material has been prepared for general informational purposes only and is not intended to </a:t>
            </a:r>
            <a:b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</a:br>
            <a: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be relied upon as accounting, tax or other professional advice. Please refer to your advisors for </a:t>
            </a:r>
            <a:b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</a:br>
            <a: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specific advice.</a:t>
            </a:r>
          </a:p>
          <a:p>
            <a:pPr marL="0" marR="0" lvl="3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Pct val="75000"/>
              <a:buFontTx/>
              <a:buNone/>
              <a:tabLst/>
            </a:pPr>
            <a:r>
              <a:rPr kumimoji="0" lang="en-GB" sz="9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ey.com/*******</a:t>
            </a:r>
          </a:p>
        </p:txBody>
      </p:sp>
    </p:spTree>
    <p:extLst>
      <p:ext uri="{BB962C8B-B14F-4D97-AF65-F5344CB8AC3E}">
        <p14:creationId xmlns:p14="http://schemas.microsoft.com/office/powerpoint/2010/main" val="4941778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1429593" y="6471244"/>
            <a:ext cx="1190638" cy="1800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491874" y="6471244"/>
            <a:ext cx="3208254" cy="180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78BE7C29-9BE6-4073-8387-F0C8A984B7CC}" type="slidenum">
              <a:rPr smtClean="0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561586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5" progId="TCLayout.ActiveDocument.1">
                  <p:embed/>
                </p:oleObj>
              </mc:Choice>
              <mc:Fallback>
                <p:oleObj name="think-cell Slide" r:id="rId3" imgW="592" imgH="595" progId="TCLayout.ActiveDocument.1">
                  <p:embed/>
                  <p:pic>
                    <p:nvPicPr>
                      <p:cNvPr id="12" name="think-cell data - do not delete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Enterprise Reimagined and our Transformation Big Bet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Slide Number Placeholder 4"/>
          <p:cNvSpPr txBox="1"/>
          <p:nvPr userDrawn="1"/>
        </p:nvSpPr>
        <p:spPr>
          <a:xfrm>
            <a:off x="440929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CFD7EDB9-8A24-4B09-B23D-9391D0C34315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12350603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85523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/>
          <p:cNvSpPr>
            <a:spLocks noGrp="1"/>
          </p:cNvSpPr>
          <p:nvPr>
            <p:ph sz="quarter" idx="16"/>
          </p:nvPr>
        </p:nvSpPr>
        <p:spPr>
          <a:xfrm>
            <a:off x="485520" y="1411287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sz="quarter" idx="15"/>
          </p:nvPr>
        </p:nvSpPr>
        <p:spPr>
          <a:xfrm>
            <a:off x="6353069" y="1411287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17AB4-795F-4BB5-8C19-C05EFD5A70A1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Unleashing Agents: Extending Copilot To Transform LBG</a:t>
            </a:r>
            <a:endParaRPr lang="en-US"/>
          </a:p>
        </p:txBody>
      </p:sp>
      <p:grpSp>
        <p:nvGrpSpPr>
          <p:cNvPr id="8" name="Logo"/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7" name="Slide Number Placeholder 4"/>
          <p:cNvSpPr txBox="1"/>
          <p:nvPr userDrawn="1"/>
        </p:nvSpPr>
        <p:spPr>
          <a:xfrm>
            <a:off x="440929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4E97DA86-E44F-4586-A38A-B30C0F019B38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4358514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0822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rry image of a rainbow&#10;&#10;Description automatically generated">
            <a:extLst>
              <a:ext uri="{FF2B5EF4-FFF2-40B4-BE49-F238E27FC236}">
                <a16:creationId xmlns:a16="http://schemas.microsoft.com/office/drawing/2014/main" id="{317BE7A3-A673-B58A-8BE4-D36A0E590D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3D8D2553-DCAF-2D9D-2138-FE4E794B7FFA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AD4E5D8B-12B4-19F3-17D4-D12BF368FC85}"/>
                </a:ext>
              </a:extLst>
            </p:cNvPr>
            <p:cNvSpPr/>
            <p:nvPr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219789D6-6B07-F2E6-06BE-8CA9DC83E385}"/>
                </a:ext>
              </a:extLst>
            </p:cNvPr>
            <p:cNvSpPr/>
            <p:nvPr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67D4D9-A47B-4020-6B9B-87B081166C85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70589FC3-4491-BD75-2C16-660DF0B71BBC}"/>
                </a:ext>
              </a:extLst>
            </p:cNvPr>
            <p:cNvSpPr/>
            <p:nvPr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B00DB918-F11D-F855-5478-ECB25A1AC3D1}"/>
                </a:ext>
              </a:extLst>
            </p:cNvPr>
            <p:cNvSpPr/>
            <p:nvPr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FF32FF"/>
                </a:gs>
                <a:gs pos="100000">
                  <a:srgbClr val="32FF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sp>
        <p:nvSpPr>
          <p:cNvPr id="274" name="Subtitle 2">
            <a:extLst>
              <a:ext uri="{FF2B5EF4-FFF2-40B4-BE49-F238E27FC236}">
                <a16:creationId xmlns:a16="http://schemas.microsoft.com/office/drawing/2014/main" id="{74103396-CF0A-A808-BF1B-463C3EF7376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sz="16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75" name="Title 4">
            <a:extLst>
              <a:ext uri="{FF2B5EF4-FFF2-40B4-BE49-F238E27FC236}">
                <a16:creationId xmlns:a16="http://schemas.microsoft.com/office/drawing/2014/main" id="{B57CD4DB-AED0-4F7E-41BA-02CA96598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9" name="Text Placeholder 288">
            <a:extLst>
              <a:ext uri="{FF2B5EF4-FFF2-40B4-BE49-F238E27FC236}">
                <a16:creationId xmlns:a16="http://schemas.microsoft.com/office/drawing/2014/main" id="{31D45A6D-135C-8C27-4F13-A3BC79AB3E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FA35A17-6E72-5D10-337D-87AD82CF516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D8B71BF-2CD6-B365-4402-A8FF831788C7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718681-C140-C687-56FE-5B74AAC28F64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5F880BD-E431-2A19-D56A-8B37360C1C20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371926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pectru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right light in the dark&#10;&#10;Description automatically generated">
            <a:extLst>
              <a:ext uri="{FF2B5EF4-FFF2-40B4-BE49-F238E27FC236}">
                <a16:creationId xmlns:a16="http://schemas.microsoft.com/office/drawing/2014/main" id="{963FEC0B-473D-E3B8-1E1E-E29DFA66AD1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FB16D98-C784-FAB9-BCBC-EA53480E5BA8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788DF65-E85A-7EA9-F2BB-B439D5C7EB16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DB6421F7-1BA7-70C3-4C7B-0694CD3F9A6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E0E8BD61-2DD9-6340-EB16-98CFEA0A221D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038A11-FAB8-DE3A-2D5D-3D1F11925688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FD45E8E5-E623-933A-074B-D3B9860ABECB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A420F8"/>
                </a:gs>
                <a:gs pos="100000">
                  <a:srgbClr val="5C94F9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4CE2B77E-5DDA-CC5C-A575-69779E57947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2C2EB3B4-62C2-DB27-F905-7B5310DF5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41B1F747-977A-C01C-9182-B92C691E57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A5EC877-2F2D-B87F-413C-A62960EC670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E00CEB3-70C1-B84B-69F4-47C6239A963C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B1A4559-3046-DB7C-170D-8B5BA7C09322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32AF557-95D5-C3A7-8762-30EB758F1305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048455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pectrum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lorful light in the dark&#10;&#10;Description automatically generated">
            <a:extLst>
              <a:ext uri="{FF2B5EF4-FFF2-40B4-BE49-F238E27FC236}">
                <a16:creationId xmlns:a16="http://schemas.microsoft.com/office/drawing/2014/main" id="{76F31E31-25A6-21A9-5DF2-0E1AA48A3DF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95E5ED2-D1BB-AC6E-BF6A-D4BD239F1FE9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1D43938-5757-1C8A-B3BA-59EC353FB68E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0AAC841-3D56-6842-04D1-F0B7D973D86D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FF32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05E7332-D2DE-8669-0AEC-5A2A6ABEC83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E9C3B74-7F38-B0AE-8CDD-386F5F93EBDC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BFAD6BB-BE7F-B979-02B7-6642DECA997E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AEBAC9C-4DEF-0172-39AF-392FB46391DA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7619559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Yellow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D5BBB5A-0446-3C14-B12C-56A5730E1C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4EF81A0-CB40-42B3-5E1A-AA5D72BFB4DD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7C1D2CA-2DB1-76BC-DAFE-210631AEC288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7E9D0337-F340-664F-6A13-B03AA4BA4F82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solidFill>
              <a:schemeClr val="tx2"/>
            </a:soli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F198833-5BF3-BB5E-C3B2-7B705558D0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2DC9F8E-6F8C-AF4A-9D84-4AD1502BB512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7C135C3-9109-7FAF-7A1E-C1697A8F5581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7CB01A6-453C-E086-340E-1FA1E3E1B1A3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61512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Wri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36FA399-654A-7130-1FF0-0F0197A98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38649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1272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44759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B01B256-70C6-9663-9CC6-1F22ADBAE7C3}"/>
              </a:ext>
            </a:extLst>
          </p:cNvPr>
          <p:cNvGrpSpPr/>
          <p:nvPr userDrawn="1"/>
        </p:nvGrpSpPr>
        <p:grpSpPr>
          <a:xfrm>
            <a:off x="485774" y="719508"/>
            <a:ext cx="5706110" cy="4360545"/>
            <a:chOff x="485774" y="719508"/>
            <a:chExt cx="5706110" cy="4360545"/>
          </a:xfrm>
        </p:grpSpPr>
        <p:sp>
          <p:nvSpPr>
            <p:cNvPr id="10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49784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7E9D0337-F340-664F-6A13-B03AA4BA4F82}"/>
                </a:ext>
              </a:extLst>
            </p:cNvPr>
            <p:cNvSpPr/>
            <p:nvPr userDrawn="1"/>
          </p:nvSpPr>
          <p:spPr>
            <a:xfrm>
              <a:off x="485775" y="7195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solidFill>
              <a:schemeClr val="tx2"/>
            </a:soli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EB2775D-C14D-1FFE-E3E9-4E62DDA32301}"/>
              </a:ext>
            </a:extLst>
          </p:cNvPr>
          <p:cNvSpPr txBox="1"/>
          <p:nvPr userDrawn="1"/>
        </p:nvSpPr>
        <p:spPr>
          <a:xfrm>
            <a:off x="461984" y="5552404"/>
            <a:ext cx="1045073" cy="19758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GB" sz="1200">
                <a:solidFill>
                  <a:schemeClr val="bg1"/>
                </a:solidFill>
                <a:latin typeface="EYInterstate Light" panose="02000506000000020004" pitchFamily="2" charset="0"/>
              </a:rPr>
              <a:t>Written by</a:t>
            </a:r>
          </a:p>
        </p:txBody>
      </p:sp>
      <p:sp>
        <p:nvSpPr>
          <p:cNvPr id="16" name="Text Placeholder 16">
            <a:extLst>
              <a:ext uri="{FF2B5EF4-FFF2-40B4-BE49-F238E27FC236}">
                <a16:creationId xmlns:a16="http://schemas.microsoft.com/office/drawing/2014/main" id="{FAE2F50B-78AF-04F3-4BFF-980630AF7A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3184" y="5966393"/>
            <a:ext cx="3089275" cy="180000"/>
          </a:xfrm>
        </p:spPr>
        <p:txBody>
          <a:bodyPr/>
          <a:lstStyle>
            <a:lvl1pPr marL="0" indent="0">
              <a:buNone/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5473ED8-C1F4-379D-AE01-5E7A3D5F34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33184" y="6164011"/>
            <a:ext cx="3089275" cy="1800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Job Title</a:t>
            </a:r>
            <a:endParaRPr lang="en-GB"/>
          </a:p>
        </p:txBody>
      </p:sp>
      <p:sp>
        <p:nvSpPr>
          <p:cNvPr id="18" name="Picture Placeholder 19">
            <a:extLst>
              <a:ext uri="{FF2B5EF4-FFF2-40B4-BE49-F238E27FC236}">
                <a16:creationId xmlns:a16="http://schemas.microsoft.com/office/drawing/2014/main" id="{812BC08D-D0F7-900D-1481-4C172F6BE56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1983" y="5861846"/>
            <a:ext cx="576000" cy="57600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25B130A-4E65-32BD-4CB8-C7E2B623FD74}"/>
              </a:ext>
            </a:extLst>
          </p:cNvPr>
          <p:cNvCxnSpPr>
            <a:cxnSpLocks/>
          </p:cNvCxnSpPr>
          <p:nvPr userDrawn="1"/>
        </p:nvCxnSpPr>
        <p:spPr>
          <a:xfrm>
            <a:off x="1333184" y="5656264"/>
            <a:ext cx="8122101" cy="0"/>
          </a:xfrm>
          <a:prstGeom prst="line">
            <a:avLst/>
          </a:prstGeom>
          <a:ln w="9525" cap="flat" cmpd="sng" algn="ctr">
            <a:solidFill>
              <a:srgbClr val="C4C4C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A6E3CB0E-CBF5-F5C6-CBEB-87739E77EC6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AE86F64B-08DB-E5D4-B2AA-6649ABAD8123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1B14B79-79B7-68CD-1151-6FCC77898E68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ACAAE5A-2AFE-71BF-47E0-9339A3B83489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7254657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13817A-1A0E-6215-C86F-711F67622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167EEE6-F985-2112-F3A8-85F1A04A37BD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66D7E4E-2A81-A5AB-16CA-DBCEFBD59141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7E9D0337-F340-664F-6A13-B03AA4BA4F82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FF32FF"/>
                </a:gs>
                <a:gs pos="100000">
                  <a:srgbClr val="32FF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7AEBF90-6B4E-C743-2098-786F67C750D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C9C1757-8C94-A6AF-A3BA-BBD03B3D52CA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A6AE5F3-3050-E5BF-9762-F46B3D60EEC1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23A643-B30A-6BB1-47DB-C281B5429370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428000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B25F44-CAE3-AE0B-B97B-B0F6E4B43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E7E8938-439A-DB5B-B3DF-7EF202013D57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A067759-C6C3-3B7B-ABF5-859A6A63528E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C99724B-50FD-5B78-B6B7-D645073026A7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A420F8"/>
                </a:gs>
                <a:gs pos="100000">
                  <a:srgbClr val="5C94F9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FEC4647-A297-6D44-253F-7CB799E4195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077FE96-06E1-764F-EF1D-227F096A7207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EB8010C-6DC5-5ED2-865B-9ECC10B1F52E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E8B4FD0-7989-32A2-2C2D-B98F2CA72ACD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2851438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D8D4830-1AF6-9C3D-EC53-70FC3C7CB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BA944B-A631-ACF6-36AE-7C814C7A5C9A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1B984E4-95BA-5123-1CFC-48CE97FD8196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" name="Freeform 1">
              <a:extLst>
                <a:ext uri="{FF2B5EF4-FFF2-40B4-BE49-F238E27FC236}">
                  <a16:creationId xmlns:a16="http://schemas.microsoft.com/office/drawing/2014/main" id="{63327741-8A1F-B922-5F7C-0313A67883A4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FF32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C06C001-67C6-86C4-D219-6D9FF2EE00C4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7864A79-9397-C095-6A60-037405E99933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49A99C1-F5EA-E9BD-DDAD-6B8B04AA2AB0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794E93B-1732-5AE8-2F55-692D141C96CF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629109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2D7BB4A-5FCC-BE0E-4598-A4CBBA847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DE89320-B084-3AA1-F041-ECD9699F7EF4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6002E9-E0C8-43F6-867E-B59C9AE9217B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7E9D0337-F340-664F-6A13-B03AA4BA4F82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00C864"/>
                </a:gs>
                <a:gs pos="100000">
                  <a:srgbClr val="4696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D6D404D-3B24-C700-DA68-CAC99436C4D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1AC5912-E51B-95BC-8C66-553238217429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9CD55CF-CF31-502D-7730-391827138A2F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17F457C-720D-E922-F11E-103B461D0764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667912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CF5E0C7-6CC4-C4E1-946D-4BAC78CCD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2E27567-DFCD-709F-AF40-B7A340ECC0FE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AC690EE-1BB8-29C6-B9D8-2BD7B4AE0781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0AAC841-3D56-6842-04D1-F0B7D973D86D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32FF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8799DD5-A107-F05E-1B17-E91A1549387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51E304F-8F78-3B87-4D90-A4CD04AD740A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0ED5AB1-67B1-EB7E-24B6-6CE9AFD24441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5218930-F485-F944-970D-2DD7F653BEDF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6678940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71B9AAE-F698-5F49-FF7D-DB273B1EE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068369-6C63-44AF-3E4E-30E5F2D1F837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F7E7875-967C-8167-6219-7AD2981B3A46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0AAC841-3D56-6842-04D1-F0B7D973D86D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32FF"/>
                </a:gs>
                <a:gs pos="100000">
                  <a:srgbClr val="E95023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8C9C312-F6C2-0463-D74A-A17E895A20A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807442E-6BC7-A4A5-0BEA-D4E13D6ED37F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9A8D832-F8A5-B928-BD29-D49AC2218B7C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9768C3F-9B6D-90AA-9F71-E2AE10CDE47C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2540981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FCAD8-0916-AF46-1471-030E4128E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A89752D-8E95-B790-7077-E6201AB412C3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6FD7948-9E7C-1CE1-F28B-D2D349BB86F0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0AAC841-3D56-6842-04D1-F0B7D973D86D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C5FD45"/>
                </a:gs>
                <a:gs pos="100000">
                  <a:srgbClr val="80FBFD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227FA85-BD8B-B10F-506C-988BB7ED6E8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25F022C-3DD7-CE54-3F41-B2A9FD83FDF1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3B4BDBD-6FF3-6330-ADF8-EDC185F44AE9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2E5D71A-BC9C-E69D-9D59-9AA8924027F8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6217205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image of a colorful light&#10;&#10;Description automatically generated">
            <a:extLst>
              <a:ext uri="{FF2B5EF4-FFF2-40B4-BE49-F238E27FC236}">
                <a16:creationId xmlns:a16="http://schemas.microsoft.com/office/drawing/2014/main" id="{388CF986-E6D2-86D0-6501-D59429EAD0A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DD00A-5473-9C4E-E608-8B32E0D272E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6E9B457-AB94-4EFD-8647-19A0D7E58A85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09E421-2EC0-3319-C39C-40599878BE7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41A7ECE6-349D-0365-4AF1-743B27082168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6C23CFB-156B-9078-6323-545707AA14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CA31CCB7-1D59-7915-39B7-6FFB756D02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53707F1C-2F20-E3B4-486B-4BCC510265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CE008F-2A59-02D8-4837-99D5AB62729A}"/>
              </a:ext>
            </a:extLst>
          </p:cNvPr>
          <p:cNvSpPr txBox="1">
            <a:spLocks/>
          </p:cNvSpPr>
          <p:nvPr userDrawn="1"/>
        </p:nvSpPr>
        <p:spPr>
          <a:xfrm>
            <a:off x="477751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D5B76411-544C-4F9A-8EDE-9EEB2BD21F95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149396685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rry image of a colorful light&#10;&#10;Description automatically generated">
            <a:extLst>
              <a:ext uri="{FF2B5EF4-FFF2-40B4-BE49-F238E27FC236}">
                <a16:creationId xmlns:a16="http://schemas.microsoft.com/office/drawing/2014/main" id="{ADC82D1B-1943-B3BC-B7E9-DADF1458A76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E9DE20-B99E-1D81-053E-84438CF8E97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28E5B5-50F4-4EAB-B39C-60891A0ADB2A}" type="datetime1">
              <a:rPr lang="en-GB" smtClean="0"/>
              <a:t>07/10/2026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E98CC51-0E72-2BDA-8CF5-1ABDA2CC41A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6FD4AAE-DE34-CF40-FC0A-1653066FD23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1" name="Logo">
            <a:extLst>
              <a:ext uri="{FF2B5EF4-FFF2-40B4-BE49-F238E27FC236}">
                <a16:creationId xmlns:a16="http://schemas.microsoft.com/office/drawing/2014/main" id="{18251012-D45B-479F-5EDA-A3F6C1E15D2D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CF40346-9E85-4BC4-C5BF-D62BF00300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17D7237-88EE-FA7A-2FB2-EBCB3AACB8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791FDBFF-3F6A-7B38-613C-F3C72FB727F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069640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lorful light in the dark&#10;&#10;Description automatically generated">
            <a:extLst>
              <a:ext uri="{FF2B5EF4-FFF2-40B4-BE49-F238E27FC236}">
                <a16:creationId xmlns:a16="http://schemas.microsoft.com/office/drawing/2014/main" id="{A6C92DE9-1F7F-6A8E-389D-FBCE38254AD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5609B97E-2DC6-A36D-54FC-92BC09C8312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6612C65-D267-47C3-B14C-544668977604}" type="datetime1">
              <a:rPr lang="en-GB" smtClean="0"/>
              <a:t>07/10/2026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FF456FF-F708-52C3-6330-E3E06F1DFC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86FB6E0-FFD6-54F8-9ED2-C25EB31D01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2" name="Logo">
            <a:extLst>
              <a:ext uri="{FF2B5EF4-FFF2-40B4-BE49-F238E27FC236}">
                <a16:creationId xmlns:a16="http://schemas.microsoft.com/office/drawing/2014/main" id="{7E9251C7-6ABE-7271-86DD-E6C7EA7C6DDE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5C2207C1-58B2-00E2-E2CA-5D37F0D8DD8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97F1680E-CD67-2A48-5B49-10C8DB52891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7D9731E6-5099-75C1-7798-553468FB27D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311729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rry image of a rainbow&#10;&#10;Description automatically generated">
            <a:extLst>
              <a:ext uri="{FF2B5EF4-FFF2-40B4-BE49-F238E27FC236}">
                <a16:creationId xmlns:a16="http://schemas.microsoft.com/office/drawing/2014/main" id="{C8E8709F-6A78-59BB-D254-AE4C7F2A57D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D82D95-5C58-DAA3-01AB-0FBFF01FCB3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D76EA68-6CF5-4EA4-9FC2-9728A2DBFD8D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995863-8584-4333-CE32-49F8F8023F7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9221BD-0A8A-9AC6-5618-F237A9B83A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ACF2ADCF-CA4C-F7DF-0251-1AF30AE7103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21539E2-E30F-90D3-8303-41D62639A64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B412BADD-ACBB-8991-0CE3-E84D354088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4800EB6-016B-2DE6-0374-7831F666F8A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97584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olorful circle on a black background&#10;&#10;Description automatically generated">
            <a:extLst>
              <a:ext uri="{FF2B5EF4-FFF2-40B4-BE49-F238E27FC236}">
                <a16:creationId xmlns:a16="http://schemas.microsoft.com/office/drawing/2014/main" id="{9B1A0959-0F7F-FF84-F8C5-2E76E9D45F4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grpSp>
        <p:nvGrpSpPr>
          <p:cNvPr id="9" name="Logo">
            <a:extLst>
              <a:ext uri="{FF2B5EF4-FFF2-40B4-BE49-F238E27FC236}">
                <a16:creationId xmlns:a16="http://schemas.microsoft.com/office/drawing/2014/main" id="{F5CD6D5B-3D47-CDC7-66FD-22686B08A5F4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484B3F94-3D8C-9F6A-5E5F-1A8473AB504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D29B739D-2B8A-7A3E-33E6-A9F7F44C12D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3CA985E2-C0E4-39C5-A529-B3C8C70A2CD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382FA3A-9114-F937-1E2F-D5FE20B5D23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60C2FB6-B2A8-4A47-9971-1365A9F9A995}" type="datetime1">
              <a:rPr lang="en-GB" smtClean="0"/>
              <a:t>07/10/2026</a:t>
            </a:fld>
            <a:endParaRPr lang="en-US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F2447BA0-C33B-8115-7DA0-1DCCAC88CA9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9344103D-B100-2C69-A21C-E8E8DA377D2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4577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rry image of a rainbow&#10;&#10;Description automatically generated">
            <a:extLst>
              <a:ext uri="{FF2B5EF4-FFF2-40B4-BE49-F238E27FC236}">
                <a16:creationId xmlns:a16="http://schemas.microsoft.com/office/drawing/2014/main" id="{36630E4E-7F64-A84B-6022-F16994E9537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305361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216920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85000"/>
              </a:lnSpc>
              <a:spcAft>
                <a:spcPts val="0"/>
              </a:spcAft>
              <a:buNone/>
              <a:defRPr kumimoji="0" lang="en-US" sz="16600" b="0" i="0" u="none" strike="noStrike" kern="1200" cap="none" spc="0" normalizeH="0" baseline="0" dirty="0">
                <a:ln>
                  <a:noFill/>
                </a:ln>
                <a:solidFill>
                  <a:srgbClr val="747480">
                    <a:alpha val="50000"/>
                  </a:srgbClr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</a:lstStyle>
          <a:p>
            <a:pPr marL="0" marR="0" lvl="0" indent="0" algn="l" defTabSz="10078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00</a:t>
            </a:r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B4856D9-3089-5BDD-B9B9-A4CD079CA96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3835D5F-695B-4060-8D87-F1B722BA0EB5}" type="datetime1">
              <a:rPr lang="en-GB" smtClean="0"/>
              <a:t>07/10/2026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015B5A-91DC-F131-BBC1-B7D33250C4A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284658-C487-F55F-3BCA-9D45E9EF2D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2" name="Logo">
            <a:extLst>
              <a:ext uri="{FF2B5EF4-FFF2-40B4-BE49-F238E27FC236}">
                <a16:creationId xmlns:a16="http://schemas.microsoft.com/office/drawing/2014/main" id="{FAD020ED-EAB5-A1B7-B76E-7DFF25EF2722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E34E4911-68ED-9138-AE53-28CEFB19627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C0F1ED4F-5BA1-BE72-F1D9-2F9CA8B84FB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7B80EF99-DCE0-BE24-ACAE-087B6460F3A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2762447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urry image of a rainbow&#10;&#10;Description automatically generated">
            <a:extLst>
              <a:ext uri="{FF2B5EF4-FFF2-40B4-BE49-F238E27FC236}">
                <a16:creationId xmlns:a16="http://schemas.microsoft.com/office/drawing/2014/main" id="{0CF60EBF-BB0E-A13F-6F1D-8E03C5FC39A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30FFC6-DEA1-5FCD-0ABD-350186ADBF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523" y="369888"/>
            <a:ext cx="3314701" cy="470898"/>
          </a:xfrm>
        </p:spPr>
        <p:txBody>
          <a:bodyPr/>
          <a:lstStyle/>
          <a:p>
            <a:r>
              <a:rPr lang="en-GB"/>
              <a:t>Contents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4A244641-8AF5-E5A2-18FB-105E0DDC424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9647" y="1411287"/>
            <a:ext cx="5610225" cy="4681538"/>
          </a:xfrm>
        </p:spPr>
        <p:txBody>
          <a:bodyPr/>
          <a:lstStyle>
            <a:lvl1pPr marL="269875" indent="-269875">
              <a:buFont typeface="+mj-lt"/>
              <a:buAutoNum type="arabicPeriod"/>
              <a:defRPr sz="1800"/>
            </a:lvl1pPr>
            <a:lvl2pPr marL="269875" indent="0">
              <a:defRPr sz="1600"/>
            </a:lvl2pPr>
            <a:lvl3pPr marL="269875" indent="0">
              <a:defRPr sz="1600"/>
            </a:lvl3pPr>
            <a:lvl4pPr marL="444500" indent="-174625">
              <a:defRPr sz="1400"/>
            </a:lvl4pPr>
            <a:lvl5pPr marL="628650" indent="-184150">
              <a:defRPr sz="1400"/>
            </a:lvl5pPr>
          </a:lstStyle>
          <a:p>
            <a:pPr lvl="0"/>
            <a:r>
              <a:rPr lang="en-IN"/>
              <a:t>Section header</a:t>
            </a:r>
          </a:p>
          <a:p>
            <a:pPr lvl="0"/>
            <a:r>
              <a:rPr lang="en-IN"/>
              <a:t>Section header</a:t>
            </a:r>
          </a:p>
          <a:p>
            <a:pPr lvl="0"/>
            <a:r>
              <a:rPr lang="en-IN"/>
              <a:t>Section header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C5CBB57-69E0-3CF8-D2DF-A316D98FACC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79425" y="1412875"/>
            <a:ext cx="5105400" cy="46799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B38A6C0F-3417-2AC3-E2A2-1AB96B34FB2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2AE7CA59-01E8-48A8-925C-55627216BE88}" type="datetime1">
              <a:rPr lang="en-GB" smtClean="0"/>
              <a:t>07/10/2026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036879B2-C6AD-B223-A2B1-BAFDCB6FDEF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6E9C3A6-279D-9AEE-07E3-9AC4C421332B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9" name="Logo">
            <a:extLst>
              <a:ext uri="{FF2B5EF4-FFF2-40B4-BE49-F238E27FC236}">
                <a16:creationId xmlns:a16="http://schemas.microsoft.com/office/drawing/2014/main" id="{4E225EF6-8D5E-A943-DA66-FC3EA7A133D8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09082018-2FBA-4C46-89C5-43A99DBD13C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6D0C1103-4336-EC5A-6761-7696EAC9808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6C62F4B6-EBE7-183E-404F-575433B108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3293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right light in the dark&#10;&#10;Description automatically generated">
            <a:extLst>
              <a:ext uri="{FF2B5EF4-FFF2-40B4-BE49-F238E27FC236}">
                <a16:creationId xmlns:a16="http://schemas.microsoft.com/office/drawing/2014/main" id="{C6893964-B096-BBF5-42BC-1EAE055022B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B9199D71-1BDD-2925-CD92-9B0B3F8439E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56521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F8391354-FDE4-DE4D-8084-A61467B9F41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 flipH="1">
            <a:off x="2845421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F575A1BC-5BD6-1793-C917-0720FC3DE98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116419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F9CBCE1B-3F39-C7B5-CCE2-AE84242E77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 flipH="1">
            <a:off x="5205319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814015C2-B8E4-B890-4CD0-F6A3A2052CA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565217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37959C9A-F406-FB92-6FFF-08F42234CF9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836214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BC6A6256-32C1-F83C-4A32-D674785CF1D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925114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523" y="369888"/>
            <a:ext cx="11224347" cy="470898"/>
          </a:xfr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20A2165-CDB3-28AA-F42A-E5E3D72C14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623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78D4931-12A7-7D80-F380-EDF6BE10CA4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5523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8D52684-7A0E-2BDF-C56C-F721FED04E3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476317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D23DAA3-59C7-A352-8728-D157F22D25EF}"/>
              </a:ext>
            </a:extLst>
          </p:cNvPr>
          <p:cNvSpPr>
            <a:spLocks noGrp="1"/>
          </p:cNvSpPr>
          <p:nvPr>
            <p:ph type="dgm" sz="quarter" idx="36" hasCustomPrompt="1"/>
          </p:nvPr>
        </p:nvSpPr>
        <p:spPr>
          <a:xfrm>
            <a:off x="2556050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7" name="SmartArt Placeholder 35">
            <a:extLst>
              <a:ext uri="{FF2B5EF4-FFF2-40B4-BE49-F238E27FC236}">
                <a16:creationId xmlns:a16="http://schemas.microsoft.com/office/drawing/2014/main" id="{D33DFC67-321E-4CFE-436A-CF6FA96BA7E4}"/>
              </a:ext>
            </a:extLst>
          </p:cNvPr>
          <p:cNvSpPr>
            <a:spLocks noGrp="1"/>
          </p:cNvSpPr>
          <p:nvPr>
            <p:ph type="dgm" sz="quarter" idx="37" hasCustomPrompt="1"/>
          </p:nvPr>
        </p:nvSpPr>
        <p:spPr>
          <a:xfrm flipH="1">
            <a:off x="4915948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8" name="SmartArt Placeholder 35">
            <a:extLst>
              <a:ext uri="{FF2B5EF4-FFF2-40B4-BE49-F238E27FC236}">
                <a16:creationId xmlns:a16="http://schemas.microsoft.com/office/drawing/2014/main" id="{A43CB924-4778-AEB3-1D6C-5B802CD043B0}"/>
              </a:ext>
            </a:extLst>
          </p:cNvPr>
          <p:cNvSpPr>
            <a:spLocks noGrp="1"/>
          </p:cNvSpPr>
          <p:nvPr>
            <p:ph type="dgm" sz="quarter" idx="38" hasCustomPrompt="1"/>
          </p:nvPr>
        </p:nvSpPr>
        <p:spPr>
          <a:xfrm>
            <a:off x="7275846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9" name="SmartArt Placeholder 35">
            <a:extLst>
              <a:ext uri="{FF2B5EF4-FFF2-40B4-BE49-F238E27FC236}">
                <a16:creationId xmlns:a16="http://schemas.microsoft.com/office/drawing/2014/main" id="{225723D6-9330-76F1-3F3B-6A582AC1C154}"/>
              </a:ext>
            </a:extLst>
          </p:cNvPr>
          <p:cNvSpPr>
            <a:spLocks noGrp="1"/>
          </p:cNvSpPr>
          <p:nvPr>
            <p:ph type="dgm" sz="quarter" idx="39" hasCustomPrompt="1"/>
          </p:nvPr>
        </p:nvSpPr>
        <p:spPr>
          <a:xfrm>
            <a:off x="9635744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grpSp>
        <p:nvGrpSpPr>
          <p:cNvPr id="9" name="Logo">
            <a:extLst>
              <a:ext uri="{FF2B5EF4-FFF2-40B4-BE49-F238E27FC236}">
                <a16:creationId xmlns:a16="http://schemas.microsoft.com/office/drawing/2014/main" id="{DE3AA740-B8B1-5B7B-72E0-02E82136943E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5F05F4CA-B0A1-6571-C05C-6C4D6CFE280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6476DA22-E2C3-1EBB-B638-4A3B94A09AE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CF2A1D68-86C4-1924-BBE4-E55856618F7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A45EDB25-04F9-FE88-EBA3-C8D5069B719E}"/>
              </a:ext>
            </a:extLst>
          </p:cNvPr>
          <p:cNvSpPr>
            <a:spLocks noGrp="1"/>
          </p:cNvSpPr>
          <p:nvPr>
            <p:ph type="dt" sz="half" idx="40"/>
          </p:nvPr>
        </p:nvSpPr>
        <p:spPr/>
        <p:txBody>
          <a:bodyPr/>
          <a:lstStyle/>
          <a:p>
            <a:fld id="{6F770517-DE79-4D4B-BA87-91B1A092C62B}" type="datetime1">
              <a:rPr lang="en-GB" smtClean="0"/>
              <a:t>07/10/2026</a:t>
            </a:fld>
            <a:endParaRPr 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9B626F01-193E-E5DE-6210-10CB0419332B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A87EAD6B-75E3-29AF-07AA-7450C4503F3B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63604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olorful circle on a black background&#10;&#10;Description automatically generated">
            <a:extLst>
              <a:ext uri="{FF2B5EF4-FFF2-40B4-BE49-F238E27FC236}">
                <a16:creationId xmlns:a16="http://schemas.microsoft.com/office/drawing/2014/main" id="{C39DD3F9-9341-288C-0536-DED981D0E40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F20FD9-346B-5423-9ECF-F0D4E362CC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4" y="1411287"/>
            <a:ext cx="11218863" cy="4638675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8000" b="1">
                <a:solidFill>
                  <a:schemeClr val="bg1"/>
                </a:solidFill>
                <a:latin typeface="EYInterstate" panose="0200050302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8F66F87-BA60-4C99-D2D4-F29C30FF73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1041FA7-5670-4283-BC33-7DF002B3853F}" type="datetime1">
              <a:rPr lang="en-GB" smtClean="0"/>
              <a:t>07/10/2026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C9DE581-7B50-7B6D-A41F-0004A45A7F6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7500C8D-FE22-A8F5-6FA3-A84F20F0198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1" name="Logo">
            <a:extLst>
              <a:ext uri="{FF2B5EF4-FFF2-40B4-BE49-F238E27FC236}">
                <a16:creationId xmlns:a16="http://schemas.microsoft.com/office/drawing/2014/main" id="{68C3FCB0-2AC4-7050-3315-30A44447F7CB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8017B73F-7A76-2CFB-EBE1-2CA6C32D30E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1B10704A-A13B-F4BD-C1FA-CD3013CBEB1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59CAC502-5DF4-7BBA-74BF-350838343F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160943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olorful light&#10;&#10;Description automatically generated">
            <a:extLst>
              <a:ext uri="{FF2B5EF4-FFF2-40B4-BE49-F238E27FC236}">
                <a16:creationId xmlns:a16="http://schemas.microsoft.com/office/drawing/2014/main" id="{BFF9BC5C-A44C-B902-3ACE-C29AC4CE3E4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F20FD9-346B-5423-9ECF-F0D4E362CC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4" y="1411287"/>
            <a:ext cx="11218863" cy="4638675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8000" b="1">
                <a:solidFill>
                  <a:schemeClr val="bg1"/>
                </a:solidFill>
                <a:latin typeface="EYInterstate" panose="0200050302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3A4AEFF-B7E4-C792-7CE0-3AD22D1031FF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838AB828-356E-1FDD-C9C8-243989B96FC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8D8F2230-BC31-E11A-1D5C-2A51AD32994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9612817D-315D-323F-0F5F-D2B46DFC17E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530CD162-7366-86D1-906A-0A3E367649C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867B5D4-2B96-442D-BB5A-781E50E22250}" type="datetime1">
              <a:rPr lang="en-GB" smtClean="0"/>
              <a:t>07/10/2026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D410F2F-D03F-0D7F-6E11-BE9A31F33A1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45A8BB5-D269-4EB5-9DBD-C6A1A7878B4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80730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and 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6086DA-FAB4-D672-5D3E-0B069D2B2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4BA46848-8969-3428-7E66-3827EB17DC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47" y="4980757"/>
            <a:ext cx="3445104" cy="1938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buNone/>
              <a:defRPr sz="1400" b="0" i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Name</a:t>
            </a:r>
            <a:endParaRPr lang="en-US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78B5CC24-699C-7858-0807-40619F0D53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5747" y="5184857"/>
            <a:ext cx="3445104" cy="153888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Job title</a:t>
            </a:r>
            <a:endParaRPr lang="en-US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E82A0447-0820-5F05-7D32-3BE15F19486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5849" y="358916"/>
            <a:ext cx="2023892" cy="1419083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9200" b="0" i="0">
                <a:solidFill>
                  <a:schemeClr val="tx2"/>
                </a:solidFill>
                <a:latin typeface="Georgia Pro" panose="02040502050405020303" pitchFamily="18" charset="0"/>
              </a:defRPr>
            </a:lvl1pPr>
          </a:lstStyle>
          <a:p>
            <a:pPr lvl="0"/>
            <a:r>
              <a:rPr lang="en-GB"/>
              <a:t>“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8A771E8A-8B2A-ED69-3AEC-E5AEDB16F0E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5747" y="1958113"/>
            <a:ext cx="7524979" cy="2721927"/>
          </a:xfrm>
        </p:spPr>
        <p:txBody>
          <a:bodyPr/>
          <a:lstStyle>
            <a:lvl1pPr marL="0" indent="0">
              <a:buNone/>
              <a:defRPr sz="4800" b="0" i="0">
                <a:latin typeface="Georgia Pro" panose="02040502050405020303" pitchFamily="18" charset="0"/>
              </a:defRPr>
            </a:lvl1pPr>
          </a:lstStyle>
          <a:p>
            <a:pPr lvl="0"/>
            <a:r>
              <a:rPr lang="en-GB"/>
              <a:t>Quote goes here.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165CBFB1-2925-E563-7FC5-99F9DE0D484F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B674CEC-8130-44B4-9B0A-E405622BA235}" type="datetime1">
              <a:rPr lang="en-GB" smtClean="0"/>
              <a:t>07/10/2026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6A1D37E-2C18-BB63-446A-7AE4AFE8B05D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8918797-673F-7293-8322-C09E2733B9C2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>
          <a:xfrm>
            <a:off x="485747" y="6390988"/>
            <a:ext cx="509098" cy="123111"/>
          </a:xfrm>
        </p:spPr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4" name="Logo">
            <a:extLst>
              <a:ext uri="{FF2B5EF4-FFF2-40B4-BE49-F238E27FC236}">
                <a16:creationId xmlns:a16="http://schemas.microsoft.com/office/drawing/2014/main" id="{8FD6ED4F-A357-F9C3-450F-6EE8FFF1CCB2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34F2195B-B3BC-B186-9C2E-42828CC8557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34A6CD35-B470-5625-4013-8D14CED22A5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77A4548F-02F1-00AD-33EC-8C316A14543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904655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a Placeholder 6">
            <a:extLst>
              <a:ext uri="{FF2B5EF4-FFF2-40B4-BE49-F238E27FC236}">
                <a16:creationId xmlns:a16="http://schemas.microsoft.com/office/drawing/2014/main" id="{04648CD8-B307-812B-5BD0-91AA365C73D1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110AE97-2F65-8BD0-0958-C9D005E0587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B707DD8-FAC5-47D3-9E7B-471A54BE6893}" type="datetime1">
              <a:rPr lang="en-GB" smtClean="0"/>
              <a:t>07/10/2026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525DA1E8-9A46-959E-19A0-37432BE0DD1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A46768A-FE38-61DA-72B5-FB5D763D382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3" name="Logo">
            <a:extLst>
              <a:ext uri="{FF2B5EF4-FFF2-40B4-BE49-F238E27FC236}">
                <a16:creationId xmlns:a16="http://schemas.microsoft.com/office/drawing/2014/main" id="{61823FF7-52FB-31D4-5A38-3C4EBC3FB5CD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DB999A64-07EE-CBBE-41EF-E2A60CB5E33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2221EE00-D369-482F-4E81-65456588AA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9799A885-1274-C189-F2A5-A24FAC3DDFF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849097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40535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4D2191-0438-8AEC-A789-96532D6A46BF}"/>
              </a:ext>
            </a:extLst>
          </p:cNvPr>
          <p:cNvSpPr txBox="1">
            <a:spLocks/>
          </p:cNvSpPr>
          <p:nvPr userDrawn="1"/>
        </p:nvSpPr>
        <p:spPr>
          <a:xfrm>
            <a:off x="477751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D5B76411-544C-4F9A-8EDE-9EEB2BD21F95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55363897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s-bullets-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1E64A6F5-4ADF-B8E8-CD09-F0D719706B6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2913" y="438150"/>
            <a:ext cx="11322050" cy="714375"/>
          </a:xfrm>
        </p:spPr>
        <p:txBody>
          <a:bodyPr/>
          <a:lstStyle>
            <a:lvl1pPr>
              <a:lnSpc>
                <a:spcPts val="2700"/>
              </a:lnSpc>
              <a:spcAft>
                <a:spcPts val="300"/>
              </a:spcAft>
              <a:defRPr sz="2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Standard slide</a:t>
            </a:r>
            <a:endParaRPr lang="en-GB"/>
          </a:p>
        </p:txBody>
      </p:sp>
      <p:grpSp>
        <p:nvGrpSpPr>
          <p:cNvPr id="11" name="Group 4">
            <a:extLst>
              <a:ext uri="{FF2B5EF4-FFF2-40B4-BE49-F238E27FC236}">
                <a16:creationId xmlns:a16="http://schemas.microsoft.com/office/drawing/2014/main" id="{9ABDBB72-A74A-425B-891A-92D10735032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61907" y="6356351"/>
            <a:ext cx="303055" cy="311150"/>
            <a:chOff x="7110" y="4004"/>
            <a:chExt cx="191" cy="196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1E43667-7A35-4A70-8163-C5AEBBCF005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9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A1C9CAA-3899-41E9-AAC4-FD2A2BD3D30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9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D9A34B52-D18D-4F3A-9A44-49CA04427D0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9"/>
            </a:p>
          </p:txBody>
        </p:sp>
      </p:grp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332458A1-A667-D6C4-02C0-EBD6B1AB7C80}"/>
              </a:ext>
            </a:extLst>
          </p:cNvPr>
          <p:cNvSpPr txBox="1">
            <a:spLocks/>
          </p:cNvSpPr>
          <p:nvPr userDrawn="1"/>
        </p:nvSpPr>
        <p:spPr>
          <a:xfrm>
            <a:off x="477751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D5B76411-544C-4F9A-8EDE-9EEB2BD21F95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806020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2">
          <p15:clr>
            <a:srgbClr val="FBAE40"/>
          </p15:clr>
        </p15:guide>
        <p15:guide id="3" orient="horz" pos="3934">
          <p15:clr>
            <a:srgbClr val="F26B43"/>
          </p15:clr>
        </p15:guide>
        <p15:guide id="4" pos="272">
          <p15:clr>
            <a:srgbClr val="F26B43"/>
          </p15:clr>
        </p15:guide>
        <p15:guide id="5" pos="7432">
          <p15:clr>
            <a:srgbClr val="F26B43"/>
          </p15:clr>
        </p15:guide>
        <p15:guide id="6" orient="horz" pos="274">
          <p15:clr>
            <a:srgbClr val="F26B43"/>
          </p15:clr>
        </p15:guide>
        <p15:guide id="7" orient="horz" pos="850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3" y="369888"/>
            <a:ext cx="11224347" cy="47089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99DD3D67-FDA7-A413-313B-AF74B5AA9F1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auto">
          <a:xfrm>
            <a:off x="485521" y="1411287"/>
            <a:ext cx="3571200" cy="4638675"/>
          </a:xfrm>
          <a:solidFill>
            <a:schemeClr val="bg2">
              <a:alpha val="60000"/>
            </a:schemeClr>
          </a:solidFill>
        </p:spPr>
        <p:txBody>
          <a:bodyPr lIns="251999" tIns="180000" rIns="251999" bIns="180000"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marL="252000" marR="0" lvl="0" indent="-25200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lang="en-GB"/>
              <a:t>Only one highlight line should appear. Delete the other two lines.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DAD40B-6BF1-FD89-F7E7-683D2B6F74A7}"/>
              </a:ext>
            </a:extLst>
          </p:cNvPr>
          <p:cNvSpPr>
            <a:spLocks noGrp="1"/>
          </p:cNvSpPr>
          <p:nvPr>
            <p:ph idx="13" hasCustomPrompt="1"/>
          </p:nvPr>
        </p:nvSpPr>
        <p:spPr bwMode="auto">
          <a:xfrm>
            <a:off x="4312686" y="1411287"/>
            <a:ext cx="3571200" cy="4638675"/>
          </a:xfrm>
          <a:solidFill>
            <a:schemeClr val="bg2">
              <a:alpha val="60000"/>
            </a:schemeClr>
          </a:solidFill>
        </p:spPr>
        <p:txBody>
          <a:bodyPr lIns="251999" tIns="180000" rIns="251999" bIns="180000"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marL="252000" marR="0" lvl="0" indent="-25200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lang="en-GB"/>
              <a:t>Only one highlight line should appear. Delete the other two lines.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6A69E41B-F39E-4366-2ADE-0A30A6B7B882}"/>
              </a:ext>
            </a:extLst>
          </p:cNvPr>
          <p:cNvSpPr>
            <a:spLocks noGrp="1"/>
          </p:cNvSpPr>
          <p:nvPr>
            <p:ph idx="14" hasCustomPrompt="1"/>
          </p:nvPr>
        </p:nvSpPr>
        <p:spPr bwMode="auto">
          <a:xfrm>
            <a:off x="8139850" y="1411287"/>
            <a:ext cx="3571200" cy="4638675"/>
          </a:xfrm>
          <a:solidFill>
            <a:schemeClr val="bg2">
              <a:alpha val="60000"/>
            </a:schemeClr>
          </a:solidFill>
        </p:spPr>
        <p:txBody>
          <a:bodyPr lIns="251999" tIns="180000" rIns="251999" bIns="180000"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marL="252000" marR="0" lvl="0" indent="-25200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lang="en-GB"/>
              <a:t>Only one highlight line should appear. Delete the other two lines.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673B6-79DD-4B4F-ACB0-F62259251157}" type="datetime1">
              <a:rPr lang="en-US" smtClean="0"/>
              <a:t>10/7/2026</a:t>
            </a:fld>
            <a:endParaRPr lang="en-US"/>
          </a:p>
        </p:txBody>
      </p:sp>
      <p:sp>
        <p:nvSpPr>
          <p:cNvPr id="8" name="Highlight line 1">
            <a:extLst>
              <a:ext uri="{FF2B5EF4-FFF2-40B4-BE49-F238E27FC236}">
                <a16:creationId xmlns:a16="http://schemas.microsoft.com/office/drawing/2014/main" id="{E1FBA9F5-4E1E-7157-650F-920396E6BD16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485775" y="1411287"/>
            <a:ext cx="3571200" cy="36000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  <p:sp>
        <p:nvSpPr>
          <p:cNvPr id="9" name="Highlight line 2">
            <a:extLst>
              <a:ext uri="{FF2B5EF4-FFF2-40B4-BE49-F238E27FC236}">
                <a16:creationId xmlns:a16="http://schemas.microsoft.com/office/drawing/2014/main" id="{F0D5216F-CE4B-8B47-FCA1-EA9B01BBAD6B}"/>
              </a:ext>
            </a:extLst>
          </p:cNvPr>
          <p:cNvSpPr>
            <a:spLocks noGrp="1"/>
          </p:cNvSpPr>
          <p:nvPr>
            <p:ph type="dgm" sz="quarter" idx="16" hasCustomPrompt="1"/>
          </p:nvPr>
        </p:nvSpPr>
        <p:spPr>
          <a:xfrm>
            <a:off x="4312686" y="1411287"/>
            <a:ext cx="3571200" cy="36000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  <p:sp>
        <p:nvSpPr>
          <p:cNvPr id="10" name="Highlight line 3">
            <a:extLst>
              <a:ext uri="{FF2B5EF4-FFF2-40B4-BE49-F238E27FC236}">
                <a16:creationId xmlns:a16="http://schemas.microsoft.com/office/drawing/2014/main" id="{945CF969-2B44-5C5F-B1A2-132B74FE4B46}"/>
              </a:ext>
            </a:extLst>
          </p:cNvPr>
          <p:cNvSpPr>
            <a:spLocks noGrp="1"/>
          </p:cNvSpPr>
          <p:nvPr>
            <p:ph type="dgm" sz="quarter" idx="17" hasCustomPrompt="1"/>
          </p:nvPr>
        </p:nvSpPr>
        <p:spPr>
          <a:xfrm>
            <a:off x="8139851" y="1411287"/>
            <a:ext cx="3571200" cy="36000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498712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image of a colorful light&#10;&#10;Description automatically generated">
            <a:extLst>
              <a:ext uri="{FF2B5EF4-FFF2-40B4-BE49-F238E27FC236}">
                <a16:creationId xmlns:a16="http://schemas.microsoft.com/office/drawing/2014/main" id="{388CF986-E6D2-86D0-6501-D59429EAD0A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DD00A-5473-9C4E-E608-8B32E0D272E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6E9B457-AB94-4EFD-8647-19A0D7E58A85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09E421-2EC0-3319-C39C-40599878BE7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E1598-99D5-72CF-E9B0-613158D211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41A7ECE6-349D-0365-4AF1-743B27082168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6C23CFB-156B-9078-6323-545707AA14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CA31CCB7-1D59-7915-39B7-6FFB756D02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53707F1C-2F20-E3B4-486B-4BCC510265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8265947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752408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D9E433B3-F2D7-EE0E-B292-997EB25B05B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1" y="1411287"/>
            <a:ext cx="11224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BEF5EE-C1B0-CB56-30BC-F2EA02D0DD7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6D178608-8F70-46F4-939A-9BC9ECBE70FD}" type="datetime1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39B410-713F-D002-C7AD-50375ABC03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EY.ai for Sustainability Reporting - NY Workshop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877F87-1E81-7C70-C23C-765CF083A38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0" name="Logo">
            <a:extLst>
              <a:ext uri="{FF2B5EF4-FFF2-40B4-BE49-F238E27FC236}">
                <a16:creationId xmlns:a16="http://schemas.microsoft.com/office/drawing/2014/main" id="{EECBC22F-ABFB-48B6-CDC6-4309042A5544}"/>
              </a:ext>
            </a:extLst>
          </p:cNvPr>
          <p:cNvGrpSpPr/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BB4C61E-397F-F826-D32A-B638714F9D51}"/>
                </a:ext>
              </a:extLst>
            </p:cNvPr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4E97927A-B711-1BD1-7DB6-31EEB9331E23}"/>
                </a:ext>
              </a:extLst>
            </p:cNvPr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D5D626F4-6013-3429-50AE-E567EFCF0F27}"/>
                </a:ext>
              </a:extLst>
            </p:cNvPr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126915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826201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706755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430032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801740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6070963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92369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984661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8033967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667497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5377290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838277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930872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19652837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5639086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94309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1777026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752367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3965731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838534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1152292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6051972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231256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9800740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3041753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2672207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6791423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352116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40896261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061908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1033609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127814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324726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9163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oleObject" Target="../embeddings/oleObject1.bin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59.xml"/><Relationship Id="rId21" Type="http://schemas.openxmlformats.org/officeDocument/2006/relationships/slideLayout" Target="../slideLayouts/slideLayout54.xml"/><Relationship Id="rId34" Type="http://schemas.openxmlformats.org/officeDocument/2006/relationships/slideLayout" Target="../slideLayouts/slideLayout67.xml"/><Relationship Id="rId42" Type="http://schemas.openxmlformats.org/officeDocument/2006/relationships/slideLayout" Target="../slideLayouts/slideLayout75.xml"/><Relationship Id="rId47" Type="http://schemas.openxmlformats.org/officeDocument/2006/relationships/slideLayout" Target="../slideLayouts/slideLayout80.xml"/><Relationship Id="rId50" Type="http://schemas.openxmlformats.org/officeDocument/2006/relationships/slideLayout" Target="../slideLayouts/slideLayout83.xml"/><Relationship Id="rId55" Type="http://schemas.openxmlformats.org/officeDocument/2006/relationships/slideLayout" Target="../slideLayouts/slideLayout88.xml"/><Relationship Id="rId63" Type="http://schemas.openxmlformats.org/officeDocument/2006/relationships/slideLayout" Target="../slideLayouts/slideLayout96.xml"/><Relationship Id="rId68" Type="http://schemas.openxmlformats.org/officeDocument/2006/relationships/image" Target="../media/image15.emf"/><Relationship Id="rId7" Type="http://schemas.openxmlformats.org/officeDocument/2006/relationships/slideLayout" Target="../slideLayouts/slideLayout40.xml"/><Relationship Id="rId2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49.xml"/><Relationship Id="rId29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44.xml"/><Relationship Id="rId24" Type="http://schemas.openxmlformats.org/officeDocument/2006/relationships/slideLayout" Target="../slideLayouts/slideLayout57.xml"/><Relationship Id="rId32" Type="http://schemas.openxmlformats.org/officeDocument/2006/relationships/slideLayout" Target="../slideLayouts/slideLayout65.xml"/><Relationship Id="rId37" Type="http://schemas.openxmlformats.org/officeDocument/2006/relationships/slideLayout" Target="../slideLayouts/slideLayout70.xml"/><Relationship Id="rId40" Type="http://schemas.openxmlformats.org/officeDocument/2006/relationships/slideLayout" Target="../slideLayouts/slideLayout73.xml"/><Relationship Id="rId45" Type="http://schemas.openxmlformats.org/officeDocument/2006/relationships/slideLayout" Target="../slideLayouts/slideLayout78.xml"/><Relationship Id="rId53" Type="http://schemas.openxmlformats.org/officeDocument/2006/relationships/slideLayout" Target="../slideLayouts/slideLayout86.xml"/><Relationship Id="rId58" Type="http://schemas.openxmlformats.org/officeDocument/2006/relationships/slideLayout" Target="../slideLayouts/slideLayout91.xml"/><Relationship Id="rId66" Type="http://schemas.openxmlformats.org/officeDocument/2006/relationships/tags" Target="../tags/tag1.xml"/><Relationship Id="rId5" Type="http://schemas.openxmlformats.org/officeDocument/2006/relationships/slideLayout" Target="../slideLayouts/slideLayout38.xml"/><Relationship Id="rId61" Type="http://schemas.openxmlformats.org/officeDocument/2006/relationships/slideLayout" Target="../slideLayouts/slideLayout94.xml"/><Relationship Id="rId19" Type="http://schemas.openxmlformats.org/officeDocument/2006/relationships/slideLayout" Target="../slideLayouts/slideLayout52.xml"/><Relationship Id="rId14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55.xml"/><Relationship Id="rId27" Type="http://schemas.openxmlformats.org/officeDocument/2006/relationships/slideLayout" Target="../slideLayouts/slideLayout60.xml"/><Relationship Id="rId30" Type="http://schemas.openxmlformats.org/officeDocument/2006/relationships/slideLayout" Target="../slideLayouts/slideLayout63.xml"/><Relationship Id="rId35" Type="http://schemas.openxmlformats.org/officeDocument/2006/relationships/slideLayout" Target="../slideLayouts/slideLayout68.xml"/><Relationship Id="rId43" Type="http://schemas.openxmlformats.org/officeDocument/2006/relationships/slideLayout" Target="../slideLayouts/slideLayout76.xml"/><Relationship Id="rId48" Type="http://schemas.openxmlformats.org/officeDocument/2006/relationships/slideLayout" Target="../slideLayouts/slideLayout81.xml"/><Relationship Id="rId56" Type="http://schemas.openxmlformats.org/officeDocument/2006/relationships/slideLayout" Target="../slideLayouts/slideLayout89.xml"/><Relationship Id="rId64" Type="http://schemas.openxmlformats.org/officeDocument/2006/relationships/slideLayout" Target="../slideLayouts/slideLayout97.xml"/><Relationship Id="rId8" Type="http://schemas.openxmlformats.org/officeDocument/2006/relationships/slideLayout" Target="../slideLayouts/slideLayout41.xml"/><Relationship Id="rId51" Type="http://schemas.openxmlformats.org/officeDocument/2006/relationships/slideLayout" Target="../slideLayouts/slideLayout84.xml"/><Relationship Id="rId3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5.xml"/><Relationship Id="rId17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8.xml"/><Relationship Id="rId33" Type="http://schemas.openxmlformats.org/officeDocument/2006/relationships/slideLayout" Target="../slideLayouts/slideLayout66.xml"/><Relationship Id="rId38" Type="http://schemas.openxmlformats.org/officeDocument/2006/relationships/slideLayout" Target="../slideLayouts/slideLayout71.xml"/><Relationship Id="rId46" Type="http://schemas.openxmlformats.org/officeDocument/2006/relationships/slideLayout" Target="../slideLayouts/slideLayout79.xml"/><Relationship Id="rId59" Type="http://schemas.openxmlformats.org/officeDocument/2006/relationships/slideLayout" Target="../slideLayouts/slideLayout92.xml"/><Relationship Id="rId67" Type="http://schemas.openxmlformats.org/officeDocument/2006/relationships/oleObject" Target="../embeddings/oleObject6.bin"/><Relationship Id="rId20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74.xml"/><Relationship Id="rId54" Type="http://schemas.openxmlformats.org/officeDocument/2006/relationships/slideLayout" Target="../slideLayouts/slideLayout87.xml"/><Relationship Id="rId62" Type="http://schemas.openxmlformats.org/officeDocument/2006/relationships/slideLayout" Target="../slideLayouts/slideLayout9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56.xml"/><Relationship Id="rId28" Type="http://schemas.openxmlformats.org/officeDocument/2006/relationships/slideLayout" Target="../slideLayouts/slideLayout61.xml"/><Relationship Id="rId36" Type="http://schemas.openxmlformats.org/officeDocument/2006/relationships/slideLayout" Target="../slideLayouts/slideLayout69.xml"/><Relationship Id="rId49" Type="http://schemas.openxmlformats.org/officeDocument/2006/relationships/slideLayout" Target="../slideLayouts/slideLayout82.xml"/><Relationship Id="rId57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43.xml"/><Relationship Id="rId31" Type="http://schemas.openxmlformats.org/officeDocument/2006/relationships/slideLayout" Target="../slideLayouts/slideLayout64.xml"/><Relationship Id="rId44" Type="http://schemas.openxmlformats.org/officeDocument/2006/relationships/slideLayout" Target="../slideLayouts/slideLayout77.xml"/><Relationship Id="rId52" Type="http://schemas.openxmlformats.org/officeDocument/2006/relationships/slideLayout" Target="../slideLayouts/slideLayout85.xml"/><Relationship Id="rId60" Type="http://schemas.openxmlformats.org/officeDocument/2006/relationships/slideLayout" Target="../slideLayouts/slideLayout93.xml"/><Relationship Id="rId65" Type="http://schemas.openxmlformats.org/officeDocument/2006/relationships/theme" Target="../theme/theme2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51.xml"/><Relationship Id="rId39" Type="http://schemas.openxmlformats.org/officeDocument/2006/relationships/slideLayout" Target="../slideLayouts/slideLayout7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5" imgW="606" imgH="609" progId="TCLayout.ActiveDocument.1">
                  <p:embed/>
                </p:oleObj>
              </mc:Choice>
              <mc:Fallback>
                <p:oleObj name="think-cell Slide" r:id="rId35" imgW="606" imgH="609" progId="TCLayout.ActiveDocument.1">
                  <p:embed/>
                  <p:pic>
                    <p:nvPicPr>
                      <p:cNvPr id="5" name="think-cell data - do not delete" hidden="1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5523" y="369888"/>
            <a:ext cx="11224347" cy="4708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5523" y="1411287"/>
            <a:ext cx="11224347" cy="46386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First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20pt</a:t>
            </a:r>
            <a:endParaRPr lang="en-US"/>
          </a:p>
          <a:p>
            <a:pPr lvl="1"/>
            <a:r>
              <a:rPr lang="en-US"/>
              <a:t>Second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20pt</a:t>
            </a:r>
            <a:endParaRPr lang="en-US"/>
          </a:p>
          <a:p>
            <a:pPr lvl="2"/>
            <a:r>
              <a:rPr lang="en-US"/>
              <a:t>Third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18pt</a:t>
            </a:r>
            <a:endParaRPr lang="en-US"/>
          </a:p>
          <a:p>
            <a:pPr lvl="3"/>
            <a:r>
              <a:rPr lang="en-US"/>
              <a:t>Fourth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16pt</a:t>
            </a:r>
            <a:endParaRPr lang="en-US"/>
          </a:p>
          <a:p>
            <a:pPr lvl="4"/>
            <a:r>
              <a:rPr lang="en-US"/>
              <a:t>Fifth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16pt</a:t>
            </a:r>
            <a:endParaRPr lang="en-US"/>
          </a:p>
          <a:p>
            <a:pPr lvl="5"/>
            <a:r>
              <a:rPr lang="en-US"/>
              <a:t>Sixth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14pt</a:t>
            </a:r>
            <a:endParaRPr lang="en-US"/>
          </a:p>
          <a:p>
            <a:pPr lvl="6"/>
            <a:r>
              <a:rPr lang="en-US"/>
              <a:t>Seventh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14pt</a:t>
            </a:r>
            <a:endParaRPr lang="en-US"/>
          </a:p>
          <a:p>
            <a:pPr lvl="7"/>
            <a:r>
              <a:rPr lang="en-US"/>
              <a:t>Eighth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12pt</a:t>
            </a:r>
            <a:endParaRPr lang="en-US"/>
          </a:p>
          <a:p>
            <a:pPr lvl="8"/>
            <a:r>
              <a:rPr lang="en-US"/>
              <a:t>Nineth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12pt</a:t>
            </a:r>
            <a:endParaRPr lang="en-US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485747" y="6327804"/>
            <a:ext cx="509098" cy="12311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 marL="0" algn="l" defTabSz="914400" rtl="0">
              <a:defRPr lang="en-IN" sz="8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02A17138-BB3C-49F6-9250-356F901FCBF4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"/>
          </p:nvPr>
        </p:nvSpPr>
        <p:spPr>
          <a:xfrm>
            <a:off x="994845" y="6327804"/>
            <a:ext cx="1275686" cy="12311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 marL="0" algn="l" defTabSz="914400" rtl="0">
              <a:defRPr lang="en-IN" sz="8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70531" y="6327804"/>
            <a:ext cx="3825470" cy="12311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 marL="0" algn="l" defTabSz="914400" rtl="0">
              <a:defRPr lang="en-IN" sz="8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grpSp>
        <p:nvGrpSpPr>
          <p:cNvPr id="6" name="Group 4" descr="Logo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7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4677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</p:sldLayoutIdLst>
  <p:hf hdr="0" ftr="0" dt="0"/>
  <p:txStyles>
    <p:titleStyle>
      <a:lvl1pPr algn="l" defTabSz="914400" rtl="0">
        <a:lnSpc>
          <a:spcPct val="85000"/>
        </a:lnSpc>
        <a:spcBef>
          <a:spcPct val="0"/>
        </a:spcBef>
        <a:buNone/>
        <a:defRPr sz="3600" b="1" i="0" kern="1200">
          <a:solidFill>
            <a:schemeClr val="tx2"/>
          </a:solidFill>
          <a:latin typeface="+mj-lt"/>
          <a:ea typeface="+mj-ea"/>
          <a:cs typeface="Arial" pitchFamily="34" charset="0"/>
        </a:defRPr>
      </a:lvl1pPr>
    </p:titleStyle>
    <p:bodyStyle>
      <a:lvl1pPr marL="252000" indent="-252000" algn="l" defTabSz="914400" rtl="0">
        <a:spcBef>
          <a:spcPts val="400"/>
        </a:spcBef>
        <a:spcAft>
          <a:spcPts val="400"/>
        </a:spcAft>
        <a:buClr>
          <a:schemeClr val="tx2"/>
        </a:buClr>
        <a:buSzPct val="100000"/>
        <a:buFont typeface="Wingdings" pitchFamily="2" charset="2"/>
        <a:buChar char="§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504000" indent="-252000" algn="l" defTabSz="914400" rtl="0">
        <a:spcBef>
          <a:spcPts val="400"/>
        </a:spcBef>
        <a:spcAft>
          <a:spcPts val="400"/>
        </a:spcAft>
        <a:buClr>
          <a:schemeClr val="tx2"/>
        </a:buClr>
        <a:buSzPct val="100000"/>
        <a:buFont typeface="Wingdings" pitchFamily="2" charset="2"/>
        <a:buChar char="§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756000" indent="-252000" algn="l" defTabSz="914400" rtl="0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Char char="§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008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SzPct val="100000"/>
        <a:buFont typeface="Wingdings" pitchFamily="2" charset="2"/>
        <a:buChar char="§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1260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SzPct val="100000"/>
        <a:buFont typeface="Wingdings" pitchFamily="2" charset="2"/>
        <a:buChar char="§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1512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Font typeface="Wingdings" pitchFamily="2" charset="2"/>
        <a:buChar char="§"/>
        <a:tabLst/>
        <a:defRPr sz="1400" kern="1200">
          <a:solidFill>
            <a:schemeClr val="bg1"/>
          </a:solidFill>
          <a:latin typeface="+mn-lt"/>
          <a:ea typeface="+mn-ea"/>
          <a:cs typeface="+mn-cs"/>
        </a:defRPr>
      </a:lvl6pPr>
      <a:lvl7pPr marL="1764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Font typeface="Wingdings" pitchFamily="2" charset="2"/>
        <a:buChar char="§"/>
        <a:tabLst/>
        <a:defRPr sz="1400" kern="1200">
          <a:solidFill>
            <a:schemeClr val="bg1"/>
          </a:solidFill>
          <a:latin typeface="+mn-lt"/>
          <a:ea typeface="+mn-ea"/>
          <a:cs typeface="+mn-cs"/>
        </a:defRPr>
      </a:lvl7pPr>
      <a:lvl8pPr marL="2016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Font typeface="Wingdings" pitchFamily="2" charset="2"/>
        <a:buChar char="§"/>
        <a:tabLst/>
        <a:defRPr sz="1200" kern="1200">
          <a:solidFill>
            <a:schemeClr val="bg1"/>
          </a:solidFill>
          <a:latin typeface="+mn-lt"/>
          <a:ea typeface="+mn-ea"/>
          <a:cs typeface="+mn-cs"/>
        </a:defRPr>
      </a:lvl8pPr>
      <a:lvl9pPr marL="2268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Font typeface="Wingdings" pitchFamily="2" charset="2"/>
        <a:buChar char="§"/>
        <a:tabLst/>
        <a:defRPr sz="12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9" pos="7378">
          <p15:clr>
            <a:srgbClr val="F26B43"/>
          </p15:clr>
        </p15:guide>
        <p15:guide id="35" pos="302">
          <p15:clr>
            <a:srgbClr val="F26B43"/>
          </p15:clr>
        </p15:guide>
        <p15:guide id="36" orient="horz" pos="210">
          <p15:clr>
            <a:srgbClr val="F26B43"/>
          </p15:clr>
        </p15:guide>
        <p15:guide id="37" orient="horz" pos="527">
          <p15:clr>
            <a:srgbClr val="F26B43"/>
          </p15:clr>
        </p15:guide>
        <p15:guide id="38" orient="horz" pos="890">
          <p15:clr>
            <a:srgbClr val="F26B43"/>
          </p15:clr>
        </p15:guide>
        <p15:guide id="39" orient="horz" pos="383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E6C1AFA-E92F-0C9E-DC48-9B6335D2E01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6"/>
            </p:custDataLst>
            <p:extLst>
              <p:ext uri="{D42A27DB-BD31-4B8C-83A1-F6EECF244321}">
                <p14:modId xmlns:p14="http://schemas.microsoft.com/office/powerpoint/2010/main" val="2405781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7" imgW="473" imgH="473" progId="TCLayout.ActiveDocument.1">
                  <p:embed/>
                </p:oleObj>
              </mc:Choice>
              <mc:Fallback>
                <p:oleObj name="think-cell Slide" r:id="rId67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6C1AFA-E92F-0C9E-DC48-9B6335D2E0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5523" y="369888"/>
            <a:ext cx="11224347" cy="4708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5523" y="1411287"/>
            <a:ext cx="11224347" cy="46386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First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20pt</a:t>
            </a:r>
            <a:endParaRPr lang="en-US"/>
          </a:p>
          <a:p>
            <a:pPr lvl="1"/>
            <a:r>
              <a:rPr lang="en-US"/>
              <a:t>Second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20pt</a:t>
            </a:r>
            <a:endParaRPr lang="en-US"/>
          </a:p>
          <a:p>
            <a:pPr lvl="2"/>
            <a:r>
              <a:rPr lang="en-US"/>
              <a:t>Third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18pt</a:t>
            </a:r>
            <a:endParaRPr lang="en-US"/>
          </a:p>
          <a:p>
            <a:pPr lvl="3"/>
            <a:r>
              <a:rPr lang="en-US"/>
              <a:t>Fourth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16pt</a:t>
            </a:r>
            <a:endParaRPr lang="en-US"/>
          </a:p>
          <a:p>
            <a:pPr lvl="4"/>
            <a:r>
              <a:rPr lang="en-US"/>
              <a:t>Fifth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16pt</a:t>
            </a:r>
            <a:endParaRPr lang="en-US"/>
          </a:p>
          <a:p>
            <a:pPr lvl="5"/>
            <a:r>
              <a:rPr lang="en-US"/>
              <a:t>Sixth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14pt</a:t>
            </a:r>
            <a:endParaRPr lang="en-US"/>
          </a:p>
          <a:p>
            <a:pPr lvl="6"/>
            <a:r>
              <a:rPr lang="en-US"/>
              <a:t>Seventh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14pt</a:t>
            </a:r>
            <a:endParaRPr lang="en-US"/>
          </a:p>
          <a:p>
            <a:pPr lvl="7"/>
            <a:r>
              <a:rPr lang="en-US"/>
              <a:t>Eighth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12pt</a:t>
            </a:r>
            <a:endParaRPr lang="en-US"/>
          </a:p>
          <a:p>
            <a:pPr lvl="8"/>
            <a:r>
              <a:rPr lang="en-US"/>
              <a:t>Nineth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12pt</a:t>
            </a:r>
            <a:endParaRPr lang="en-US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7BE290D1-43DF-6DA2-6807-81A0EA835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5747" y="6390988"/>
            <a:ext cx="509098" cy="1231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algn="l" defTabSz="914400" rtl="0" eaLnBrk="1" latinLnBrk="0" hangingPunct="1">
              <a:defRPr lang="en-IN" sz="8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Date Placeholder">
            <a:extLst>
              <a:ext uri="{FF2B5EF4-FFF2-40B4-BE49-F238E27FC236}">
                <a16:creationId xmlns:a16="http://schemas.microsoft.com/office/drawing/2014/main" id="{173B4AA1-0FB1-986B-36C1-A5EF26B852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4845" y="6390988"/>
            <a:ext cx="1275686" cy="1231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algn="l" defTabSz="914400" rtl="0" eaLnBrk="1" latinLnBrk="0" hangingPunct="1">
              <a:defRPr lang="en-IN" sz="8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E3637FA5-E211-431D-BAE9-7C47D9737975}" type="datetime1">
              <a:rPr lang="en-GB" smtClean="0"/>
              <a:t>07/10/2026</a:t>
            </a:fld>
            <a:endParaRPr lang="en-US"/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F4B9D0E-19BB-1F6F-43F4-D3F40510A6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0531" y="6390988"/>
            <a:ext cx="3825470" cy="1231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algn="l" defTabSz="914400" rtl="0" eaLnBrk="1" latinLnBrk="0" hangingPunct="1">
              <a:defRPr lang="en-IN" sz="8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err="1"/>
              <a:t>EY.Ai</a:t>
            </a:r>
            <a:r>
              <a:rPr lang="en-GB"/>
              <a:t> Sustainability Offering</a:t>
            </a:r>
            <a:endParaRPr lang="en-US"/>
          </a:p>
        </p:txBody>
      </p:sp>
      <p:grpSp>
        <p:nvGrpSpPr>
          <p:cNvPr id="11" name="Logo">
            <a:extLst>
              <a:ext uri="{FF2B5EF4-FFF2-40B4-BE49-F238E27FC236}">
                <a16:creationId xmlns:a16="http://schemas.microsoft.com/office/drawing/2014/main" id="{92A19011-F13B-61BB-7319-F18841E1AA0A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57A9DF9E-FAA6-1B54-7F9C-A8D13BFBF97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C7B98982-9E47-CB75-7B1E-562AB72016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7C8F8A70-F71F-7AB0-C83D-4C23948AEF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004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726" r:id="rId32"/>
    <p:sldLayoutId id="2147483727" r:id="rId33"/>
    <p:sldLayoutId id="2147483728" r:id="rId34"/>
    <p:sldLayoutId id="2147483729" r:id="rId35"/>
    <p:sldLayoutId id="2147483730" r:id="rId36"/>
    <p:sldLayoutId id="2147483731" r:id="rId37"/>
    <p:sldLayoutId id="2147483732" r:id="rId38"/>
    <p:sldLayoutId id="2147483733" r:id="rId39"/>
    <p:sldLayoutId id="2147483734" r:id="rId40"/>
    <p:sldLayoutId id="2147483735" r:id="rId41"/>
    <p:sldLayoutId id="2147483736" r:id="rId42"/>
    <p:sldLayoutId id="2147483737" r:id="rId43"/>
    <p:sldLayoutId id="2147483738" r:id="rId44"/>
    <p:sldLayoutId id="2147483739" r:id="rId45"/>
    <p:sldLayoutId id="2147483740" r:id="rId46"/>
    <p:sldLayoutId id="2147483741" r:id="rId47"/>
    <p:sldLayoutId id="2147483742" r:id="rId48"/>
    <p:sldLayoutId id="2147483743" r:id="rId49"/>
    <p:sldLayoutId id="2147483744" r:id="rId50"/>
    <p:sldLayoutId id="2147483745" r:id="rId51"/>
    <p:sldLayoutId id="2147483746" r:id="rId52"/>
    <p:sldLayoutId id="2147483747" r:id="rId53"/>
    <p:sldLayoutId id="2147483748" r:id="rId54"/>
    <p:sldLayoutId id="2147483749" r:id="rId55"/>
    <p:sldLayoutId id="2147483750" r:id="rId56"/>
    <p:sldLayoutId id="2147483751" r:id="rId57"/>
    <p:sldLayoutId id="2147483752" r:id="rId58"/>
    <p:sldLayoutId id="2147483753" r:id="rId59"/>
    <p:sldLayoutId id="2147483754" r:id="rId60"/>
    <p:sldLayoutId id="2147483755" r:id="rId61"/>
    <p:sldLayoutId id="2147483756" r:id="rId62"/>
    <p:sldLayoutId id="2147483757" r:id="rId63"/>
    <p:sldLayoutId id="2147483758" r:id="rId64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i="0" kern="1200">
          <a:solidFill>
            <a:schemeClr val="tx2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None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None/>
        <a:defRPr sz="2000" kern="1200">
          <a:solidFill>
            <a:schemeClr val="tx2"/>
          </a:solidFill>
          <a:latin typeface="+mj-lt"/>
          <a:ea typeface="+mn-ea"/>
          <a:cs typeface="+mn-cs"/>
        </a:defRPr>
      </a:lvl2pPr>
      <a:lvl3pPr marL="0" indent="0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None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82563" indent="-182563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Char char="§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357188" indent="-174625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Char char="§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541338" indent="-184150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Font typeface="Wingdings" pitchFamily="2" charset="2"/>
        <a:buChar char="§"/>
        <a:tabLst/>
        <a:defRPr sz="1400" kern="1200">
          <a:solidFill>
            <a:schemeClr val="bg1"/>
          </a:solidFill>
          <a:latin typeface="+mn-lt"/>
          <a:ea typeface="+mn-ea"/>
          <a:cs typeface="+mn-cs"/>
        </a:defRPr>
      </a:lvl6pPr>
      <a:lvl7pPr marL="715963" indent="-174625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Font typeface="Wingdings" pitchFamily="2" charset="2"/>
        <a:buChar char="§"/>
        <a:tabLst/>
        <a:defRPr sz="1400" kern="1200">
          <a:solidFill>
            <a:schemeClr val="bg1"/>
          </a:solidFill>
          <a:latin typeface="+mn-lt"/>
          <a:ea typeface="+mn-ea"/>
          <a:cs typeface="+mn-cs"/>
        </a:defRPr>
      </a:lvl7pPr>
      <a:lvl8pPr marL="898525" indent="-182563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Font typeface="Wingdings" pitchFamily="2" charset="2"/>
        <a:buChar char="§"/>
        <a:tabLst/>
        <a:defRPr sz="1200" kern="1200">
          <a:solidFill>
            <a:schemeClr val="bg1"/>
          </a:solidFill>
          <a:latin typeface="+mn-lt"/>
          <a:ea typeface="+mn-ea"/>
          <a:cs typeface="+mn-cs"/>
        </a:defRPr>
      </a:lvl8pPr>
      <a:lvl9pPr marL="1073150" indent="-174625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Font typeface="Wingdings" pitchFamily="2" charset="2"/>
        <a:buChar char="§"/>
        <a:tabLst/>
        <a:defRPr sz="12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9" pos="7378">
          <p15:clr>
            <a:srgbClr val="F26B43"/>
          </p15:clr>
        </p15:guide>
        <p15:guide id="35" pos="302">
          <p15:clr>
            <a:srgbClr val="F26B43"/>
          </p15:clr>
        </p15:guide>
        <p15:guide id="36" orient="horz" pos="210">
          <p15:clr>
            <a:srgbClr val="F26B43"/>
          </p15:clr>
        </p15:guide>
        <p15:guide id="37" orient="horz" pos="527">
          <p15:clr>
            <a:srgbClr val="F26B43"/>
          </p15:clr>
        </p15:guide>
        <p15:guide id="38" orient="horz" pos="890">
          <p15:clr>
            <a:srgbClr val="F26B43"/>
          </p15:clr>
        </p15:guide>
        <p15:guide id="39" orient="horz" pos="38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1.xml"/><Relationship Id="rIdChart1" Type="http://schemas.openxmlformats.org/officeDocument/2006/relationships/chart" Target="../charts/chart101.xml"/><Relationship Id="rId9" Type="http://schemas.openxmlformats.org/officeDocument/2006/relationships/notesSlide" Target="../notesSlides/notesSlide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1.xml"/><Relationship Id="rId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FBDEF60-2E7F-9E9E-F92D-1DEB49573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69255"/>
            <a:ext cx="4906009" cy="2148552"/>
          </a:xfrm>
        </p:spPr>
        <p:txBody>
          <a:bodyPr/>
          <a:lstStyle/>
          <a:p>
            <a:r>
              <a:rPr lang="en-GB" dirty="0"/>
              <a:t>Nature priorities for Lloyds Banking Group: UK NBSAP proof of concept</a:t>
            </a:r>
            <a:endParaRPr lang="en-GB" b="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51E701F-B945-4F4B-F65D-1371AA9CC6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9762" y="4871362"/>
            <a:ext cx="4907628" cy="511939"/>
          </a:xfrm>
        </p:spPr>
        <p:txBody>
          <a:bodyPr/>
          <a:lstStyle/>
          <a:p>
            <a:r>
              <a:rPr lang="en-GB" dirty="0"/>
              <a:t>7</a:t>
            </a:r>
            <a:r>
              <a:rPr lang="en-GB" baseline="30000" dirty="0"/>
              <a:t>th</a:t>
            </a:r>
            <a:r>
              <a:rPr lang="en-GB" dirty="0"/>
              <a:t> October 2026 </a:t>
            </a:r>
          </a:p>
        </p:txBody>
      </p:sp>
    </p:spTree>
    <p:extLst>
      <p:ext uri="{BB962C8B-B14F-4D97-AF65-F5344CB8AC3E}">
        <p14:creationId xmlns:p14="http://schemas.microsoft.com/office/powerpoint/2010/main" val="3521891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136" name="TextBox 135">
            <a:extLst>
              <a:ext uri="{FF2B5EF4-FFF2-40B4-BE49-F238E27FC236}">
                <a16:creationId xmlns:a16="http://schemas.microsoft.com/office/drawing/2014/main" id="{65FFDA4A-D922-B33B-FBEB-981B63BFC4C6}"/>
              </a:ext>
            </a:extLst>
          </p:cNvPr>
          <p:cNvSpPr txBox="1"/>
          <p:nvPr/>
        </p:nvSpPr>
        <p:spPr>
          <a:xfrm>
            <a:off x="502920" y="235958"/>
            <a:ext cx="110540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FE600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LBG's nature focus aligns with UK flood, water and habitat priorities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FE600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5F86720-086F-3C27-A8EC-CAC7CD478ED6}"/>
              </a:ext>
            </a:extLst>
          </p:cNvPr>
          <p:cNvSpPr txBox="1"/>
          <p:nvPr/>
        </p:nvSpPr>
        <p:spPr>
          <a:xfrm>
            <a:off x="530352" y="667845"/>
            <a:ext cx="8046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Lloyds Banking Group  |  Executive summary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3DE41D7-E70C-E673-EFB2-5B0B24E50A54}"/>
              </a:ext>
            </a:extLst>
          </p:cNvPr>
          <p:cNvSpPr/>
          <p:nvPr/>
        </p:nvSpPr>
        <p:spPr>
          <a:xfrm>
            <a:off x="530352" y="932688"/>
            <a:ext cx="2103120" cy="22860"/>
          </a:xfrm>
          <a:prstGeom prst="rect">
            <a:avLst/>
          </a:prstGeom>
          <a:solidFill>
            <a:srgbClr val="FFE6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A57ADCA6-AA98-2306-44E4-83F1FA6E80FA}"/>
              </a:ext>
            </a:extLst>
          </p:cNvPr>
          <p:cNvSpPr/>
          <p:nvPr/>
        </p:nvSpPr>
        <p:spPr>
          <a:xfrm>
            <a:off x="2624328" y="932688"/>
            <a:ext cx="2103120" cy="22860"/>
          </a:xfrm>
          <a:prstGeom prst="rect">
            <a:avLst/>
          </a:prstGeom>
          <a:solidFill>
            <a:srgbClr val="F4B183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1EA9AF8-C432-785B-96AA-42D4913F2639}"/>
              </a:ext>
            </a:extLst>
          </p:cNvPr>
          <p:cNvSpPr/>
          <p:nvPr/>
        </p:nvSpPr>
        <p:spPr>
          <a:xfrm>
            <a:off x="4718304" y="932688"/>
            <a:ext cx="2103120" cy="22860"/>
          </a:xfrm>
          <a:prstGeom prst="rect">
            <a:avLst/>
          </a:prstGeom>
          <a:solidFill>
            <a:srgbClr val="B56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F5453C5-83A5-50BE-FE2B-2DE1890A9808}"/>
              </a:ext>
            </a:extLst>
          </p:cNvPr>
          <p:cNvSpPr/>
          <p:nvPr/>
        </p:nvSpPr>
        <p:spPr>
          <a:xfrm>
            <a:off x="6812280" y="932688"/>
            <a:ext cx="2103120" cy="22860"/>
          </a:xfrm>
          <a:prstGeom prst="rect">
            <a:avLst/>
          </a:prstGeom>
          <a:solidFill>
            <a:srgbClr val="4E9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B05D98F-1E52-745C-7EFF-47A015F6CDC1}"/>
              </a:ext>
            </a:extLst>
          </p:cNvPr>
          <p:cNvSpPr/>
          <p:nvPr/>
        </p:nvSpPr>
        <p:spPr>
          <a:xfrm>
            <a:off x="8906256" y="932688"/>
            <a:ext cx="2103120" cy="22860"/>
          </a:xfrm>
          <a:prstGeom prst="rect">
            <a:avLst/>
          </a:prstGeom>
          <a:solidFill>
            <a:srgbClr val="19D3D1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1" name="stat-card-1"/>
          <p:cNvSpPr/>
          <p:nvPr/>
        </p:nvSpPr>
        <p:spPr>
          <a:xfrm>
            <a:off x="530352" y="1280160"/>
            <a:ext cx="3200400" cy="1389888"/>
          </a:xfrm>
          <a:prstGeom prst="roundRect">
            <a:avLst>
              <a:gd name="adj" fmla="val 6579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02" name="stat-value-1"/>
          <p:cNvSpPr txBox="1"/>
          <p:nvPr/>
        </p:nvSpPr>
        <p:spPr>
          <a:xfrm>
            <a:off x="758952" y="14447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£60.0bn</a:t>
            </a:r>
            <a:endParaRPr lang="en-US" sz="3200" dirty="0"/>
          </a:p>
        </p:txBody>
      </p:sp>
      <p:sp>
        <p:nvSpPr>
          <p:cNvPr id="1003" name="stat-label-1"/>
          <p:cNvSpPr txBox="1"/>
          <p:nvPr/>
        </p:nvSpPr>
        <p:spPr>
          <a:xfrm>
            <a:off x="758952" y="208483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LBG exposure to nature priority sectors (9.3% of Group, Dec 2025)</a:t>
            </a:r>
            <a:endParaRPr lang="en-US" sz="1150" dirty="0"/>
          </a:p>
        </p:txBody>
      </p:sp>
      <p:sp>
        <p:nvSpPr>
          <p:cNvPr id="1004" name="stat-card-2"/>
          <p:cNvSpPr/>
          <p:nvPr/>
        </p:nvSpPr>
        <p:spPr>
          <a:xfrm>
            <a:off x="530352" y="2852928"/>
            <a:ext cx="3200400" cy="1389888"/>
          </a:xfrm>
          <a:prstGeom prst="roundRect">
            <a:avLst>
              <a:gd name="adj" fmla="val 6579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05" name="stat-value-2"/>
          <p:cNvSpPr txBox="1"/>
          <p:nvPr/>
        </p:nvSpPr>
        <p:spPr>
          <a:xfrm>
            <a:off x="758952" y="30175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B183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4 of 15</a:t>
            </a:r>
            <a:endParaRPr lang="en-US" sz="3200" dirty="0"/>
          </a:p>
        </p:txBody>
      </p:sp>
      <p:sp>
        <p:nvSpPr>
          <p:cNvPr id="1006" name="stat-label-2"/>
          <p:cNvSpPr txBox="1"/>
          <p:nvPr/>
        </p:nvSpPr>
        <p:spPr>
          <a:xfrm>
            <a:off x="758952" y="36576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UK NBSAP sub-themes scored High priority for LBG</a:t>
            </a:r>
            <a:endParaRPr lang="en-US" sz="1150" dirty="0"/>
          </a:p>
        </p:txBody>
      </p:sp>
      <p:sp>
        <p:nvSpPr>
          <p:cNvPr id="1007" name="stat-card-3"/>
          <p:cNvSpPr/>
          <p:nvPr/>
        </p:nvSpPr>
        <p:spPr>
          <a:xfrm>
            <a:off x="530352" y="4425696"/>
            <a:ext cx="3200400" cy="1389888"/>
          </a:xfrm>
          <a:prstGeom prst="roundRect">
            <a:avLst>
              <a:gd name="adj" fmla="val 6579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08" name="stat-value-3"/>
          <p:cNvSpPr txBox="1"/>
          <p:nvPr/>
        </p:nvSpPr>
        <p:spPr>
          <a:xfrm>
            <a:off x="758952" y="45902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565D9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£70.9bn</a:t>
            </a:r>
            <a:endParaRPr lang="en-US" sz="3200" dirty="0"/>
          </a:p>
        </p:txBody>
      </p:sp>
      <p:sp>
        <p:nvSpPr>
          <p:cNvPr id="1009" name="stat-label-3"/>
          <p:cNvSpPr txBox="1"/>
          <p:nvPr/>
        </p:nvSpPr>
        <p:spPr>
          <a:xfrm>
            <a:off x="758952" y="523036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sustainable finance since 2022, not broken down by nature category</a:t>
            </a:r>
            <a:endParaRPr lang="en-US" sz="1150" dirty="0"/>
          </a:p>
        </p:txBody>
      </p:sp>
      <p:sp>
        <p:nvSpPr>
          <p:cNvPr id="1010" name="summary-body"/>
          <p:cNvSpPr txBox="1"/>
          <p:nvPr/>
        </p:nvSpPr>
        <p:spPr>
          <a:xfrm>
            <a:off x="4069080" y="1234440"/>
            <a:ext cx="69494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700"/>
              </a:spcBef>
              <a:buNone/>
            </a:pPr>
            <a:r>
              <a:rPr lang="en-US" sz="13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Context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LBG positions nature-based solutions and resilient infrastructure as investable, citing a £56bn UK nature finance gap and an £11bn annual adaptation gap.</a:t>
            </a:r>
            <a:endParaRPr lang="en-US" sz="13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3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Key findings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Exposure: £60.0bn in nature priority sectors, led by energy and water supply (£12.1bn), agriculture (£6.7bn) and construction (£5.9bn).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Action: nature is an eligible category in the 2025 Sustainable Financing Framework; deals include £120m HARP debt and £238.5m Cleve Hill financing.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Gap: no nature-specific targets or reporting. The agriculture target covers emissions only, and flood exposure of the £365.6bn mortgage book is not disclosed.</a:t>
            </a:r>
            <a:endParaRPr lang="en-US" sz="13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3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Top priorities (score out of 5)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Risk reduction and prevention (4.5), land-use change and habitat protection (4.2), water availability (4.0) and water quality (4.0).</a:t>
            </a:r>
            <a:endParaRPr lang="en-US" sz="13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3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Implication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There is scope to move from eligibility criteria and deal-level outcomes to portfolio-level nature targets, metrics and TNFD-aligned disclosure.</a:t>
            </a:r>
            <a:endParaRPr lang="en-US" sz="1300" dirty="0"/>
          </a:p>
        </p:txBody>
      </p:sp>
      <p:sp>
        <p:nvSpPr>
          <p:cNvPr id="1011" name="footnote"/>
          <p:cNvSpPr txBox="1"/>
          <p:nvPr/>
        </p:nvSpPr>
        <p:spPr>
          <a:xfrm>
            <a:off x="530352" y="6016752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Based on publicly available information. Sources in speaker notes. Scoring method on page 3.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136" name="TextBox 135">
            <a:extLst>
              <a:ext uri="{FF2B5EF4-FFF2-40B4-BE49-F238E27FC236}">
                <a16:creationId xmlns:a16="http://schemas.microsoft.com/office/drawing/2014/main" id="{65FFDA4A-D922-B33B-FBEB-981B63BFC4C6}"/>
              </a:ext>
            </a:extLst>
          </p:cNvPr>
          <p:cNvSpPr txBox="1"/>
          <p:nvPr/>
        </p:nvSpPr>
        <p:spPr>
          <a:xfrm>
            <a:off x="502920" y="235958"/>
            <a:ext cx="110540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FE600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Top priorities match LBG’s largest nature exposures, except flood risk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FE600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5F86720-086F-3C27-A8EC-CAC7CD478ED6}"/>
              </a:ext>
            </a:extLst>
          </p:cNvPr>
          <p:cNvSpPr txBox="1"/>
          <p:nvPr/>
        </p:nvSpPr>
        <p:spPr>
          <a:xfrm>
            <a:off x="530352" y="667845"/>
            <a:ext cx="8046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Lloyds Banking Group  |  Opportunity priority vs client exposure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3DE41D7-E70C-E673-EFB2-5B0B24E50A54}"/>
              </a:ext>
            </a:extLst>
          </p:cNvPr>
          <p:cNvSpPr/>
          <p:nvPr/>
        </p:nvSpPr>
        <p:spPr>
          <a:xfrm>
            <a:off x="530352" y="932688"/>
            <a:ext cx="2103120" cy="22860"/>
          </a:xfrm>
          <a:prstGeom prst="rect">
            <a:avLst/>
          </a:prstGeom>
          <a:solidFill>
            <a:srgbClr val="FFE6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A57ADCA6-AA98-2306-44E4-83F1FA6E80FA}"/>
              </a:ext>
            </a:extLst>
          </p:cNvPr>
          <p:cNvSpPr/>
          <p:nvPr/>
        </p:nvSpPr>
        <p:spPr>
          <a:xfrm>
            <a:off x="2624328" y="932688"/>
            <a:ext cx="2103120" cy="22860"/>
          </a:xfrm>
          <a:prstGeom prst="rect">
            <a:avLst/>
          </a:prstGeom>
          <a:solidFill>
            <a:srgbClr val="F4B183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1EA9AF8-C432-785B-96AA-42D4913F2639}"/>
              </a:ext>
            </a:extLst>
          </p:cNvPr>
          <p:cNvSpPr/>
          <p:nvPr/>
        </p:nvSpPr>
        <p:spPr>
          <a:xfrm>
            <a:off x="4718304" y="932688"/>
            <a:ext cx="2103120" cy="22860"/>
          </a:xfrm>
          <a:prstGeom prst="rect">
            <a:avLst/>
          </a:prstGeom>
          <a:solidFill>
            <a:srgbClr val="B56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F5453C5-83A5-50BE-FE2B-2DE1890A9808}"/>
              </a:ext>
            </a:extLst>
          </p:cNvPr>
          <p:cNvSpPr/>
          <p:nvPr/>
        </p:nvSpPr>
        <p:spPr>
          <a:xfrm>
            <a:off x="6812280" y="932688"/>
            <a:ext cx="2103120" cy="22860"/>
          </a:xfrm>
          <a:prstGeom prst="rect">
            <a:avLst/>
          </a:prstGeom>
          <a:solidFill>
            <a:srgbClr val="4E9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B05D98F-1E52-745C-7EFF-47A015F6CDC1}"/>
              </a:ext>
            </a:extLst>
          </p:cNvPr>
          <p:cNvSpPr/>
          <p:nvPr/>
        </p:nvSpPr>
        <p:spPr>
          <a:xfrm>
            <a:off x="8906256" y="932688"/>
            <a:ext cx="2103120" cy="22860"/>
          </a:xfrm>
          <a:prstGeom prst="rect">
            <a:avLst/>
          </a:prstGeom>
          <a:solidFill>
            <a:srgbClr val="19D3D1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1" name="left-heading"/>
          <p:cNvSpPr txBox="1"/>
          <p:nvPr/>
        </p:nvSpPr>
        <p:spPr>
          <a:xfrm>
            <a:off x="530352" y="1188720"/>
            <a:ext cx="5715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Opportunity priority</a:t>
            </a:r>
            <a:pPr indent="0" marL="0">
              <a:buNone/>
            </a:pPr>
            <a:r>
              <a:rPr lang="en-US" sz="110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 UK NBSAP sub-themes ranked by score (out of 5)</a:t>
            </a:r>
            <a:endParaRPr lang="en-US" sz="1400" dirty="0"/>
          </a:p>
        </p:txBody>
      </p:sp>
      <p:graphicFrame>
        <p:nvGraphicFramePr>
          <p:cNvPr id="1002" name="priority-chart" descr=""/>
          <p:cNvGraphicFramePr/>
          <p:nvPr/>
        </p:nvGraphicFramePr>
        <p:xfrm>
          <a:off x="484632" y="1536192"/>
          <a:ext cx="58064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Chart1"/>
          </a:graphicData>
        </a:graphic>
      </p:graphicFrame>
      <p:sp>
        <p:nvSpPr>
          <p:cNvPr id="1003" name="legend-high"/>
          <p:cNvSpPr/>
          <p:nvPr/>
        </p:nvSpPr>
        <p:spPr>
          <a:xfrm>
            <a:off x="530352" y="4901184"/>
            <a:ext cx="146304" cy="146304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1004" name="Text 2"/>
          <p:cNvSpPr txBox="1"/>
          <p:nvPr/>
        </p:nvSpPr>
        <p:spPr>
          <a:xfrm>
            <a:off x="749808" y="488289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High (4.0+)</a:t>
            </a:r>
            <a:endParaRPr lang="en-US" sz="1050" dirty="0"/>
          </a:p>
        </p:txBody>
      </p:sp>
      <p:sp>
        <p:nvSpPr>
          <p:cNvPr id="1005" name="legend-medium"/>
          <p:cNvSpPr/>
          <p:nvPr/>
        </p:nvSpPr>
        <p:spPr>
          <a:xfrm>
            <a:off x="1856232" y="4901184"/>
            <a:ext cx="146304" cy="146304"/>
          </a:xfrm>
          <a:prstGeom prst="rect">
            <a:avLst/>
          </a:prstGeom>
          <a:solidFill>
            <a:srgbClr val="A5A5B0"/>
          </a:solidFill>
          <a:ln/>
        </p:spPr>
      </p:sp>
      <p:sp>
        <p:nvSpPr>
          <p:cNvPr id="1006" name="Text 4"/>
          <p:cNvSpPr txBox="1"/>
          <p:nvPr/>
        </p:nvSpPr>
        <p:spPr>
          <a:xfrm>
            <a:off x="2075688" y="4882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Medium (3.0–3.9)</a:t>
            </a:r>
            <a:endParaRPr lang="en-US" sz="1050" dirty="0"/>
          </a:p>
        </p:txBody>
      </p:sp>
      <p:sp>
        <p:nvSpPr>
          <p:cNvPr id="1007" name="low-list"/>
          <p:cNvSpPr txBox="1"/>
          <p:nvPr/>
        </p:nvSpPr>
        <p:spPr>
          <a:xfrm>
            <a:off x="530352" y="5138928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FBFC7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Low (below 3.0): </a:t>
            </a:r>
            <a:pPr indent="0" marL="0">
              <a:buNone/>
            </a:pPr>
            <a:r>
              <a:rPr lang="en-US" sz="100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green-blue infrastructure 2.8, forestry 2.5, waste 2.2, air and noise 2.2, packaging 1.9, fisheries 1.3</a:t>
            </a:r>
            <a:endParaRPr lang="en-US" sz="1000" dirty="0"/>
          </a:p>
        </p:txBody>
      </p:sp>
      <p:sp>
        <p:nvSpPr>
          <p:cNvPr id="1008" name="panel-divider"/>
          <p:cNvSpPr/>
          <p:nvPr/>
        </p:nvSpPr>
        <p:spPr>
          <a:xfrm>
            <a:off x="6373368" y="1234440"/>
            <a:ext cx="0" cy="4206240"/>
          </a:xfrm>
          <a:prstGeom prst="line">
            <a:avLst/>
          </a:prstGeom>
          <a:noFill/>
          <a:ln w="12700">
            <a:solidFill>
              <a:srgbClr val="3A3A46"/>
            </a:solidFill>
            <a:prstDash val="solid"/>
          </a:ln>
        </p:spPr>
      </p:sp>
      <p:sp>
        <p:nvSpPr>
          <p:cNvPr id="1009" name="right-heading"/>
          <p:cNvSpPr txBox="1"/>
          <p:nvPr/>
        </p:nvSpPr>
        <p:spPr>
          <a:xfrm>
            <a:off x="6492240" y="1188720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Where LBG’s exposure sits</a:t>
            </a:r>
            <a:pPr indent="0" marL="0">
              <a:buNone/>
            </a:pPr>
            <a:r>
              <a:rPr lang="en-US" sz="110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 £bn, 31 Dec 2025</a:t>
            </a:r>
            <a:endParaRPr lang="en-US" sz="1400" dirty="0"/>
          </a:p>
        </p:txBody>
      </p:sp>
      <p:sp>
        <p:nvSpPr>
          <p:cNvPr id="1010" name="tile-1"/>
          <p:cNvSpPr/>
          <p:nvPr/>
        </p:nvSpPr>
        <p:spPr>
          <a:xfrm>
            <a:off x="6492240" y="155448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1011" name="tile-value-1"/>
          <p:cNvSpPr txBox="1"/>
          <p:nvPr/>
        </p:nvSpPr>
        <p:spPr>
          <a:xfrm>
            <a:off x="6629400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£12.1bn</a:t>
            </a:r>
            <a:endParaRPr lang="en-US" sz="2000" dirty="0"/>
          </a:p>
        </p:txBody>
      </p:sp>
      <p:sp>
        <p:nvSpPr>
          <p:cNvPr id="1012" name="tile-label-1"/>
          <p:cNvSpPr txBox="1"/>
          <p:nvPr/>
        </p:nvSpPr>
        <p:spPr>
          <a:xfrm>
            <a:off x="6629400" y="2011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Energy and water supply</a:t>
            </a:r>
            <a:endParaRPr lang="en-US" sz="1000" dirty="0"/>
          </a:p>
        </p:txBody>
      </p:sp>
      <p:sp>
        <p:nvSpPr>
          <p:cNvPr id="1013" name="tile-1-chip-3"/>
          <p:cNvSpPr/>
          <p:nvPr/>
        </p:nvSpPr>
        <p:spPr>
          <a:xfrm>
            <a:off x="6629400" y="2377440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FFE600"/>
          </a:solidFill>
          <a:ln/>
        </p:spPr>
      </p:sp>
      <p:sp>
        <p:nvSpPr>
          <p:cNvPr id="1014" name="Text 12"/>
          <p:cNvSpPr txBox="1"/>
          <p:nvPr/>
        </p:nvSpPr>
        <p:spPr>
          <a:xfrm>
            <a:off x="6629400" y="2377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#3</a:t>
            </a:r>
            <a:endParaRPr lang="en-US" sz="900" dirty="0"/>
          </a:p>
        </p:txBody>
      </p:sp>
      <p:sp>
        <p:nvSpPr>
          <p:cNvPr id="1015" name="tile-1-chip-4"/>
          <p:cNvSpPr/>
          <p:nvPr/>
        </p:nvSpPr>
        <p:spPr>
          <a:xfrm>
            <a:off x="7059168" y="2377440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FFE600"/>
          </a:solidFill>
          <a:ln/>
        </p:spPr>
      </p:sp>
      <p:sp>
        <p:nvSpPr>
          <p:cNvPr id="1016" name="Text 14"/>
          <p:cNvSpPr txBox="1"/>
          <p:nvPr/>
        </p:nvSpPr>
        <p:spPr>
          <a:xfrm>
            <a:off x="7059168" y="2377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#4</a:t>
            </a:r>
            <a:endParaRPr lang="en-US" sz="900" dirty="0"/>
          </a:p>
        </p:txBody>
      </p:sp>
      <p:sp>
        <p:nvSpPr>
          <p:cNvPr id="1017" name="tile-1-chip-7"/>
          <p:cNvSpPr/>
          <p:nvPr/>
        </p:nvSpPr>
        <p:spPr>
          <a:xfrm>
            <a:off x="7488936" y="2377440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A5A5B0"/>
          </a:solidFill>
          <a:ln/>
        </p:spPr>
      </p:sp>
      <p:sp>
        <p:nvSpPr>
          <p:cNvPr id="1018" name="Text 16"/>
          <p:cNvSpPr txBox="1"/>
          <p:nvPr/>
        </p:nvSpPr>
        <p:spPr>
          <a:xfrm>
            <a:off x="7488936" y="2377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#7</a:t>
            </a:r>
            <a:endParaRPr lang="en-US" sz="900" dirty="0"/>
          </a:p>
        </p:txBody>
      </p:sp>
      <p:sp>
        <p:nvSpPr>
          <p:cNvPr id="1019" name="tile-2"/>
          <p:cNvSpPr/>
          <p:nvPr/>
        </p:nvSpPr>
        <p:spPr>
          <a:xfrm>
            <a:off x="8814816" y="155448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1020" name="tile-value-2"/>
          <p:cNvSpPr txBox="1"/>
          <p:nvPr/>
        </p:nvSpPr>
        <p:spPr>
          <a:xfrm>
            <a:off x="8951976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£6.8bn</a:t>
            </a:r>
            <a:endParaRPr lang="en-US" sz="2000" dirty="0"/>
          </a:p>
        </p:txBody>
      </p:sp>
      <p:sp>
        <p:nvSpPr>
          <p:cNvPr id="1021" name="tile-label-2"/>
          <p:cNvSpPr txBox="1"/>
          <p:nvPr/>
        </p:nvSpPr>
        <p:spPr>
          <a:xfrm>
            <a:off x="8951976" y="2011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Agriculture, forestry and fishing</a:t>
            </a:r>
            <a:endParaRPr lang="en-US" sz="1000" dirty="0"/>
          </a:p>
        </p:txBody>
      </p:sp>
      <p:sp>
        <p:nvSpPr>
          <p:cNvPr id="1022" name="tile-2-chip-5"/>
          <p:cNvSpPr/>
          <p:nvPr/>
        </p:nvSpPr>
        <p:spPr>
          <a:xfrm>
            <a:off x="8951976" y="2377440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A5A5B0"/>
          </a:solidFill>
          <a:ln/>
        </p:spPr>
      </p:sp>
      <p:sp>
        <p:nvSpPr>
          <p:cNvPr id="1023" name="Text 21"/>
          <p:cNvSpPr txBox="1"/>
          <p:nvPr/>
        </p:nvSpPr>
        <p:spPr>
          <a:xfrm>
            <a:off x="8951976" y="2377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#5</a:t>
            </a:r>
            <a:endParaRPr lang="en-US" sz="900" dirty="0"/>
          </a:p>
        </p:txBody>
      </p:sp>
      <p:sp>
        <p:nvSpPr>
          <p:cNvPr id="1024" name="tile-3"/>
          <p:cNvSpPr/>
          <p:nvPr/>
        </p:nvSpPr>
        <p:spPr>
          <a:xfrm>
            <a:off x="6492240" y="2761488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1025" name="tile-value-3"/>
          <p:cNvSpPr txBox="1"/>
          <p:nvPr/>
        </p:nvSpPr>
        <p:spPr>
          <a:xfrm>
            <a:off x="6629400" y="28529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£5.9bn</a:t>
            </a:r>
            <a:endParaRPr lang="en-US" sz="2000" dirty="0"/>
          </a:p>
        </p:txBody>
      </p:sp>
      <p:sp>
        <p:nvSpPr>
          <p:cNvPr id="1026" name="tile-label-3"/>
          <p:cNvSpPr txBox="1"/>
          <p:nvPr/>
        </p:nvSpPr>
        <p:spPr>
          <a:xfrm>
            <a:off x="6629400" y="32186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Construction (incl. £2.3bn housebuilders)</a:t>
            </a:r>
            <a:endParaRPr lang="en-US" sz="1000" dirty="0"/>
          </a:p>
        </p:txBody>
      </p:sp>
      <p:sp>
        <p:nvSpPr>
          <p:cNvPr id="1027" name="tile-3-chip-2"/>
          <p:cNvSpPr/>
          <p:nvPr/>
        </p:nvSpPr>
        <p:spPr>
          <a:xfrm>
            <a:off x="6629400" y="3584448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FFE600"/>
          </a:solidFill>
          <a:ln/>
        </p:spPr>
      </p:sp>
      <p:sp>
        <p:nvSpPr>
          <p:cNvPr id="1028" name="Text 26"/>
          <p:cNvSpPr txBox="1"/>
          <p:nvPr/>
        </p:nvSpPr>
        <p:spPr>
          <a:xfrm>
            <a:off x="6629400" y="35844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#2</a:t>
            </a:r>
            <a:endParaRPr lang="en-US" sz="900" dirty="0"/>
          </a:p>
        </p:txBody>
      </p:sp>
      <p:sp>
        <p:nvSpPr>
          <p:cNvPr id="1029" name="tile-3-chip-8"/>
          <p:cNvSpPr/>
          <p:nvPr/>
        </p:nvSpPr>
        <p:spPr>
          <a:xfrm>
            <a:off x="7059168" y="3584448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A5A5B0"/>
          </a:solidFill>
          <a:ln/>
        </p:spPr>
      </p:sp>
      <p:sp>
        <p:nvSpPr>
          <p:cNvPr id="1030" name="Text 28"/>
          <p:cNvSpPr txBox="1"/>
          <p:nvPr/>
        </p:nvSpPr>
        <p:spPr>
          <a:xfrm>
            <a:off x="7059168" y="35844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#8</a:t>
            </a:r>
            <a:endParaRPr lang="en-US" sz="900" dirty="0"/>
          </a:p>
        </p:txBody>
      </p:sp>
      <p:sp>
        <p:nvSpPr>
          <p:cNvPr id="1031" name="tile-4"/>
          <p:cNvSpPr/>
          <p:nvPr/>
        </p:nvSpPr>
        <p:spPr>
          <a:xfrm>
            <a:off x="8814816" y="2761488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32" name="tile-value-4"/>
          <p:cNvSpPr txBox="1"/>
          <p:nvPr/>
        </p:nvSpPr>
        <p:spPr>
          <a:xfrm>
            <a:off x="8951976" y="28529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£26.3bn</a:t>
            </a:r>
            <a:endParaRPr lang="en-US" sz="2000" dirty="0"/>
          </a:p>
        </p:txBody>
      </p:sp>
      <p:sp>
        <p:nvSpPr>
          <p:cNvPr id="1033" name="tile-label-4"/>
          <p:cNvSpPr txBox="1"/>
          <p:nvPr/>
        </p:nvSpPr>
        <p:spPr>
          <a:xfrm>
            <a:off x="8951976" y="32186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Property companies</a:t>
            </a:r>
            <a:endParaRPr lang="en-US" sz="1000" dirty="0"/>
          </a:p>
        </p:txBody>
      </p:sp>
      <p:sp>
        <p:nvSpPr>
          <p:cNvPr id="1034" name="tile-4-chip-8"/>
          <p:cNvSpPr/>
          <p:nvPr/>
        </p:nvSpPr>
        <p:spPr>
          <a:xfrm>
            <a:off x="8951976" y="3584448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A5A5B0"/>
          </a:solidFill>
          <a:ln/>
        </p:spPr>
      </p:sp>
      <p:sp>
        <p:nvSpPr>
          <p:cNvPr id="1035" name="Text 33"/>
          <p:cNvSpPr txBox="1"/>
          <p:nvPr/>
        </p:nvSpPr>
        <p:spPr>
          <a:xfrm>
            <a:off x="8951976" y="35844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#8</a:t>
            </a:r>
            <a:endParaRPr lang="en-US" sz="900" dirty="0"/>
          </a:p>
        </p:txBody>
      </p:sp>
      <p:sp>
        <p:nvSpPr>
          <p:cNvPr id="1036" name="tile-5"/>
          <p:cNvSpPr/>
          <p:nvPr/>
        </p:nvSpPr>
        <p:spPr>
          <a:xfrm>
            <a:off x="6492240" y="3968496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37" name="tile-value-5"/>
          <p:cNvSpPr txBox="1"/>
          <p:nvPr/>
        </p:nvSpPr>
        <p:spPr>
          <a:xfrm>
            <a:off x="6629400" y="40599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£365.6bn</a:t>
            </a:r>
            <a:endParaRPr lang="en-US" sz="2000" dirty="0"/>
          </a:p>
        </p:txBody>
      </p:sp>
      <p:sp>
        <p:nvSpPr>
          <p:cNvPr id="1038" name="tile-label-5"/>
          <p:cNvSpPr txBox="1"/>
          <p:nvPr/>
        </p:nvSpPr>
        <p:spPr>
          <a:xfrm>
            <a:off x="6629400" y="4425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Mortgages: flood exposure not disclosed</a:t>
            </a:r>
            <a:endParaRPr lang="en-US" sz="1000" dirty="0"/>
          </a:p>
        </p:txBody>
      </p:sp>
      <p:sp>
        <p:nvSpPr>
          <p:cNvPr id="1039" name="tile-5-chip-9"/>
          <p:cNvSpPr/>
          <p:nvPr/>
        </p:nvSpPr>
        <p:spPr>
          <a:xfrm>
            <a:off x="6629400" y="4791456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A5A5B0"/>
          </a:solidFill>
          <a:ln/>
        </p:spPr>
      </p:sp>
      <p:sp>
        <p:nvSpPr>
          <p:cNvPr id="1040" name="Text 38"/>
          <p:cNvSpPr txBox="1"/>
          <p:nvPr/>
        </p:nvSpPr>
        <p:spPr>
          <a:xfrm>
            <a:off x="6629400" y="479145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#9</a:t>
            </a:r>
            <a:endParaRPr lang="en-US" sz="900" dirty="0"/>
          </a:p>
        </p:txBody>
      </p:sp>
      <p:sp>
        <p:nvSpPr>
          <p:cNvPr id="1041" name="tile-6"/>
          <p:cNvSpPr/>
          <p:nvPr/>
        </p:nvSpPr>
        <p:spPr>
          <a:xfrm>
            <a:off x="8814816" y="3968496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42" name="tile-value-6"/>
          <p:cNvSpPr txBox="1"/>
          <p:nvPr/>
        </p:nvSpPr>
        <p:spPr>
          <a:xfrm>
            <a:off x="8951976" y="40599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Not split</a:t>
            </a:r>
            <a:endParaRPr lang="en-US" sz="2000" dirty="0"/>
          </a:p>
        </p:txBody>
      </p:sp>
      <p:sp>
        <p:nvSpPr>
          <p:cNvPr id="1043" name="tile-label-6"/>
          <p:cNvSpPr txBox="1"/>
          <p:nvPr/>
        </p:nvSpPr>
        <p:spPr>
          <a:xfrm>
            <a:off x="8951976" y="4425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Infrastructure finance, e.g. HARP, Cleve Hill</a:t>
            </a:r>
            <a:endParaRPr lang="en-US" sz="1000" dirty="0"/>
          </a:p>
        </p:txBody>
      </p:sp>
      <p:sp>
        <p:nvSpPr>
          <p:cNvPr id="1044" name="tile-6-chip-1"/>
          <p:cNvSpPr/>
          <p:nvPr/>
        </p:nvSpPr>
        <p:spPr>
          <a:xfrm>
            <a:off x="8951976" y="4791456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FFE600"/>
          </a:solidFill>
          <a:ln/>
        </p:spPr>
      </p:sp>
      <p:sp>
        <p:nvSpPr>
          <p:cNvPr id="1045" name="Text 43"/>
          <p:cNvSpPr txBox="1"/>
          <p:nvPr/>
        </p:nvSpPr>
        <p:spPr>
          <a:xfrm>
            <a:off x="8951976" y="479145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#1</a:t>
            </a:r>
            <a:endParaRPr lang="en-US" sz="900" dirty="0"/>
          </a:p>
        </p:txBody>
      </p:sp>
      <p:sp>
        <p:nvSpPr>
          <p:cNvPr id="1046" name="tile-6-chip-6"/>
          <p:cNvSpPr/>
          <p:nvPr/>
        </p:nvSpPr>
        <p:spPr>
          <a:xfrm>
            <a:off x="9381744" y="4791456"/>
            <a:ext cx="365760" cy="182880"/>
          </a:xfrm>
          <a:prstGeom prst="roundRect">
            <a:avLst>
              <a:gd name="adj" fmla="val 25000"/>
            </a:avLst>
          </a:prstGeom>
          <a:solidFill>
            <a:srgbClr val="A5A5B0"/>
          </a:solidFill>
          <a:ln/>
        </p:spPr>
      </p:sp>
      <p:sp>
        <p:nvSpPr>
          <p:cNvPr id="1047" name="Text 45"/>
          <p:cNvSpPr txBox="1"/>
          <p:nvPr/>
        </p:nvSpPr>
        <p:spPr>
          <a:xfrm>
            <a:off x="9381744" y="479145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#6</a:t>
            </a:r>
            <a:endParaRPr lang="en-US" sz="900" dirty="0"/>
          </a:p>
        </p:txBody>
      </p:sp>
      <p:sp>
        <p:nvSpPr>
          <p:cNvPr id="1048" name="right-legend"/>
          <p:cNvSpPr txBox="1"/>
          <p:nvPr/>
        </p:nvSpPr>
        <p:spPr>
          <a:xfrm>
            <a:off x="6492240" y="5120640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Yellow border</a:t>
            </a:r>
            <a:pPr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= sector LBG classes as nature priority.  </a:t>
            </a:r>
            <a:pPr indent="0" marL="0">
              <a:buNone/>
            </a:pPr>
            <a:r>
              <a:rPr lang="en-US" sz="9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</a:t>
            </a:r>
            <a:pPr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= linked priority on the left.</a:t>
            </a:r>
            <a:endParaRPr lang="en-US" sz="950" dirty="0"/>
          </a:p>
        </p:txBody>
      </p:sp>
      <p:sp>
        <p:nvSpPr>
          <p:cNvPr id="1049" name="so-what-panel"/>
          <p:cNvSpPr/>
          <p:nvPr/>
        </p:nvSpPr>
        <p:spPr>
          <a:xfrm>
            <a:off x="530352" y="5486400"/>
            <a:ext cx="10479024" cy="475488"/>
          </a:xfrm>
          <a:prstGeom prst="roundRect">
            <a:avLst>
              <a:gd name="adj" fmla="val 11538"/>
            </a:avLst>
          </a:prstGeom>
          <a:solidFill>
            <a:srgbClr val="FFE600"/>
          </a:solidFill>
          <a:ln/>
        </p:spPr>
      </p:sp>
      <p:sp>
        <p:nvSpPr>
          <p:cNvPr id="1050" name="so-what"/>
          <p:cNvSpPr txBox="1"/>
          <p:nvPr/>
        </p:nvSpPr>
        <p:spPr>
          <a:xfrm>
            <a:off x="713232" y="5504688"/>
            <a:ext cx="10113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So what  </a:t>
            </a:r>
            <a:pPr indent="0" marL="0">
              <a:buNone/>
            </a:pPr>
            <a:r>
              <a:rPr lang="en-US" sz="1150" dirty="0">
                <a:solidFill>
                  <a:srgbClr val="1A1A24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LBG’s nature priority exposures (£24.8bn across utilities, agriculture and construction) line up with four of the top five priorities. The largest gap is flood risk in the £365.6bn mortgage book, which is not disclosed.</a:t>
            </a:r>
            <a:endParaRPr lang="en-US" sz="1150" dirty="0"/>
          </a:p>
        </p:txBody>
      </p:sp>
      <p:sp>
        <p:nvSpPr>
          <p:cNvPr id="1051" name="footnote"/>
          <p:cNvSpPr txBox="1"/>
          <p:nvPr/>
        </p:nvSpPr>
        <p:spPr>
          <a:xfrm>
            <a:off x="530352" y="6035040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Score = weighted average (1–5) of materiality to LBG 30%, action gap 25%, NBSAP emphasis 20%, regulatory and market momentum 15%, market opportunity 10%. Exposure = lending plus off-balance sheet, LBG Sustainability Data Sheet 2025, tab 18.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136" name="TextBox 135">
            <a:extLst>
              <a:ext uri="{FF2B5EF4-FFF2-40B4-BE49-F238E27FC236}">
                <a16:creationId xmlns:a16="http://schemas.microsoft.com/office/drawing/2014/main" id="{65FFDA4A-D922-B33B-FBEB-981B63BFC4C6}"/>
              </a:ext>
            </a:extLst>
          </p:cNvPr>
          <p:cNvSpPr txBox="1"/>
          <p:nvPr/>
        </p:nvSpPr>
        <p:spPr>
          <a:xfrm>
            <a:off x="502920" y="235958"/>
            <a:ext cx="110540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FE600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EY could help LBG move from nature criteria to portfolio-level action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FE600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5F86720-086F-3C27-A8EC-CAC7CD478ED6}"/>
              </a:ext>
            </a:extLst>
          </p:cNvPr>
          <p:cNvSpPr txBox="1"/>
          <p:nvPr/>
        </p:nvSpPr>
        <p:spPr>
          <a:xfrm>
            <a:off x="530352" y="667845"/>
            <a:ext cx="8046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Lloyds Banking Group  |  How EY can assist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3DE41D7-E70C-E673-EFB2-5B0B24E50A54}"/>
              </a:ext>
            </a:extLst>
          </p:cNvPr>
          <p:cNvSpPr/>
          <p:nvPr/>
        </p:nvSpPr>
        <p:spPr>
          <a:xfrm>
            <a:off x="530352" y="932688"/>
            <a:ext cx="2103120" cy="22860"/>
          </a:xfrm>
          <a:prstGeom prst="rect">
            <a:avLst/>
          </a:prstGeom>
          <a:solidFill>
            <a:srgbClr val="FFE6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A57ADCA6-AA98-2306-44E4-83F1FA6E80FA}"/>
              </a:ext>
            </a:extLst>
          </p:cNvPr>
          <p:cNvSpPr/>
          <p:nvPr/>
        </p:nvSpPr>
        <p:spPr>
          <a:xfrm>
            <a:off x="2624328" y="932688"/>
            <a:ext cx="2103120" cy="22860"/>
          </a:xfrm>
          <a:prstGeom prst="rect">
            <a:avLst/>
          </a:prstGeom>
          <a:solidFill>
            <a:srgbClr val="F4B183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1EA9AF8-C432-785B-96AA-42D4913F2639}"/>
              </a:ext>
            </a:extLst>
          </p:cNvPr>
          <p:cNvSpPr/>
          <p:nvPr/>
        </p:nvSpPr>
        <p:spPr>
          <a:xfrm>
            <a:off x="4718304" y="932688"/>
            <a:ext cx="2103120" cy="22860"/>
          </a:xfrm>
          <a:prstGeom prst="rect">
            <a:avLst/>
          </a:prstGeom>
          <a:solidFill>
            <a:srgbClr val="B56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F5453C5-83A5-50BE-FE2B-2DE1890A9808}"/>
              </a:ext>
            </a:extLst>
          </p:cNvPr>
          <p:cNvSpPr/>
          <p:nvPr/>
        </p:nvSpPr>
        <p:spPr>
          <a:xfrm>
            <a:off x="6812280" y="932688"/>
            <a:ext cx="2103120" cy="22860"/>
          </a:xfrm>
          <a:prstGeom prst="rect">
            <a:avLst/>
          </a:prstGeom>
          <a:solidFill>
            <a:srgbClr val="4E9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B05D98F-1E52-745C-7EFF-47A015F6CDC1}"/>
              </a:ext>
            </a:extLst>
          </p:cNvPr>
          <p:cNvSpPr/>
          <p:nvPr/>
        </p:nvSpPr>
        <p:spPr>
          <a:xfrm>
            <a:off x="8906256" y="932688"/>
            <a:ext cx="2103120" cy="22860"/>
          </a:xfrm>
          <a:prstGeom prst="rect">
            <a:avLst/>
          </a:prstGeom>
          <a:solidFill>
            <a:srgbClr val="19D3D1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1" name="card-1"/>
          <p:cNvSpPr/>
          <p:nvPr/>
        </p:nvSpPr>
        <p:spPr>
          <a:xfrm>
            <a:off x="530352" y="1234440"/>
            <a:ext cx="2459736" cy="3493008"/>
          </a:xfrm>
          <a:prstGeom prst="roundRect">
            <a:avLst>
              <a:gd name="adj" fmla="val 371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02" name="card-num-bg-1"/>
          <p:cNvSpPr/>
          <p:nvPr/>
        </p:nvSpPr>
        <p:spPr>
          <a:xfrm>
            <a:off x="713232" y="1417320"/>
            <a:ext cx="411480" cy="41148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1003" name="card-num-1"/>
          <p:cNvSpPr txBox="1"/>
          <p:nvPr/>
        </p:nvSpPr>
        <p:spPr>
          <a:xfrm>
            <a:off x="713232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1</a:t>
            </a:r>
            <a:endParaRPr lang="en-US" sz="1600" dirty="0"/>
          </a:p>
        </p:txBody>
      </p:sp>
      <p:sp>
        <p:nvSpPr>
          <p:cNvPr id="1004" name="card-head-1"/>
          <p:cNvSpPr txBox="1"/>
          <p:nvPr/>
        </p:nvSpPr>
        <p:spPr>
          <a:xfrm>
            <a:off x="1261872" y="1389888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Flood and drought risk reduction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FFE600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Score 4.5</a:t>
            </a:r>
            <a:endParaRPr lang="en-US" sz="1350" dirty="0"/>
          </a:p>
        </p:txBody>
      </p:sp>
      <p:sp>
        <p:nvSpPr>
          <p:cNvPr id="1005" name="card-body-1"/>
          <p:cNvSpPr txBox="1"/>
          <p:nvPr/>
        </p:nvSpPr>
        <p:spPr>
          <a:xfrm>
            <a:off x="694944" y="2130552"/>
            <a:ext cx="2130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What the public evidence shows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Resilience built into Cleve Hill and HARP; mortgage flood exposure not disclosed.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How EY could support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Physical and nature-related risk assessment of the lending book; resilience finance criteria.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Indicative output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Portfolio flood and drought heatmap</a:t>
            </a:r>
            <a:endParaRPr lang="en-US" sz="1050" dirty="0"/>
          </a:p>
        </p:txBody>
      </p:sp>
      <p:sp>
        <p:nvSpPr>
          <p:cNvPr id="1006" name="card-2"/>
          <p:cNvSpPr/>
          <p:nvPr/>
        </p:nvSpPr>
        <p:spPr>
          <a:xfrm>
            <a:off x="3203143" y="1234440"/>
            <a:ext cx="2459736" cy="3493008"/>
          </a:xfrm>
          <a:prstGeom prst="roundRect">
            <a:avLst>
              <a:gd name="adj" fmla="val 371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07" name="card-num-bg-2"/>
          <p:cNvSpPr/>
          <p:nvPr/>
        </p:nvSpPr>
        <p:spPr>
          <a:xfrm>
            <a:off x="3386023" y="1417320"/>
            <a:ext cx="411480" cy="411480"/>
          </a:xfrm>
          <a:prstGeom prst="rect">
            <a:avLst/>
          </a:prstGeom>
          <a:solidFill>
            <a:srgbClr val="F4B183"/>
          </a:solidFill>
          <a:ln/>
        </p:spPr>
      </p:sp>
      <p:sp>
        <p:nvSpPr>
          <p:cNvPr id="1008" name="card-num-2"/>
          <p:cNvSpPr txBox="1"/>
          <p:nvPr/>
        </p:nvSpPr>
        <p:spPr>
          <a:xfrm>
            <a:off x="3386023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2</a:t>
            </a:r>
            <a:endParaRPr lang="en-US" sz="1600" dirty="0"/>
          </a:p>
        </p:txBody>
      </p:sp>
      <p:sp>
        <p:nvSpPr>
          <p:cNvPr id="1009" name="card-head-2"/>
          <p:cNvSpPr txBox="1"/>
          <p:nvPr/>
        </p:nvSpPr>
        <p:spPr>
          <a:xfrm>
            <a:off x="3934663" y="1389888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Habitat protection and BNG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F4B183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Score 4.2</a:t>
            </a:r>
            <a:endParaRPr lang="en-US" sz="1350" dirty="0"/>
          </a:p>
        </p:txBody>
      </p:sp>
      <p:sp>
        <p:nvSpPr>
          <p:cNvPr id="1010" name="card-body-2"/>
          <p:cNvSpPr txBox="1"/>
          <p:nvPr/>
        </p:nvSpPr>
        <p:spPr>
          <a:xfrm>
            <a:off x="3367735" y="2130552"/>
            <a:ext cx="2130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What the public evidence shows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£5.9bn construction exposure in scope of BNG; BNG delivered project by project (10–65%).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How EY could support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Nature markets and BNG strategy; due diligence on nature outcomes in financed projects.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Indicative output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Nature markets options paper; BNG due diligence checklist</a:t>
            </a:r>
            <a:endParaRPr lang="en-US" sz="1050" dirty="0"/>
          </a:p>
        </p:txBody>
      </p:sp>
      <p:sp>
        <p:nvSpPr>
          <p:cNvPr id="1011" name="card-3"/>
          <p:cNvSpPr/>
          <p:nvPr/>
        </p:nvSpPr>
        <p:spPr>
          <a:xfrm>
            <a:off x="5875934" y="1234440"/>
            <a:ext cx="2459736" cy="3493008"/>
          </a:xfrm>
          <a:prstGeom prst="roundRect">
            <a:avLst>
              <a:gd name="adj" fmla="val 371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12" name="card-num-bg-3"/>
          <p:cNvSpPr/>
          <p:nvPr/>
        </p:nvSpPr>
        <p:spPr>
          <a:xfrm>
            <a:off x="6058814" y="1417320"/>
            <a:ext cx="411480" cy="411480"/>
          </a:xfrm>
          <a:prstGeom prst="rect">
            <a:avLst/>
          </a:prstGeom>
          <a:solidFill>
            <a:srgbClr val="B565D9"/>
          </a:solidFill>
          <a:ln/>
        </p:spPr>
      </p:sp>
      <p:sp>
        <p:nvSpPr>
          <p:cNvPr id="1013" name="card-num-3"/>
          <p:cNvSpPr txBox="1"/>
          <p:nvPr/>
        </p:nvSpPr>
        <p:spPr>
          <a:xfrm>
            <a:off x="6058814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3</a:t>
            </a:r>
            <a:endParaRPr lang="en-US" sz="1600" dirty="0"/>
          </a:p>
        </p:txBody>
      </p:sp>
      <p:sp>
        <p:nvSpPr>
          <p:cNvPr id="1014" name="card-head-3"/>
          <p:cNvSpPr txBox="1"/>
          <p:nvPr/>
        </p:nvSpPr>
        <p:spPr>
          <a:xfrm>
            <a:off x="6607454" y="1389888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Water availability and quality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B565D9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Score 4.0</a:t>
            </a:r>
            <a:endParaRPr lang="en-US" sz="1350" dirty="0"/>
          </a:p>
        </p:txBody>
      </p:sp>
      <p:sp>
        <p:nvSpPr>
          <p:cNvPr id="1015" name="card-body-3"/>
          <p:cNvSpPr txBox="1"/>
          <p:nvPr/>
        </p:nvSpPr>
        <p:spPr>
          <a:xfrm>
            <a:off x="6040526" y="2130552"/>
            <a:ext cx="2130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What the public evidence shows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£12.1bn energy and water supply exposure; £120m HARP debt; water criteria in SFF.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How EY could support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UK water investment pipeline using the EY NBSAP sizing tool; sustainability-linked KPI design.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Indicative output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Water investment pipeline; KPI set</a:t>
            </a:r>
            <a:endParaRPr lang="en-US" sz="1050" dirty="0"/>
          </a:p>
        </p:txBody>
      </p:sp>
      <p:sp>
        <p:nvSpPr>
          <p:cNvPr id="1016" name="card-4"/>
          <p:cNvSpPr/>
          <p:nvPr/>
        </p:nvSpPr>
        <p:spPr>
          <a:xfrm>
            <a:off x="8548726" y="1234440"/>
            <a:ext cx="2459736" cy="3493008"/>
          </a:xfrm>
          <a:prstGeom prst="roundRect">
            <a:avLst>
              <a:gd name="adj" fmla="val 371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17" name="card-num-bg-4"/>
          <p:cNvSpPr/>
          <p:nvPr/>
        </p:nvSpPr>
        <p:spPr>
          <a:xfrm>
            <a:off x="8731606" y="1417320"/>
            <a:ext cx="411480" cy="411480"/>
          </a:xfrm>
          <a:prstGeom prst="rect">
            <a:avLst/>
          </a:prstGeom>
          <a:solidFill>
            <a:srgbClr val="4E95D9"/>
          </a:solidFill>
          <a:ln/>
        </p:spPr>
      </p:sp>
      <p:sp>
        <p:nvSpPr>
          <p:cNvPr id="1018" name="card-num-4"/>
          <p:cNvSpPr txBox="1"/>
          <p:nvPr/>
        </p:nvSpPr>
        <p:spPr>
          <a:xfrm>
            <a:off x="8731606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4</a:t>
            </a:r>
            <a:endParaRPr lang="en-US" sz="1600" dirty="0"/>
          </a:p>
        </p:txBody>
      </p:sp>
      <p:sp>
        <p:nvSpPr>
          <p:cNvPr id="1019" name="card-head-4"/>
          <p:cNvSpPr txBox="1"/>
          <p:nvPr/>
        </p:nvSpPr>
        <p:spPr>
          <a:xfrm>
            <a:off x="9280246" y="1389888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Sustainable agriculture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4E95D9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Score 3.9</a:t>
            </a:r>
            <a:endParaRPr lang="en-US" sz="1350" dirty="0"/>
          </a:p>
        </p:txBody>
      </p:sp>
      <p:sp>
        <p:nvSpPr>
          <p:cNvPr id="1020" name="card-body-4"/>
          <p:cNvSpPr txBox="1"/>
          <p:nvPr/>
        </p:nvSpPr>
        <p:spPr>
          <a:xfrm>
            <a:off x="8713318" y="2130552"/>
            <a:ext cx="2130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What the public evidence shows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£6.7bn agriculture exposure; 685 farms assessed; target covers emissions only.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How EY could support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Nature baseline for the agriculture book; regenerative farming products and nature targets.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Indicative output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Agriculture nature baseline; product concept</a:t>
            </a:r>
            <a:endParaRPr lang="en-US" sz="1050" dirty="0"/>
          </a:p>
        </p:txBody>
      </p:sp>
      <p:sp>
        <p:nvSpPr>
          <p:cNvPr id="1021" name="cross-cutting"/>
          <p:cNvSpPr txBox="1"/>
          <p:nvPr/>
        </p:nvSpPr>
        <p:spPr>
          <a:xfrm>
            <a:off x="530352" y="4846320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Across all four: </a:t>
            </a:r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TNFD-aligned disclosure, nature metrics and target setting, and reporting sustainable finance by nature category.</a:t>
            </a:r>
            <a:endParaRPr lang="en-US" sz="1200" dirty="0"/>
          </a:p>
        </p:txBody>
      </p:sp>
      <p:sp>
        <p:nvSpPr>
          <p:cNvPr id="1022" name="next-steps-panel"/>
          <p:cNvSpPr/>
          <p:nvPr/>
        </p:nvSpPr>
        <p:spPr>
          <a:xfrm>
            <a:off x="530352" y="5230368"/>
            <a:ext cx="10479024" cy="658368"/>
          </a:xfrm>
          <a:prstGeom prst="roundRect">
            <a:avLst>
              <a:gd name="adj" fmla="val 11111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23" name="next-steps"/>
          <p:cNvSpPr txBox="1"/>
          <p:nvPr/>
        </p:nvSpPr>
        <p:spPr>
          <a:xfrm>
            <a:off x="731520" y="5266944"/>
            <a:ext cx="10104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Proposed next steps   </a:t>
            </a:r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1. Validate against the LBG Sustainability Report 2025   2. Discovery workshop with LBG sustainability, risk and corporate banking teams   3. Deep dive on nature exposure in agriculture and water lending</a:t>
            </a:r>
            <a:endParaRPr lang="en-US" sz="1200" dirty="0"/>
          </a:p>
        </p:txBody>
      </p:sp>
      <p:sp>
        <p:nvSpPr>
          <p:cNvPr id="1024" name="footnote"/>
          <p:cNvSpPr txBox="1"/>
          <p:nvPr/>
        </p:nvSpPr>
        <p:spPr>
          <a:xfrm>
            <a:off x="530352" y="59436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Support areas are indicative and to be aligned with the EY CCaSS service catalogue. Scores from page 3.</a:t>
            </a:r>
            <a:endParaRPr lang="en-US" sz="9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EY Core Slides">
  <a:themeElements>
    <a:clrScheme name="Custom 84">
      <a:dk1>
        <a:srgbClr val="1A1A24"/>
      </a:dk1>
      <a:lt1>
        <a:srgbClr val="FFFFFF"/>
      </a:lt1>
      <a:dk2>
        <a:srgbClr val="FFE600"/>
      </a:dk2>
      <a:lt2>
        <a:srgbClr val="2E2E38"/>
      </a:lt2>
      <a:accent1>
        <a:srgbClr val="2DB757"/>
      </a:accent1>
      <a:accent2>
        <a:srgbClr val="27ACAA"/>
      </a:accent2>
      <a:accent3>
        <a:srgbClr val="188CE5"/>
      </a:accent3>
      <a:accent4>
        <a:srgbClr val="750E5C"/>
      </a:accent4>
      <a:accent5>
        <a:srgbClr val="FF4136"/>
      </a:accent5>
      <a:accent6>
        <a:srgbClr val="FF6D00"/>
      </a:accent6>
      <a:hlink>
        <a:srgbClr val="FFE600"/>
      </a:hlink>
      <a:folHlink>
        <a:srgbClr val="FFE600"/>
      </a:folHlink>
    </a:clrScheme>
    <a:fontScheme name="Custom 10">
      <a:majorFont>
        <a:latin typeface="EYInterstate"/>
        <a:ea typeface=""/>
        <a:cs typeface=""/>
      </a:majorFont>
      <a:minorFont>
        <a:latin typeface="EYInterstat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2700">
          <a:solidFill>
            <a:schemeClr val="tx2"/>
          </a:solidFill>
          <a:miter lim="800000"/>
        </a:ln>
      </a:spPr>
      <a:bodyPr lIns="108000" tIns="108000" rIns="108000" bIns="108000" rtlCol="0" anchor="t" anchorCtr="0"/>
      <a:lstStyle>
        <a:defPPr marL="252000" indent="-252000" algn="l">
          <a:lnSpc>
            <a:spcPct val="90000"/>
          </a:lnSpc>
          <a:spcBef>
            <a:spcPts val="400"/>
          </a:spcBef>
          <a:spcAft>
            <a:spcPts val="400"/>
          </a:spcAft>
          <a:buClr>
            <a:schemeClr val="tx2"/>
          </a:buClr>
          <a:buFont typeface="Wingdings" pitchFamily="2" charset="2"/>
          <a:buChar char="§"/>
          <a:defRPr sz="20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36576" rIns="0" bIns="0" rtlCol="0" anchor="t">
        <a:spAutoFit/>
      </a:bodyPr>
      <a:lstStyle>
        <a:defPPr marL="252000" indent="-252000" algn="l">
          <a:lnSpc>
            <a:spcPct val="90000"/>
          </a:lnSpc>
          <a:spcBef>
            <a:spcPts val="400"/>
          </a:spcBef>
          <a:spcAft>
            <a:spcPts val="400"/>
          </a:spcAft>
          <a:buClr>
            <a:schemeClr val="tx2"/>
          </a:buClr>
          <a:buSzPct val="100000"/>
          <a:buFont typeface="Wingdings" pitchFamily="2" charset="2"/>
          <a:buChar char="§"/>
          <a:defRPr sz="2000" dirty="0" err="1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ark-global-widescreen-presentation-template-v2.4.potx" id="{884888A5-C629-42F8-9D4B-3CDF061885ED}" vid="{39A1E73B-99D1-4B7B-ACBD-88B4D756EAAE}"/>
    </a:ext>
  </a:extLst>
</a:theme>
</file>

<file path=ppt/theme/theme2.xml><?xml version="1.0" encoding="utf-8"?>
<a:theme xmlns:a="http://schemas.openxmlformats.org/drawingml/2006/main" name="1_EY Core Slides">
  <a:themeElements>
    <a:clrScheme name="Custom 84">
      <a:dk1>
        <a:srgbClr val="1A1A24"/>
      </a:dk1>
      <a:lt1>
        <a:srgbClr val="FFFFFF"/>
      </a:lt1>
      <a:dk2>
        <a:srgbClr val="FFE600"/>
      </a:dk2>
      <a:lt2>
        <a:srgbClr val="2E2E38"/>
      </a:lt2>
      <a:accent1>
        <a:srgbClr val="2DB757"/>
      </a:accent1>
      <a:accent2>
        <a:srgbClr val="27ACAA"/>
      </a:accent2>
      <a:accent3>
        <a:srgbClr val="188CE5"/>
      </a:accent3>
      <a:accent4>
        <a:srgbClr val="750E5C"/>
      </a:accent4>
      <a:accent5>
        <a:srgbClr val="FF4136"/>
      </a:accent5>
      <a:accent6>
        <a:srgbClr val="FF6D00"/>
      </a:accent6>
      <a:hlink>
        <a:srgbClr val="FFE600"/>
      </a:hlink>
      <a:folHlink>
        <a:srgbClr val="FFE600"/>
      </a:folHlink>
    </a:clrScheme>
    <a:fontScheme name="EY">
      <a:majorFont>
        <a:latin typeface="EYInterstate Regular"/>
        <a:ea typeface=""/>
        <a:cs typeface=""/>
      </a:majorFont>
      <a:minorFont>
        <a:latin typeface="EYInterstat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2700">
          <a:solidFill>
            <a:schemeClr val="tx2"/>
          </a:solidFill>
          <a:miter lim="800000"/>
        </a:ln>
      </a:spPr>
      <a:bodyPr lIns="108000" tIns="108000" rIns="108000" bIns="108000" rtlCol="0" anchor="t" anchorCtr="0"/>
      <a:lstStyle>
        <a:defPPr marL="252000" indent="-252000" algn="l">
          <a:lnSpc>
            <a:spcPct val="90000"/>
          </a:lnSpc>
          <a:spcBef>
            <a:spcPts val="400"/>
          </a:spcBef>
          <a:spcAft>
            <a:spcPts val="400"/>
          </a:spcAft>
          <a:buClr>
            <a:schemeClr val="tx2"/>
          </a:buClr>
          <a:buFont typeface="Wingdings" pitchFamily="2" charset="2"/>
          <a:buChar char="§"/>
          <a:defRPr sz="20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36576" rIns="0" bIns="0" rtlCol="0" anchor="t">
        <a:spAutoFit/>
      </a:bodyPr>
      <a:lstStyle>
        <a:defPPr marL="252000" indent="-252000" algn="l">
          <a:lnSpc>
            <a:spcPct val="90000"/>
          </a:lnSpc>
          <a:spcBef>
            <a:spcPts val="400"/>
          </a:spcBef>
          <a:spcAft>
            <a:spcPts val="400"/>
          </a:spcAft>
          <a:buClr>
            <a:schemeClr val="tx2"/>
          </a:buClr>
          <a:buSzPct val="100000"/>
          <a:buFont typeface="Wingdings" pitchFamily="2" charset="2"/>
          <a:buChar char="§"/>
          <a:defRPr sz="2000" dirty="0" err="1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ark_EY All In PowerPoint Onscreen (Widescreen) 2024 PowerPoint ribbon (FINAL).pptx" id="{74B484E2-2FF1-4219-84B9-072474B8FEB1}" vid="{2AA547DC-10FC-4772-B511-C540E0FE6E5B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41</Words>
  <Application>Microsoft Office PowerPoint</Application>
  <PresentationFormat>Widescreen</PresentationFormat>
  <Paragraphs>9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3" baseType="lpstr">
      <vt:lpstr>Aptos</vt:lpstr>
      <vt:lpstr>Arial</vt:lpstr>
      <vt:lpstr>Calibri</vt:lpstr>
      <vt:lpstr>EYInterstate</vt:lpstr>
      <vt:lpstr>EYInterstate Light</vt:lpstr>
      <vt:lpstr>EYInterstate Regular</vt:lpstr>
      <vt:lpstr>Georgia Pro</vt:lpstr>
      <vt:lpstr>Wingdings</vt:lpstr>
      <vt:lpstr>EY Core Slides</vt:lpstr>
      <vt:lpstr>1_EY Core Slides</vt:lpstr>
      <vt:lpstr>think-cell Slide</vt:lpstr>
      <vt:lpstr>Deck Title</vt:lpstr>
      <vt:lpstr>PowerPoint Presentation</vt:lpstr>
    </vt:vector>
  </TitlesOfParts>
  <Company>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Manikanta Dakoju</dc:creator>
  <cp:lastModifiedBy>Manikanta Dakoju</cp:lastModifiedBy>
  <cp:revision>1</cp:revision>
  <dcterms:created xsi:type="dcterms:W3CDTF">2026-10-07T20:03:48Z</dcterms:created>
  <dcterms:modified xsi:type="dcterms:W3CDTF">2026-10-07T20:06:08Z</dcterms:modified>
</cp:coreProperties>
</file>