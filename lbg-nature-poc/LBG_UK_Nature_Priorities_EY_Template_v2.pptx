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0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5"/>
  </p:notesMasterIdLst>
  <p:sldIdLst>
    <p:sldId id="1881839119" r:id="rId3"/>
    <p:sldId id="259" r:id="rId4"/>
    <p:sldId id="1881839120" r:id="rId10"/>
    <p:sldId id="18818391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  <Relationship Id="rId10" Type="http://schemas.openxmlformats.org/officeDocument/2006/relationships/slide" Target="slides/slide3.xml"/>
  <Relationship Id="rId11" Type="http://schemas.openxmlformats.org/officeDocument/2006/relationships/slide" Target="slides/slide4.xml"/>
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Priority_Chart_Data.xlsx"/></Relationships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1A24"/>
                    </a:solidFill>
                    <a:latin typeface="EYInterstat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   Risk reduction and prevention</c:v>
                  </c:pt>
                  <c:pt idx="1">
                    <c:v>2   Land-use change and habitat protection</c:v>
                  </c:pt>
                  <c:pt idx="2">
                    <c:v>3   Water availability</c:v>
                  </c:pt>
                  <c:pt idx="3">
                    <c:v>4   Water quality</c:v>
                  </c:pt>
                  <c:pt idx="4">
                    <c:v>5   Sustainable agriculture</c:v>
                  </c:pt>
                  <c:pt idx="5">
                    <c:v>6   Long-term adaptation and resilience</c:v>
                  </c:pt>
                  <c:pt idx="6">
                    <c:v>7   Water usage</c:v>
                  </c:pt>
                  <c:pt idx="7">
                    <c:v>8   Nature-positive buildings</c:v>
                  </c:pt>
                  <c:pt idx="8">
                    <c:v>9   Flood mitigation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4.5</c:v>
                </c:pt>
                <c:pt idx="1">
                  <c:v>4.2</c:v>
                </c:pt>
                <c:pt idx="2">
                  <c:v>4</c:v>
                </c:pt>
                <c:pt idx="3">
                  <c:v>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A5A5B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1A24"/>
                    </a:solidFill>
                    <a:latin typeface="EYInterstat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   Risk reduction and prevention</c:v>
                  </c:pt>
                  <c:pt idx="1">
                    <c:v>2   Land-use change and habitat protection</c:v>
                  </c:pt>
                  <c:pt idx="2">
                    <c:v>3   Water availability</c:v>
                  </c:pt>
                  <c:pt idx="3">
                    <c:v>4   Water quality</c:v>
                  </c:pt>
                  <c:pt idx="4">
                    <c:v>5   Sustainable agriculture</c:v>
                  </c:pt>
                  <c:pt idx="5">
                    <c:v>6   Long-term adaptation and resilience</c:v>
                  </c:pt>
                  <c:pt idx="6">
                    <c:v>7   Water usage</c:v>
                  </c:pt>
                  <c:pt idx="7">
                    <c:v>8   Nature-positive buildings</c:v>
                  </c:pt>
                  <c:pt idx="8">
                    <c:v>9   Flood mitigation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3.9</c:v>
                </c:pt>
                <c:pt idx="5">
                  <c:v>3.5</c:v>
                </c:pt>
                <c:pt idx="6">
                  <c:v>3.3</c:v>
                </c:pt>
                <c:pt idx="7">
                  <c:v>3.1</c:v>
                </c:pt>
                <c:pt idx="8">
                  <c:v>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1" i="0" strike="noStrike" sz="1100" u="none">
                  <a:solidFill>
                    <a:srgbClr val="1A1A24"/>
                  </a:solidFill>
                  <a:latin typeface="EYInterstate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2F2"/>
                </a:solidFill>
                <a:latin typeface="EYInterstate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1C2B1-23C1-4307-B4AD-DAB351667850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F5790-E546-4855-B1FF-519DEAB91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93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UK commitments: EY NBSAP PowerBI Excel, Market_Examples (GBR): 34 commitments, c.£60.0bn; flood and coastal = DM01 £20.5bn plus flood schemes M120/M121 £14.7bn (59%). Values indicative.</a:t>
            </a:r>
          </a:p>
          <a:p>
            <a:r>
              <a:t>Signals: BNG – Working with nature p.7; PRA SS5/25, Nature Markets Framework, CCC £11bn – Built to Last pp.3, 10, 11; £56bn gap – Working with nature p.13.</a:t>
            </a:r>
          </a:p>
          <a:p>
            <a:r>
              <a:t>LBG, Working with nature (2024), pp.3–14.</a:t>
            </a:r>
          </a:p>
          <a:p>
            <a:r>
              <a:t>LBG, Built to Last (Sep 2026), pp.2–21.</a:t>
            </a:r>
          </a:p>
          <a:p>
            <a:r>
              <a:t>LBG, Sustainability Data Sheet 2025, tabs 15, 18, 20, 23.</a:t>
            </a:r>
          </a:p>
          <a:p>
            <a:r>
              <a:t>LBG, Sustainable Financing Framework 2025, pp.7–17.</a:t>
            </a:r>
          </a:p>
          <a:p>
            <a:r>
              <a:t>EY NBSAP PowerBI Excel (UK rows); LBG_UK_NBSAP_Mapping_v2.xlsx, Scoring tab.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LBG_UK_NBSAP_Mapping_v2.xlsx: Scoring, Rubric, Evidence_Log and NBSAP_Mapping tabs.</a:t>
            </a:r>
          </a:p>
          <a:p>
            <a:r>
              <a:t>LBG, Sustainability Data Sheet 2025, tab 18 (exposure at 31 Dec 2025; property companies and mortgages not classed as nature priority by LBG, footnotes 8 and 11).</a:t>
            </a:r>
          </a:p>
          <a:p>
            <a:r>
              <a:t>LBG, Built to Last (2026), pp.15–17 (HARP, Cleve Hill).</a:t>
            </a:r>
          </a:p>
          <a:p>
            <a:r>
              <a:t>EY NBSAP PowerBI Excel, Market_Examples (GBR) – values indicative.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LBG_UK_NBSAP_Mapping_v2.xlsx, Scoring tab (top four priorities).</a:t>
            </a:r>
          </a:p>
          <a:p>
            <a:r>
              <a:t>Support areas indicative; to be aligned with the EY CCaSS service catalogue.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blurry image of a rainbow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75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 Regular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89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/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/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/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/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0" name="Group 309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311" name="Freeform 310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62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002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47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404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2" name="Title 4"/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/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/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09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4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11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89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93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FF3C00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9472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FF00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7304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D584E2-E6B2-4A7D-81B0-8FBC634F9BA5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763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693411-32CC-4679-A80D-23B1CD26AF1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524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DB1848-C723-40CA-AAF8-27AE56B8CEF8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992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BE1EA0-7103-4CDC-9A5A-77B17722C81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06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26494D-DA71-43AD-9576-F8B7D241F4F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471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/>
              <a:t>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8C7B00-708E-4E98-B608-05CD6141EFC3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39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Introduction text goes here and delete the bullet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/>
              <a:t>Section header goes here and to insert page numbers use the tab button on the keyboard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0FDFFA-E04C-4AED-83E7-8D0E4FB6C33C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647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6" name="SmartArt Placeholder 35"/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7" name="SmartArt Placeholder 35"/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8" name="SmartArt Placeholder 35"/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9" name="SmartArt Placeholder 35"/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5AAF7C1F-4F4E-4041-B532-2ABAEFD071B8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62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F9DDD0-D032-4344-A085-74FA98C6B8BF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127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61AEE8-B02E-49A3-B84C-3C1728A5CE38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44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218C1317-6CB0-45E7-9E7B-266B22DA9F7F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5" name="SmartArt Placeholder 13"/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832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</p:spPr>
        <p:txBody>
          <a:bodyPr/>
          <a:lstStyle/>
          <a:p>
            <a:fld id="{7204FF08-ACE0-4AA3-B197-D684A68AB0D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8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2" name="SmartArt Placeholder 13"/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21270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5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ackground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marL="252000" indent="0" algn="ctr">
              <a:buNone/>
            </a:lvl2pPr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/>
          <a:lstStyle/>
          <a:p>
            <a:fld id="{786A0FED-F61E-4244-81E1-9D77C39BCDF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9" name="Logo"/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540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/>
            <p:cNvSpPr/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</p:grpSp>
      <p:sp>
        <p:nvSpPr>
          <p:cNvPr id="1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E6DAB4A4-27C4-4692-AFD5-1E6CE69ADBDA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349798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5" pos="7432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/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F213AF8-FFED-4B53-BA54-1560C121C9F4}" type="slidenum">
              <a:rPr smtClean="0"/>
              <a:t>‹#›</a:t>
            </a:fld>
            <a:endParaRPr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122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1678390" y="6379058"/>
            <a:ext cx="270278" cy="291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314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7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07483" y="719139"/>
            <a:ext cx="3598126" cy="4680594"/>
          </a:xfrm>
          <a:prstGeom prst="rect">
            <a:avLst/>
          </a:prstGeom>
        </p:spPr>
        <p:txBody>
          <a:bodyPr lIns="0" tIns="0" rIns="35981" bIns="0">
            <a:noAutofit/>
          </a:bodyPr>
          <a:lstStyle/>
          <a:p>
            <a:pPr marL="0" marR="0" lvl="0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1199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999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</a:t>
            </a:r>
            <a:r>
              <a:rPr kumimoji="0" lang="en-GB" sz="999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 | Assurance | Tax | Transactions | Advisory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999" kern="0" noProof="0">
                <a:solidFill>
                  <a:schemeClr val="bg1"/>
                </a:solidFill>
                <a:latin typeface="EYInterstate Light"/>
                <a:ea typeface="+mn-ea"/>
                <a:cs typeface="Arial"/>
              </a:rPr>
              <a:t>About EY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is a global leader in assurance, tax, transaction and advisory services. The insights and quality services we deliver help build trust and confidence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in the capital markets and in economies the world over. We develop outstanding leaders who team to deliver on our promises to all of our stakeholders. In so doing, we play a critical role in building a better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working world for our people, for our clients and for our communities.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For more information about our organization, please visit ey.com.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© 2020 EYGM Limited.</a:t>
            </a:r>
            <a:b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</a:b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All Rights Reserved.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EYG/OC/FEA no.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EY##### (UK) ##/20. CSG London.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ED MMYY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This material has been prepared for general informational purposes only and is not intended to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be relied upon as accounting, tax or other professional advice. Please refer to your advisors for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specific advice.</a:t>
            </a: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ey.com/*******</a:t>
            </a:r>
          </a:p>
        </p:txBody>
      </p:sp>
    </p:spTree>
    <p:extLst>
      <p:ext uri="{BB962C8B-B14F-4D97-AF65-F5344CB8AC3E}">
        <p14:creationId xmlns:p14="http://schemas.microsoft.com/office/powerpoint/2010/main" val="49417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78BE7C29-9BE6-4073-8387-F0C8A984B7CC}" type="slidenum">
              <a:rPr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1586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2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Reimagined and our Transformation Big Bet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CFD7EDB9-8A24-4B09-B23D-9391D0C3431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35060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/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7AB4-795F-4BB5-8C19-C05EFD5A70A1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Unleashing Agents: Extending Copilot To Transform LBG</a:t>
            </a:r>
            <a:endParaRPr lang="en-US"/>
          </a:p>
        </p:txBody>
      </p:sp>
      <p:grpSp>
        <p:nvGrpSpPr>
          <p:cNvPr id="8" name="Logo"/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4E97DA86-E44F-4586-A38A-B30C0F019B38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435851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822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35A17-6E72-5D10-337D-87AD82CF51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8B71BF-2CD6-B365-4402-A8FF831788C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718681-C140-C687-56FE-5B74AAC28F6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F880BD-E431-2A19-D56A-8B37360C1C2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71926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EC877-2F2D-B87F-413C-A62960EC67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00CEB3-70C1-B84B-69F4-47C6239A963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1A4559-3046-DB7C-170D-8B5BA7C0932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32AF557-95D5-C3A7-8762-30EB758F130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8455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E7332-D2DE-8669-0AEC-5A2A6ABEC8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9C3B74-7F38-B0AE-8CDD-386F5F93EBD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FAD6BB-BE7F-B979-02B7-6642DECA997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AC9C-4DEF-0172-39AF-392FB46391D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61955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198833-5BF3-BB5E-C3B2-7B705558D0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DC9F8E-6F8C-AF4A-9D84-4AD1502BB51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C135C3-9109-7FAF-7A1E-C1697A8F558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B01A6-453C-E086-340E-1FA1E3E1B1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1512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E3CB0E-CBF5-F5C6-CBEB-87739E77EC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86F64B-08DB-E5D4-B2AA-6649ABAD812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B14B79-79B7-68CD-1151-6FCC77898E6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AAE5A-2AFE-71BF-47E0-9339A3B8348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546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EBF90-6B4E-C743-2098-786F67C750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9C1757-8C94-A6AF-A3BA-BBD03B3D52C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6AE5F3-3050-E5BF-9762-F46B3D60EEC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23A643-B30A-6BB1-47DB-C281B542937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2800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C4647-A297-6D44-253F-7CB799E419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77FE96-06E1-764F-EF1D-227F096A720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B8010C-6DC5-5ED2-865B-9ECC10B1F52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8B4FD0-7989-32A2-2C2D-B98F2CA72ACD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51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6C001-67C6-86C4-D219-6D9FF2EE00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864A79-9397-C095-6A60-037405E9993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9A99C1-F5EA-E9BD-DDAD-6B8B04AA2AB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94E93B-1732-5AE8-2F55-692D141C96C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6291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6D404D-3B24-C700-DA68-CAC99436C4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AC5912-E51B-95BC-8C66-553238217429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CD55CF-CF31-502D-7730-391827138A2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7F457C-720D-E922-F11E-103B461D0764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6679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799DD5-A107-F05E-1B17-E91A154938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1E304F-8F78-3B87-4D90-A4CD04AD740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0ED5AB1-67B1-EB7E-24B6-6CE9AFD2444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218930-F485-F944-970D-2DD7F653BED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67894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C9C312-F6C2-0463-D74A-A17E895A20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07442E-6BC7-A4A5-0BEA-D4E13D6ED37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9A8D832-F8A5-B928-BD29-D49AC2218B7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768C3F-9B6D-90AA-9F71-E2AE10CDE47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5409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227FA85-BD8B-B10F-506C-988BB7ED6E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5F022C-3DD7-CE54-3F41-B2A9FD83FDF1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B4BDBD-6FF3-6330-ADF8-EDC185F44AE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2E5D71A-BC9C-E69D-9D59-9AA8924027F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2172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E008F-2A59-02D8-4837-99D5AB62729A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939668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9DE20-B99E-1D81-053E-84438CF8E9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28E5B5-50F4-4EAB-B39C-60891A0ADB2A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98CC51-0E72-2BDA-8CF5-1ABDA2CC41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FD4AAE-DE34-CF40-FC0A-1653066FD2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18251012-D45B-479F-5EDA-A3F6C1E15D2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CF40346-9E85-4BC4-C5BF-D62BF00300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17D7237-88EE-FA7A-2FB2-EBCB3AACB8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91FDBFF-3F6A-7B38-613C-F3C72FB727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9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609B97E-2DC6-A36D-54FC-92BC09C831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612C65-D267-47C3-B14C-544668977604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FF456FF-F708-52C3-6330-E3E06F1DFC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6FB6E0-FFD6-54F8-9ED2-C25EB31D01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7E9251C7-6ABE-7271-86DD-E6C7EA7C6DD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C2207C1-58B2-00E2-E2CA-5D37F0D8DD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7F1680E-CD67-2A48-5B49-10C8DB5289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D9731E6-5099-75C1-7798-553468FB27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117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2D95-5C58-DAA3-01AB-0FBFF01FCB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76EA68-6CF5-4EA4-9FC2-9728A2DBFD8D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95863-8584-4333-CE32-49F8F8023F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21BD-0A8A-9AC6-5618-F237A9B83A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ACF2ADCF-CA4C-F7DF-0251-1AF30AE7103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21539E2-E30F-90D3-8303-41D62639A64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412BADD-ACBB-8991-0CE3-E84D354088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4800EB6-016B-2DE6-0374-7831F666F8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9758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F5CD6D5B-3D47-CDC7-66FD-22686B08A5F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84B3F94-3D8C-9F6A-5E5F-1A8473AB50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29B739D-2B8A-7A3E-33E6-A9F7F44C12D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CA985E2-C0E4-39C5-A529-B3C8C70A2C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382FA3A-9114-F937-1E2F-D5FE20B5D23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0C2FB6-B2A8-4A47-9971-1365A9F9A995}" type="datetime1">
              <a:rPr lang="en-GB" smtClean="0"/>
              <a:t>07/10/2026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2447BA0-C33B-8115-7DA0-1DCCAC88CA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344103D-B100-2C69-A21C-E8E8DA377D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4577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0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B4856D9-3089-5BDD-B9B9-A4CD079CA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835D5F-695B-4060-8D87-F1B722BA0EB5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015B5A-91DC-F131-BBC1-B7D33250C4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284658-C487-F55F-3BCA-9D45E9EF2D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FAD020ED-EAB5-A1B7-B76E-7DFF25EF272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4E4911-68ED-9138-AE53-28CEFB19627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C0F1ED4F-5BA1-BE72-F1D9-2F9CA8B84F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B80EF99-DCE0-BE24-ACAE-087B6460F3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244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81538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/>
            </a:lvl1pPr>
            <a:lvl2pPr marL="269875" indent="0">
              <a:defRPr sz="1600"/>
            </a:lvl2pPr>
            <a:lvl3pPr marL="269875" indent="0">
              <a:defRPr sz="1600"/>
            </a:lvl3pPr>
            <a:lvl4pPr marL="444500" indent="-174625">
              <a:defRPr sz="1400"/>
            </a:lvl4pPr>
            <a:lvl5pPr marL="628650" indent="-184150">
              <a:defRPr sz="1400"/>
            </a:lvl5pPr>
          </a:lstStyle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5CBB57-69E0-3CF8-D2DF-A316D98FAC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25" y="1412875"/>
            <a:ext cx="5105400" cy="467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38A6C0F-3417-2AC3-E2A2-1AB96B34FB2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AE7CA59-01E8-48A8-925C-55627216BE88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6879B2-C6AD-B223-A2B1-BAFDCB6FDEF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6E9C3A6-279D-9AEE-07E3-9AC4C42133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Logo">
            <a:extLst>
              <a:ext uri="{FF2B5EF4-FFF2-40B4-BE49-F238E27FC236}">
                <a16:creationId xmlns:a16="http://schemas.microsoft.com/office/drawing/2014/main" id="{4E225EF6-8D5E-A943-DA66-FC3EA7A133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9082018-2FBA-4C46-89C5-43A99DBD13C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D0C1103-4336-EC5A-6761-7696EAC980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C62F4B6-EBE7-183E-404F-575433B108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293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DE3AA740-B8B1-5B7B-72E0-02E82136943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F05F4CA-B0A1-6571-C05C-6C4D6CFE28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476DA22-E2C3-1EBB-B638-4A3B94A09A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F2A1D68-86C4-1924-BBE4-E55856618F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45EDB25-04F9-FE88-EBA3-C8D5069B719E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6F770517-DE79-4D4B-BA87-91B1A092C62B}" type="datetime1">
              <a:rPr lang="en-GB" smtClean="0"/>
              <a:t>07/10/2026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B626F01-193E-E5DE-6210-10CB0419332B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87EAD6B-75E3-29AF-07AA-7450C4503F3B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360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8F66F87-BA60-4C99-D2D4-F29C30FF73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041FA7-5670-4283-BC33-7DF002B3853F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9DE581-7B50-7B6D-A41F-0004A45A7F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500C8D-FE22-A8F5-6FA3-A84F20F019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68C3FCB0-2AC4-7050-3315-30A44447F7CB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017B73F-7A76-2CFB-EBE1-2CA6C32D30E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1B10704A-A13B-F4BD-C1FA-CD3013CBEB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9CAC502-5DF4-7BBA-74BF-350838343F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609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3A4AEFF-B7E4-C792-7CE0-3AD22D1031F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38AB828-356E-1FDD-C9C8-243989B96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D8F2230-BC31-E11A-1D5C-2A51AD3299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612817D-315D-323F-0F5F-D2B46DFC17E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30CD162-7366-86D1-906A-0A3E367649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67B5D4-2B96-442D-BB5A-781E50E22250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D410F2F-D03F-0D7F-6E11-BE9A31F33A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5A8BB5-D269-4EB5-9DBD-C6A1A7878B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8073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47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747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5849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747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5CBFB1-2925-E563-7FC5-99F9DE0D484F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B674CEC-8130-44B4-9B0A-E405622BA235}" type="datetime1">
              <a:rPr lang="en-GB" smtClean="0"/>
              <a:t>07/10/2026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A1D37E-2C18-BB63-446A-7AE4AFE8B05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8918797-673F-7293-8322-C09E2733B9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485747" y="6390988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Logo">
            <a:extLst>
              <a:ext uri="{FF2B5EF4-FFF2-40B4-BE49-F238E27FC236}">
                <a16:creationId xmlns:a16="http://schemas.microsoft.com/office/drawing/2014/main" id="{8FD6ED4F-A357-F9C3-450F-6EE8FFF1CCB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4F2195B-B3BC-B186-9C2E-42828CC855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4A6CD35-B470-5625-4013-8D14CED22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7A4548F-02F1-00AD-33EC-8C316A1454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0465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110AE97-2F65-8BD0-0958-C9D005E058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707DD8-FAC5-47D3-9E7B-471A54BE6893}" type="datetime1">
              <a:rPr lang="en-GB" smtClean="0"/>
              <a:t>07/10/2026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25DA1E8-9A46-959E-19A0-37432BE0DD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46768A-FE38-61DA-72B5-FB5D763D38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61823FF7-52FB-31D4-5A38-3C4EBC3FB5C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999A64-07EE-CBBE-41EF-E2A60CB5E3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221EE00-D369-482F-4E81-65456588AA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799A885-1274-C189-F2A5-A24FAC3DDF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4909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4053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2191-0438-8AEC-A789-96532D6A46BF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5536389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1E64A6F5-4ADF-B8E8-CD09-F0D719706B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9ABDBB72-A74A-425B-891A-92D10735032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1E43667-7A35-4A70-8163-C5AEBBCF0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A1C9CAA-3899-41E9-AAC4-FD2A2BD3D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9A34B52-D18D-4F3A-9A44-49CA04427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</p:grp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32458A1-A667-D6C4-02C0-EBD6B1AB7C80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80602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3" orient="horz" pos="3934">
          <p15:clr>
            <a:srgbClr val="F26B43"/>
          </p15:clr>
        </p15:guide>
        <p15:guide id="4" pos="272">
          <p15:clr>
            <a:srgbClr val="F26B43"/>
          </p15:clr>
        </p15:guide>
        <p15:guide id="5" pos="7432">
          <p15:clr>
            <a:srgbClr val="F26B43"/>
          </p15:clr>
        </p15:guide>
        <p15:guide id="6" orient="horz" pos="274">
          <p15:clr>
            <a:srgbClr val="F26B43"/>
          </p15:clr>
        </p15:guide>
        <p15:guide id="7" orient="horz" pos="85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68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985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673B6-79DD-4B4F-ACB0-F62259251157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68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9871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E1598-99D5-72CF-E9B0-613158D211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26594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75240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D178608-8F70-46F4-939A-9BC9ECBE70FD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EY.ai for Sustainability Reporting - NY Workshop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26915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2620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70675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4300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80174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07096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923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8466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0339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6749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3772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83827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3087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6528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6390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9430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77702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5236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6573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38534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52292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5197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3125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8007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0417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7220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79142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5211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8962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61908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103360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1278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32472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16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50" Type="http://schemas.openxmlformats.org/officeDocument/2006/relationships/slideLayout" Target="../slideLayouts/slideLayout83.xml"/><Relationship Id="rId55" Type="http://schemas.openxmlformats.org/officeDocument/2006/relationships/slideLayout" Target="../slideLayouts/slideLayout88.xml"/><Relationship Id="rId63" Type="http://schemas.openxmlformats.org/officeDocument/2006/relationships/slideLayout" Target="../slideLayouts/slideLayout96.xml"/><Relationship Id="rId68" Type="http://schemas.openxmlformats.org/officeDocument/2006/relationships/image" Target="../media/image15.emf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86.xml"/><Relationship Id="rId58" Type="http://schemas.openxmlformats.org/officeDocument/2006/relationships/slideLayout" Target="../slideLayouts/slideLayout91.xml"/><Relationship Id="rId66" Type="http://schemas.openxmlformats.org/officeDocument/2006/relationships/tags" Target="../tags/tag1.xml"/><Relationship Id="rId5" Type="http://schemas.openxmlformats.org/officeDocument/2006/relationships/slideLayout" Target="../slideLayouts/slideLayout38.xml"/><Relationship Id="rId61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9.xml"/><Relationship Id="rId64" Type="http://schemas.openxmlformats.org/officeDocument/2006/relationships/slideLayout" Target="../slideLayouts/slideLayout97.xml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59" Type="http://schemas.openxmlformats.org/officeDocument/2006/relationships/slideLayout" Target="../slideLayouts/slideLayout92.xml"/><Relationship Id="rId67" Type="http://schemas.openxmlformats.org/officeDocument/2006/relationships/oleObject" Target="../embeddings/oleObject6.bin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6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93.xml"/><Relationship Id="rId65" Type="http://schemas.openxmlformats.org/officeDocument/2006/relationships/theme" Target="../theme/theme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606" imgH="609" progId="TCLayout.ActiveDocument.1">
                  <p:embed/>
                </p:oleObj>
              </mc:Choice>
              <mc:Fallback>
                <p:oleObj name="think-cell Slide" r:id="rId35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2A17138-BB3C-49F6-9250-356F901FCBF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6" name="Group 4" descr="Logo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467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 ftr="0" dt="0"/>
  <p:txStyles>
    <p:titleStyle>
      <a:lvl1pPr algn="l" defTabSz="914400" rtl="0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E6C1AFA-E92F-0C9E-DC48-9B6335D2E0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6"/>
            </p:custDataLst>
            <p:extLst>
              <p:ext uri="{D42A27DB-BD31-4B8C-83A1-F6EECF244321}">
                <p14:modId xmlns:p14="http://schemas.microsoft.com/office/powerpoint/2010/main" val="240578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73" imgH="473" progId="TCLayout.ActiveDocument.1">
                  <p:embed/>
                </p:oleObj>
              </mc:Choice>
              <mc:Fallback>
                <p:oleObj name="think-cell Slide" r:id="rId6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6C1AFA-E92F-0C9E-DC48-9B6335D2E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E290D1-43DF-6DA2-6807-81A0EA835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390988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173B4AA1-0FB1-986B-36C1-A5EF26B85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390988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3637FA5-E211-431D-BAE9-7C47D9737975}" type="datetime1">
              <a:rPr lang="en-GB" smtClean="0"/>
              <a:t>07/10/2026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F4B9D0E-19BB-1F6F-43F4-D3F40510A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390988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err="1"/>
              <a:t>EY.Ai</a:t>
            </a:r>
            <a:r>
              <a:rPr lang="en-GB"/>
              <a:t> Sustainability Offering</a:t>
            </a:r>
            <a:endParaRPr lang="en-US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92A19011-F13B-61BB-7319-F18841E1AA0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7A9DF9E-FAA6-1B54-7F9C-A8D13BFBF9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7B98982-9E47-CB75-7B1E-562AB72016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C8F8A70-F71F-7AB0-C83D-4C23948AEF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04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  <p:sldLayoutId id="2147483742" r:id="rId48"/>
    <p:sldLayoutId id="2147483743" r:id="rId49"/>
    <p:sldLayoutId id="2147483744" r:id="rId50"/>
    <p:sldLayoutId id="2147483745" r:id="rId51"/>
    <p:sldLayoutId id="2147483746" r:id="rId52"/>
    <p:sldLayoutId id="2147483747" r:id="rId53"/>
    <p:sldLayoutId id="2147483748" r:id="rId54"/>
    <p:sldLayoutId id="2147483749" r:id="rId55"/>
    <p:sldLayoutId id="2147483750" r:id="rId56"/>
    <p:sldLayoutId id="2147483751" r:id="rId57"/>
    <p:sldLayoutId id="2147483752" r:id="rId58"/>
    <p:sldLayoutId id="2147483753" r:id="rId59"/>
    <p:sldLayoutId id="2147483754" r:id="rId60"/>
    <p:sldLayoutId id="2147483755" r:id="rId61"/>
    <p:sldLayoutId id="2147483756" r:id="rId62"/>
    <p:sldLayoutId id="2147483757" r:id="rId63"/>
    <p:sldLayoutId id="2147483758" r:id="rId6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82563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357188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541338" indent="-18415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715963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898525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10731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1.xml"/><Relationship Id="rIdChart1" Type="http://schemas.openxmlformats.org/officeDocument/2006/relationships/chart" Target="../charts/chart101.xml"/><Relationship Id="rId9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BDEF60-2E7F-9E9E-F92D-1DEB4957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69255"/>
            <a:ext cx="4906009" cy="2148552"/>
          </a:xfrm>
        </p:spPr>
        <p:txBody>
          <a:bodyPr/>
          <a:lstStyle/>
          <a:p>
            <a:r>
              <a:rPr lang="en-GB" dirty="0"/>
              <a:t>Nature priorities for Lloyds Banking Group: UK NBSAP proof of concept</a:t>
            </a:r>
            <a:endParaRPr lang="en-GB" b="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1E701F-B945-4F4B-F65D-1371AA9CC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762" y="4871362"/>
            <a:ext cx="4907628" cy="511939"/>
          </a:xfrm>
        </p:spPr>
        <p:txBody>
          <a:bodyPr/>
          <a:lstStyle/>
          <a:p>
            <a:r>
              <a:rPr lang="en-GB" dirty="0"/>
              <a:t>7</a:t>
            </a:r>
            <a:r>
              <a:rPr lang="en-GB" baseline="30000" dirty="0"/>
              <a:t>th</a:t>
            </a:r>
            <a:r>
              <a:rPr lang="en-GB" dirty="0"/>
              <a:t> October 2026 </a:t>
            </a:r>
          </a:p>
        </p:txBody>
      </p:sp>
    </p:spTree>
    <p:extLst>
      <p:ext uri="{BB962C8B-B14F-4D97-AF65-F5344CB8AC3E}">
        <p14:creationId xmlns:p14="http://schemas.microsoft.com/office/powerpoint/2010/main" val="352189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UK nature policy is creating investment and rules that LBG cannot ignore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Executive summary: why this matters and what we found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story-card-1"/>
          <p:cNvSpPr/>
          <p:nvPr/>
        </p:nvSpPr>
        <p:spPr>
          <a:xfrm>
            <a:off x="530352" y="1207008"/>
            <a:ext cx="3310128" cy="2788920"/>
          </a:xfrm>
          <a:prstGeom prst="roundRect">
            <a:avLst>
              <a:gd name="adj" fmla="val 2623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2" name="story-num-bg-1"/>
          <p:cNvSpPr/>
          <p:nvPr/>
        </p:nvSpPr>
        <p:spPr>
          <a:xfrm>
            <a:off x="694944" y="1371600"/>
            <a:ext cx="292608" cy="2926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03" name="Text 2"/>
          <p:cNvSpPr txBox="1"/>
          <p:nvPr/>
        </p:nvSpPr>
        <p:spPr>
          <a:xfrm>
            <a:off x="694944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1</a:t>
            </a:r>
            <a:endParaRPr lang="en-US" sz="1300" dirty="0"/>
          </a:p>
        </p:txBody>
      </p:sp>
      <p:sp>
        <p:nvSpPr>
          <p:cNvPr id="1004" name="story-head-1"/>
          <p:cNvSpPr txBox="1"/>
          <p:nvPr/>
        </p:nvSpPr>
        <p:spPr>
          <a:xfrm>
            <a:off x="1097280" y="133502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THE SIGNAL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The UK is putting money behind nature</a:t>
            </a:r>
            <a:endParaRPr lang="en-US" sz="1000" dirty="0"/>
          </a:p>
        </p:txBody>
      </p:sp>
      <p:sp>
        <p:nvSpPr>
          <p:cNvPr id="1005" name="story-stat-1"/>
          <p:cNvSpPr txBox="1"/>
          <p:nvPr/>
        </p:nvSpPr>
        <p:spPr>
          <a:xfrm>
            <a:off x="694944" y="1920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34</a:t>
            </a:r>
            <a:endParaRPr lang="en-US" sz="3000" dirty="0"/>
          </a:p>
        </p:txBody>
      </p:sp>
      <p:sp>
        <p:nvSpPr>
          <p:cNvPr id="1006" name="story-stat-label-1"/>
          <p:cNvSpPr txBox="1"/>
          <p:nvPr/>
        </p:nvSpPr>
        <p:spPr>
          <a:xfrm>
            <a:off x="694944" y="242316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UK NBSAP commitments worth c.£60bn (indicative)</a:t>
            </a:r>
            <a:endParaRPr lang="en-US" sz="1000" dirty="0"/>
          </a:p>
        </p:txBody>
      </p:sp>
      <p:sp>
        <p:nvSpPr>
          <p:cNvPr id="1007" name="Shape 6"/>
          <p:cNvSpPr/>
          <p:nvPr/>
        </p:nvSpPr>
        <p:spPr>
          <a:xfrm>
            <a:off x="694944" y="2816352"/>
            <a:ext cx="2980944" cy="0"/>
          </a:xfrm>
          <a:prstGeom prst="line">
            <a:avLst/>
          </a:prstGeom>
          <a:noFill/>
          <a:ln w="9525">
            <a:solidFill>
              <a:srgbClr val="3A3A46"/>
            </a:solidFill>
            <a:prstDash val="solid"/>
          </a:ln>
        </p:spPr>
      </p:sp>
      <p:sp>
        <p:nvSpPr>
          <p:cNvPr id="1008" name="story-points-1"/>
          <p:cNvSpPr txBox="1"/>
          <p:nvPr/>
        </p:nvSpPr>
        <p:spPr>
          <a:xfrm>
            <a:off x="694944" y="2907792"/>
            <a:ext cx="29809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Over half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for flood and coastal resilience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£10bn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waste, £6.1bn water, £5.0bn farming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£11bn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a year adaptation gap (CCC)</a:t>
            </a:r>
            <a:endParaRPr lang="en-US" sz="1050" dirty="0"/>
          </a:p>
        </p:txBody>
      </p:sp>
      <p:sp>
        <p:nvSpPr>
          <p:cNvPr id="1009" name="story-arrow-1"/>
          <p:cNvSpPr/>
          <p:nvPr/>
        </p:nvSpPr>
        <p:spPr>
          <a:xfrm>
            <a:off x="3895344" y="2455164"/>
            <a:ext cx="164592" cy="292608"/>
          </a:xfrm>
          <a:prstGeom prst="chevron">
            <a:avLst/>
          </a:prstGeom>
          <a:solidFill>
            <a:srgbClr val="FFE600"/>
          </a:solidFill>
          <a:ln/>
        </p:spPr>
      </p:sp>
      <p:sp>
        <p:nvSpPr>
          <p:cNvPr id="1010" name="story-card-2"/>
          <p:cNvSpPr/>
          <p:nvPr/>
        </p:nvSpPr>
        <p:spPr>
          <a:xfrm>
            <a:off x="4114800" y="1207008"/>
            <a:ext cx="3310128" cy="2788920"/>
          </a:xfrm>
          <a:prstGeom prst="roundRect">
            <a:avLst>
              <a:gd name="adj" fmla="val 2623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1" name="story-num-bg-2"/>
          <p:cNvSpPr/>
          <p:nvPr/>
        </p:nvSpPr>
        <p:spPr>
          <a:xfrm>
            <a:off x="4279392" y="1371600"/>
            <a:ext cx="292608" cy="292608"/>
          </a:xfrm>
          <a:prstGeom prst="rect">
            <a:avLst/>
          </a:prstGeom>
          <a:solidFill>
            <a:srgbClr val="F4B183"/>
          </a:solidFill>
          <a:ln/>
        </p:spPr>
      </p:sp>
      <p:sp>
        <p:nvSpPr>
          <p:cNvPr id="1012" name="Text 11"/>
          <p:cNvSpPr txBox="1"/>
          <p:nvPr/>
        </p:nvSpPr>
        <p:spPr>
          <a:xfrm>
            <a:off x="427939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2</a:t>
            </a:r>
            <a:endParaRPr lang="en-US" sz="1300" dirty="0"/>
          </a:p>
        </p:txBody>
      </p:sp>
      <p:sp>
        <p:nvSpPr>
          <p:cNvPr id="1013" name="story-head-2"/>
          <p:cNvSpPr txBox="1"/>
          <p:nvPr/>
        </p:nvSpPr>
        <p:spPr>
          <a:xfrm>
            <a:off x="4681728" y="133502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B183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THE RULES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Regulation and markets are following</a:t>
            </a:r>
            <a:endParaRPr lang="en-US" sz="1000" dirty="0"/>
          </a:p>
        </p:txBody>
      </p:sp>
      <p:sp>
        <p:nvSpPr>
          <p:cNvPr id="1014" name="story-stat-2"/>
          <p:cNvSpPr txBox="1"/>
          <p:nvPr/>
        </p:nvSpPr>
        <p:spPr>
          <a:xfrm>
            <a:off x="4279392" y="1920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£1bn</a:t>
            </a:r>
            <a:endParaRPr lang="en-US" sz="3000" dirty="0"/>
          </a:p>
        </p:txBody>
      </p:sp>
      <p:sp>
        <p:nvSpPr>
          <p:cNvPr id="1015" name="story-stat-label-2"/>
          <p:cNvSpPr txBox="1"/>
          <p:nvPr/>
        </p:nvSpPr>
        <p:spPr>
          <a:xfrm>
            <a:off x="4279392" y="242316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 year of private nature investment targeted by 2030</a:t>
            </a:r>
            <a:endParaRPr lang="en-US" sz="1000" dirty="0"/>
          </a:p>
        </p:txBody>
      </p:sp>
      <p:sp>
        <p:nvSpPr>
          <p:cNvPr id="1016" name="Shape 15"/>
          <p:cNvSpPr/>
          <p:nvPr/>
        </p:nvSpPr>
        <p:spPr>
          <a:xfrm>
            <a:off x="4279392" y="2816352"/>
            <a:ext cx="2980944" cy="0"/>
          </a:xfrm>
          <a:prstGeom prst="line">
            <a:avLst/>
          </a:prstGeom>
          <a:noFill/>
          <a:ln w="9525">
            <a:solidFill>
              <a:srgbClr val="3A3A46"/>
            </a:solidFill>
            <a:prstDash val="solid"/>
          </a:ln>
        </p:spPr>
      </p:sp>
      <p:sp>
        <p:nvSpPr>
          <p:cNvPr id="1017" name="story-points-2"/>
          <p:cNvSpPr txBox="1"/>
          <p:nvPr/>
        </p:nvSpPr>
        <p:spPr>
          <a:xfrm>
            <a:off x="4279392" y="2907792"/>
            <a:ext cx="29809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BNG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: 10% net gain mandatory since Feb 2024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PRA SS5/25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: banks must manage physical risk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£56bn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UK nature finance gap (next decade)</a:t>
            </a:r>
            <a:endParaRPr lang="en-US" sz="1050" dirty="0"/>
          </a:p>
        </p:txBody>
      </p:sp>
      <p:sp>
        <p:nvSpPr>
          <p:cNvPr id="1018" name="story-arrow-2"/>
          <p:cNvSpPr/>
          <p:nvPr/>
        </p:nvSpPr>
        <p:spPr>
          <a:xfrm>
            <a:off x="7479792" y="2455164"/>
            <a:ext cx="164592" cy="292608"/>
          </a:xfrm>
          <a:prstGeom prst="chevron">
            <a:avLst/>
          </a:prstGeom>
          <a:solidFill>
            <a:srgbClr val="FFE600"/>
          </a:solidFill>
          <a:ln/>
        </p:spPr>
      </p:sp>
      <p:sp>
        <p:nvSpPr>
          <p:cNvPr id="1019" name="story-card-3"/>
          <p:cNvSpPr/>
          <p:nvPr/>
        </p:nvSpPr>
        <p:spPr>
          <a:xfrm>
            <a:off x="7699248" y="1207008"/>
            <a:ext cx="3310128" cy="2788920"/>
          </a:xfrm>
          <a:prstGeom prst="roundRect">
            <a:avLst>
              <a:gd name="adj" fmla="val 2623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20" name="story-num-bg-3"/>
          <p:cNvSpPr/>
          <p:nvPr/>
        </p:nvSpPr>
        <p:spPr>
          <a:xfrm>
            <a:off x="7863840" y="1371600"/>
            <a:ext cx="292608" cy="292608"/>
          </a:xfrm>
          <a:prstGeom prst="rect">
            <a:avLst/>
          </a:prstGeom>
          <a:solidFill>
            <a:srgbClr val="B565D9"/>
          </a:solidFill>
          <a:ln/>
        </p:spPr>
      </p:sp>
      <p:sp>
        <p:nvSpPr>
          <p:cNvPr id="1021" name="Text 20"/>
          <p:cNvSpPr txBox="1"/>
          <p:nvPr/>
        </p:nvSpPr>
        <p:spPr>
          <a:xfrm>
            <a:off x="786384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3</a:t>
            </a:r>
            <a:endParaRPr lang="en-US" sz="1300" dirty="0"/>
          </a:p>
        </p:txBody>
      </p:sp>
      <p:sp>
        <p:nvSpPr>
          <p:cNvPr id="1022" name="story-head-3"/>
          <p:cNvSpPr txBox="1"/>
          <p:nvPr/>
        </p:nvSpPr>
        <p:spPr>
          <a:xfrm>
            <a:off x="8266176" y="133502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D9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WHY LBG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LBG is directly exposed</a:t>
            </a:r>
            <a:endParaRPr lang="en-US" sz="1000" dirty="0"/>
          </a:p>
        </p:txBody>
      </p:sp>
      <p:sp>
        <p:nvSpPr>
          <p:cNvPr id="1023" name="story-stat-3"/>
          <p:cNvSpPr txBox="1"/>
          <p:nvPr/>
        </p:nvSpPr>
        <p:spPr>
          <a:xfrm>
            <a:off x="7863840" y="1920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£60.0bn</a:t>
            </a:r>
            <a:endParaRPr lang="en-US" sz="3000" dirty="0"/>
          </a:p>
        </p:txBody>
      </p:sp>
      <p:sp>
        <p:nvSpPr>
          <p:cNvPr id="1024" name="story-stat-label-3"/>
          <p:cNvSpPr txBox="1"/>
          <p:nvPr/>
        </p:nvSpPr>
        <p:spPr>
          <a:xfrm>
            <a:off x="7863840" y="242316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LBG exposure to nature priority sectors (9.3% of Group)</a:t>
            </a:r>
            <a:endParaRPr lang="en-US" sz="1000" dirty="0"/>
          </a:p>
        </p:txBody>
      </p:sp>
      <p:sp>
        <p:nvSpPr>
          <p:cNvPr id="1025" name="Shape 24"/>
          <p:cNvSpPr/>
          <p:nvPr/>
        </p:nvSpPr>
        <p:spPr>
          <a:xfrm>
            <a:off x="7863840" y="2816352"/>
            <a:ext cx="2980944" cy="0"/>
          </a:xfrm>
          <a:prstGeom prst="line">
            <a:avLst/>
          </a:prstGeom>
          <a:noFill/>
          <a:ln w="9525">
            <a:solidFill>
              <a:srgbClr val="3A3A46"/>
            </a:solidFill>
            <a:prstDash val="solid"/>
          </a:ln>
        </p:spPr>
      </p:sp>
      <p:sp>
        <p:nvSpPr>
          <p:cNvPr id="1026" name="story-points-3"/>
          <p:cNvSpPr txBox="1"/>
          <p:nvPr/>
        </p:nvSpPr>
        <p:spPr>
          <a:xfrm>
            <a:off x="7863840" y="2907792"/>
            <a:ext cx="29809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£365.6bn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mortgages: flood exposure not disclosed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£100bn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sustainable finance pledged, 2027–30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£120m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HARP debt; co-underwrote £238.5m Cleve Hill</a:t>
            </a:r>
            <a:endParaRPr lang="en-US" sz="1050" dirty="0"/>
          </a:p>
        </p:txBody>
      </p:sp>
      <p:sp>
        <p:nvSpPr>
          <p:cNvPr id="1027" name="found-heading"/>
          <p:cNvSpPr txBox="1"/>
          <p:nvPr/>
        </p:nvSpPr>
        <p:spPr>
          <a:xfrm>
            <a:off x="530352" y="4133088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we found</a:t>
            </a:r>
            <a:pPr indent="0" marL="0">
              <a:buNone/>
            </a:pPr>
            <a:r>
              <a:rPr lang="en-US" sz="105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  top UK NBSAP priorities for LBG (score out of 5)</a:t>
            </a:r>
            <a:endParaRPr lang="en-US" sz="1300" dirty="0"/>
          </a:p>
        </p:txBody>
      </p:sp>
      <p:sp>
        <p:nvSpPr>
          <p:cNvPr id="1028" name="priority-pill-1"/>
          <p:cNvSpPr/>
          <p:nvPr/>
        </p:nvSpPr>
        <p:spPr>
          <a:xfrm>
            <a:off x="530352" y="4480560"/>
            <a:ext cx="2510028" cy="566928"/>
          </a:xfrm>
          <a:prstGeom prst="roundRect">
            <a:avLst>
              <a:gd name="adj" fmla="val 967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29" name="Text 28"/>
          <p:cNvSpPr txBox="1"/>
          <p:nvPr/>
        </p:nvSpPr>
        <p:spPr>
          <a:xfrm>
            <a:off x="658368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4.5</a:t>
            </a:r>
            <a:endParaRPr lang="en-US" sz="2000" dirty="0"/>
          </a:p>
        </p:txBody>
      </p:sp>
      <p:sp>
        <p:nvSpPr>
          <p:cNvPr id="1030" name="Text 29"/>
          <p:cNvSpPr txBox="1"/>
          <p:nvPr/>
        </p:nvSpPr>
        <p:spPr>
          <a:xfrm>
            <a:off x="1243584" y="4480560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Risk reduction and prevention</a:t>
            </a:r>
            <a:endParaRPr lang="en-US" sz="1100" dirty="0"/>
          </a:p>
        </p:txBody>
      </p:sp>
      <p:sp>
        <p:nvSpPr>
          <p:cNvPr id="1031" name="priority-pill-2"/>
          <p:cNvSpPr/>
          <p:nvPr/>
        </p:nvSpPr>
        <p:spPr>
          <a:xfrm>
            <a:off x="3186684" y="4480560"/>
            <a:ext cx="2510028" cy="566928"/>
          </a:xfrm>
          <a:prstGeom prst="roundRect">
            <a:avLst>
              <a:gd name="adj" fmla="val 967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32" name="Text 31"/>
          <p:cNvSpPr txBox="1"/>
          <p:nvPr/>
        </p:nvSpPr>
        <p:spPr>
          <a:xfrm>
            <a:off x="331470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4.2</a:t>
            </a:r>
            <a:endParaRPr lang="en-US" sz="2000" dirty="0"/>
          </a:p>
        </p:txBody>
      </p:sp>
      <p:sp>
        <p:nvSpPr>
          <p:cNvPr id="1033" name="Text 32"/>
          <p:cNvSpPr txBox="1"/>
          <p:nvPr/>
        </p:nvSpPr>
        <p:spPr>
          <a:xfrm>
            <a:off x="3899916" y="4480560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Land-use change and habitat protection</a:t>
            </a:r>
            <a:endParaRPr lang="en-US" sz="1100" dirty="0"/>
          </a:p>
        </p:txBody>
      </p:sp>
      <p:sp>
        <p:nvSpPr>
          <p:cNvPr id="1034" name="priority-pill-3"/>
          <p:cNvSpPr/>
          <p:nvPr/>
        </p:nvSpPr>
        <p:spPr>
          <a:xfrm>
            <a:off x="5843016" y="4480560"/>
            <a:ext cx="2510028" cy="566928"/>
          </a:xfrm>
          <a:prstGeom prst="roundRect">
            <a:avLst>
              <a:gd name="adj" fmla="val 967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35" name="Text 34"/>
          <p:cNvSpPr txBox="1"/>
          <p:nvPr/>
        </p:nvSpPr>
        <p:spPr>
          <a:xfrm>
            <a:off x="5971032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4.0</a:t>
            </a:r>
            <a:endParaRPr lang="en-US" sz="2000" dirty="0"/>
          </a:p>
        </p:txBody>
      </p:sp>
      <p:sp>
        <p:nvSpPr>
          <p:cNvPr id="1036" name="Text 35"/>
          <p:cNvSpPr txBox="1"/>
          <p:nvPr/>
        </p:nvSpPr>
        <p:spPr>
          <a:xfrm>
            <a:off x="6556248" y="4480560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Water availability</a:t>
            </a:r>
            <a:endParaRPr lang="en-US" sz="1100" dirty="0"/>
          </a:p>
        </p:txBody>
      </p:sp>
      <p:sp>
        <p:nvSpPr>
          <p:cNvPr id="1037" name="priority-pill-4"/>
          <p:cNvSpPr/>
          <p:nvPr/>
        </p:nvSpPr>
        <p:spPr>
          <a:xfrm>
            <a:off x="8499348" y="4480560"/>
            <a:ext cx="2510028" cy="566928"/>
          </a:xfrm>
          <a:prstGeom prst="roundRect">
            <a:avLst>
              <a:gd name="adj" fmla="val 967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38" name="Text 37"/>
          <p:cNvSpPr txBox="1"/>
          <p:nvPr/>
        </p:nvSpPr>
        <p:spPr>
          <a:xfrm>
            <a:off x="8627364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4.0</a:t>
            </a:r>
            <a:endParaRPr lang="en-US" sz="2000" dirty="0"/>
          </a:p>
        </p:txBody>
      </p:sp>
      <p:sp>
        <p:nvSpPr>
          <p:cNvPr id="1039" name="Text 38"/>
          <p:cNvSpPr txBox="1"/>
          <p:nvPr/>
        </p:nvSpPr>
        <p:spPr>
          <a:xfrm>
            <a:off x="9212580" y="4480560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Water quality</a:t>
            </a:r>
            <a:endParaRPr lang="en-US" sz="1100" dirty="0"/>
          </a:p>
        </p:txBody>
      </p:sp>
      <p:sp>
        <p:nvSpPr>
          <p:cNvPr id="1040" name="found-note"/>
          <p:cNvSpPr txBox="1"/>
          <p:nvPr/>
        </p:nvSpPr>
        <p:spPr>
          <a:xfrm>
            <a:off x="530352" y="5138928"/>
            <a:ext cx="10479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Agriculture (3.9) just misses High. Nature is eligible in LBG’s 2025 financing framework, but no nature-specific targets or reporting are disclosed.</a:t>
            </a:r>
            <a:endParaRPr lang="en-US" sz="1050" dirty="0"/>
          </a:p>
        </p:txBody>
      </p:sp>
      <p:sp>
        <p:nvSpPr>
          <p:cNvPr id="1041" name="so-what-panel"/>
          <p:cNvSpPr/>
          <p:nvPr/>
        </p:nvSpPr>
        <p:spPr>
          <a:xfrm>
            <a:off x="530352" y="5468112"/>
            <a:ext cx="10479024" cy="475488"/>
          </a:xfrm>
          <a:prstGeom prst="roundRect">
            <a:avLst>
              <a:gd name="adj" fmla="val 11538"/>
            </a:avLst>
          </a:prstGeom>
          <a:solidFill>
            <a:srgbClr val="FFE600"/>
          </a:solidFill>
          <a:ln/>
        </p:spPr>
      </p:sp>
      <p:sp>
        <p:nvSpPr>
          <p:cNvPr id="1042" name="so-what"/>
          <p:cNvSpPr txBox="1"/>
          <p:nvPr/>
        </p:nvSpPr>
        <p:spPr>
          <a:xfrm>
            <a:off x="713232" y="5486400"/>
            <a:ext cx="10113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So what  </a:t>
            </a:r>
            <a:pPr indent="0" marL="0">
              <a:buNone/>
            </a:pPr>
            <a:r>
              <a:rPr lang="en-US" sz="1200" dirty="0">
                <a:solidFill>
                  <a:srgbClr val="1A1A24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LBG has the criteria and the deals. The next step is portfolio-level nature targets, risk data and disclosure, where EY can help.</a:t>
            </a:r>
            <a:endParaRPr lang="en-US" sz="1200" dirty="0"/>
          </a:p>
        </p:txBody>
      </p:sp>
      <p:sp>
        <p:nvSpPr>
          <p:cNvPr id="1043" name="footnote"/>
          <p:cNvSpPr txBox="1"/>
          <p:nvPr/>
        </p:nvSpPr>
        <p:spPr>
          <a:xfrm>
            <a:off x="530352" y="6035040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Sources: EY NBSAP Nature Sizing workbook (UK commitments, indicative, timeframes vary); LBG Working with nature (2024); Built to Last (2026); Sustainability Data Sheet 2025; Sustainable Financing Framework 2025. Full references in speaker notes.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Top priorities line up with LBG’s nature-linked lending, except flood risk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Opportunity priority vs client exposure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left-heading"/>
          <p:cNvSpPr txBox="1"/>
          <p:nvPr/>
        </p:nvSpPr>
        <p:spPr>
          <a:xfrm>
            <a:off x="530352" y="118872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Opportunity priority</a:t>
            </a:r>
            <a:pPr indent="0" marL="0">
              <a:buNone/>
            </a:pPr>
            <a:r>
              <a:rPr lang="en-US" sz="110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  UK NBSAP sub-themes ranked by score (out of 5)</a:t>
            </a:r>
            <a:endParaRPr lang="en-US" sz="1400" dirty="0"/>
          </a:p>
        </p:txBody>
      </p:sp>
      <p:graphicFrame>
        <p:nvGraphicFramePr>
          <p:cNvPr id="1002" name="priority-chart" descr=""/>
          <p:cNvGraphicFramePr/>
          <p:nvPr/>
        </p:nvGraphicFramePr>
        <p:xfrm>
          <a:off x="484632" y="1536192"/>
          <a:ext cx="5806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Chart1"/>
          </a:graphicData>
        </a:graphic>
      </p:graphicFrame>
      <p:sp>
        <p:nvSpPr>
          <p:cNvPr id="1003" name="legend-high"/>
          <p:cNvSpPr/>
          <p:nvPr/>
        </p:nvSpPr>
        <p:spPr>
          <a:xfrm>
            <a:off x="530352" y="4901184"/>
            <a:ext cx="146304" cy="14630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04" name="Text 2"/>
          <p:cNvSpPr txBox="1"/>
          <p:nvPr/>
        </p:nvSpPr>
        <p:spPr>
          <a:xfrm>
            <a:off x="749808" y="48828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High (4.0+)</a:t>
            </a:r>
            <a:endParaRPr lang="en-US" sz="1050" dirty="0"/>
          </a:p>
        </p:txBody>
      </p:sp>
      <p:sp>
        <p:nvSpPr>
          <p:cNvPr id="1005" name="legend-medium"/>
          <p:cNvSpPr/>
          <p:nvPr/>
        </p:nvSpPr>
        <p:spPr>
          <a:xfrm>
            <a:off x="1856232" y="4901184"/>
            <a:ext cx="146304" cy="146304"/>
          </a:xfrm>
          <a:prstGeom prst="rect">
            <a:avLst/>
          </a:prstGeom>
          <a:solidFill>
            <a:srgbClr val="A5A5B0"/>
          </a:solidFill>
          <a:ln/>
        </p:spPr>
      </p:sp>
      <p:sp>
        <p:nvSpPr>
          <p:cNvPr id="1006" name="Text 4"/>
          <p:cNvSpPr txBox="1"/>
          <p:nvPr/>
        </p:nvSpPr>
        <p:spPr>
          <a:xfrm>
            <a:off x="2075688" y="4882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Medium (3.0–3.9)</a:t>
            </a:r>
            <a:endParaRPr lang="en-US" sz="1050" dirty="0"/>
          </a:p>
        </p:txBody>
      </p:sp>
      <p:sp>
        <p:nvSpPr>
          <p:cNvPr id="1007" name="low-list"/>
          <p:cNvSpPr txBox="1"/>
          <p:nvPr/>
        </p:nvSpPr>
        <p:spPr>
          <a:xfrm>
            <a:off x="530352" y="513892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FBFC7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Low (below 3.0): </a:t>
            </a:r>
            <a:pPr indent="0" marL="0">
              <a:buNone/>
            </a:pPr>
            <a:r>
              <a:rPr lang="en-US" sz="100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green-blue infrastructure 2.8, forestry 2.5, waste 2.2, air and noise 2.2, packaging 1.9, fisheries 1.3</a:t>
            </a:r>
            <a:endParaRPr lang="en-US" sz="1000" dirty="0"/>
          </a:p>
        </p:txBody>
      </p:sp>
      <p:sp>
        <p:nvSpPr>
          <p:cNvPr id="1008" name="panel-divider"/>
          <p:cNvSpPr/>
          <p:nvPr/>
        </p:nvSpPr>
        <p:spPr>
          <a:xfrm>
            <a:off x="6373368" y="1234440"/>
            <a:ext cx="0" cy="4206240"/>
          </a:xfrm>
          <a:prstGeom prst="line">
            <a:avLst/>
          </a:prstGeom>
          <a:noFill/>
          <a:ln w="12700">
            <a:solidFill>
              <a:srgbClr val="3A3A46"/>
            </a:solidFill>
            <a:prstDash val="solid"/>
          </a:ln>
        </p:spPr>
      </p:sp>
      <p:sp>
        <p:nvSpPr>
          <p:cNvPr id="1009" name="right-heading"/>
          <p:cNvSpPr txBox="1"/>
          <p:nvPr/>
        </p:nvSpPr>
        <p:spPr>
          <a:xfrm>
            <a:off x="6492240" y="118872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Where LBG’s exposure sits</a:t>
            </a:r>
            <a:pPr indent="0" marL="0">
              <a:buNone/>
            </a:pPr>
            <a:r>
              <a:rPr lang="en-US" sz="1100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  £bn, 31 Dec 2025</a:t>
            </a:r>
            <a:endParaRPr lang="en-US" sz="1400" dirty="0"/>
          </a:p>
        </p:txBody>
      </p:sp>
      <p:sp>
        <p:nvSpPr>
          <p:cNvPr id="1010" name="tile-1"/>
          <p:cNvSpPr/>
          <p:nvPr/>
        </p:nvSpPr>
        <p:spPr>
          <a:xfrm>
            <a:off x="6492240" y="155448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11" name="tile-value-1"/>
          <p:cNvSpPr txBox="1"/>
          <p:nvPr/>
        </p:nvSpPr>
        <p:spPr>
          <a:xfrm>
            <a:off x="662940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£12.1bn</a:t>
            </a:r>
            <a:endParaRPr lang="en-US" sz="2000" dirty="0"/>
          </a:p>
        </p:txBody>
      </p:sp>
      <p:sp>
        <p:nvSpPr>
          <p:cNvPr id="1012" name="tile-label-1"/>
          <p:cNvSpPr txBox="1"/>
          <p:nvPr/>
        </p:nvSpPr>
        <p:spPr>
          <a:xfrm>
            <a:off x="662940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Energy and water supply</a:t>
            </a:r>
            <a:endParaRPr lang="en-US" sz="1000" dirty="0"/>
          </a:p>
        </p:txBody>
      </p:sp>
      <p:sp>
        <p:nvSpPr>
          <p:cNvPr id="1013" name="tile-1-chip-3"/>
          <p:cNvSpPr/>
          <p:nvPr/>
        </p:nvSpPr>
        <p:spPr>
          <a:xfrm>
            <a:off x="6629400" y="2377440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/>
        </p:spPr>
      </p:sp>
      <p:sp>
        <p:nvSpPr>
          <p:cNvPr id="1014" name="Text 12"/>
          <p:cNvSpPr txBox="1"/>
          <p:nvPr/>
        </p:nvSpPr>
        <p:spPr>
          <a:xfrm>
            <a:off x="6629400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#3</a:t>
            </a:r>
            <a:endParaRPr lang="en-US" sz="900" dirty="0"/>
          </a:p>
        </p:txBody>
      </p:sp>
      <p:sp>
        <p:nvSpPr>
          <p:cNvPr id="1015" name="tile-1-chip-4"/>
          <p:cNvSpPr/>
          <p:nvPr/>
        </p:nvSpPr>
        <p:spPr>
          <a:xfrm>
            <a:off x="7059168" y="2377440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7059168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#4</a:t>
            </a:r>
            <a:endParaRPr lang="en-US" sz="900" dirty="0"/>
          </a:p>
        </p:txBody>
      </p:sp>
      <p:sp>
        <p:nvSpPr>
          <p:cNvPr id="1017" name="tile-1-chip-7"/>
          <p:cNvSpPr/>
          <p:nvPr/>
        </p:nvSpPr>
        <p:spPr>
          <a:xfrm>
            <a:off x="7488936" y="2377440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A5A5B0"/>
          </a:solidFill>
          <a:ln/>
        </p:spPr>
      </p:sp>
      <p:sp>
        <p:nvSpPr>
          <p:cNvPr id="1018" name="Text 16"/>
          <p:cNvSpPr txBox="1"/>
          <p:nvPr/>
        </p:nvSpPr>
        <p:spPr>
          <a:xfrm>
            <a:off x="7488936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#7</a:t>
            </a:r>
            <a:endParaRPr lang="en-US" sz="900" dirty="0"/>
          </a:p>
        </p:txBody>
      </p:sp>
      <p:sp>
        <p:nvSpPr>
          <p:cNvPr id="1019" name="tile-2"/>
          <p:cNvSpPr/>
          <p:nvPr/>
        </p:nvSpPr>
        <p:spPr>
          <a:xfrm>
            <a:off x="8814816" y="155448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20" name="tile-value-2"/>
          <p:cNvSpPr txBox="1"/>
          <p:nvPr/>
        </p:nvSpPr>
        <p:spPr>
          <a:xfrm>
            <a:off x="8951976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£6.8bn</a:t>
            </a:r>
            <a:endParaRPr lang="en-US" sz="2000" dirty="0"/>
          </a:p>
        </p:txBody>
      </p:sp>
      <p:sp>
        <p:nvSpPr>
          <p:cNvPr id="1021" name="tile-label-2"/>
          <p:cNvSpPr txBox="1"/>
          <p:nvPr/>
        </p:nvSpPr>
        <p:spPr>
          <a:xfrm>
            <a:off x="8951976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Agriculture, forestry and fishing</a:t>
            </a:r>
            <a:endParaRPr lang="en-US" sz="1000" dirty="0"/>
          </a:p>
        </p:txBody>
      </p:sp>
      <p:sp>
        <p:nvSpPr>
          <p:cNvPr id="1022" name="tile-2-chip-5"/>
          <p:cNvSpPr/>
          <p:nvPr/>
        </p:nvSpPr>
        <p:spPr>
          <a:xfrm>
            <a:off x="8951976" y="2377440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A5A5B0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8951976" y="2377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#5</a:t>
            </a:r>
            <a:endParaRPr lang="en-US" sz="900" dirty="0"/>
          </a:p>
        </p:txBody>
      </p:sp>
      <p:sp>
        <p:nvSpPr>
          <p:cNvPr id="1024" name="tile-3"/>
          <p:cNvSpPr/>
          <p:nvPr/>
        </p:nvSpPr>
        <p:spPr>
          <a:xfrm>
            <a:off x="6492240" y="2761488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25" name="tile-value-3"/>
          <p:cNvSpPr txBox="1"/>
          <p:nvPr/>
        </p:nvSpPr>
        <p:spPr>
          <a:xfrm>
            <a:off x="662940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£5.9bn</a:t>
            </a:r>
            <a:endParaRPr lang="en-US" sz="2000" dirty="0"/>
          </a:p>
        </p:txBody>
      </p:sp>
      <p:sp>
        <p:nvSpPr>
          <p:cNvPr id="1026" name="tile-label-3"/>
          <p:cNvSpPr txBox="1"/>
          <p:nvPr/>
        </p:nvSpPr>
        <p:spPr>
          <a:xfrm>
            <a:off x="662940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Construction (incl. £2.3bn housebuilders)</a:t>
            </a:r>
            <a:endParaRPr lang="en-US" sz="1000" dirty="0"/>
          </a:p>
        </p:txBody>
      </p:sp>
      <p:sp>
        <p:nvSpPr>
          <p:cNvPr id="1027" name="tile-3-chip-2"/>
          <p:cNvSpPr/>
          <p:nvPr/>
        </p:nvSpPr>
        <p:spPr>
          <a:xfrm>
            <a:off x="6629400" y="3584448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/>
        </p:spPr>
      </p:sp>
      <p:sp>
        <p:nvSpPr>
          <p:cNvPr id="1028" name="Text 26"/>
          <p:cNvSpPr txBox="1"/>
          <p:nvPr/>
        </p:nvSpPr>
        <p:spPr>
          <a:xfrm>
            <a:off x="6629400" y="3584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#2</a:t>
            </a:r>
            <a:endParaRPr lang="en-US" sz="900" dirty="0"/>
          </a:p>
        </p:txBody>
      </p:sp>
      <p:sp>
        <p:nvSpPr>
          <p:cNvPr id="1029" name="tile-3-chip-8"/>
          <p:cNvSpPr/>
          <p:nvPr/>
        </p:nvSpPr>
        <p:spPr>
          <a:xfrm>
            <a:off x="7059168" y="3584448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A5A5B0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7059168" y="3584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#8</a:t>
            </a:r>
            <a:endParaRPr lang="en-US" sz="900" dirty="0"/>
          </a:p>
        </p:txBody>
      </p:sp>
      <p:sp>
        <p:nvSpPr>
          <p:cNvPr id="1031" name="tile-4"/>
          <p:cNvSpPr/>
          <p:nvPr/>
        </p:nvSpPr>
        <p:spPr>
          <a:xfrm>
            <a:off x="8814816" y="2761488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32" name="tile-value-4"/>
          <p:cNvSpPr txBox="1"/>
          <p:nvPr/>
        </p:nvSpPr>
        <p:spPr>
          <a:xfrm>
            <a:off x="8951976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£26.3bn</a:t>
            </a:r>
            <a:endParaRPr lang="en-US" sz="2000" dirty="0"/>
          </a:p>
        </p:txBody>
      </p:sp>
      <p:sp>
        <p:nvSpPr>
          <p:cNvPr id="1033" name="tile-label-4"/>
          <p:cNvSpPr txBox="1"/>
          <p:nvPr/>
        </p:nvSpPr>
        <p:spPr>
          <a:xfrm>
            <a:off x="8951976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Property companies</a:t>
            </a:r>
            <a:endParaRPr lang="en-US" sz="1000" dirty="0"/>
          </a:p>
        </p:txBody>
      </p:sp>
      <p:sp>
        <p:nvSpPr>
          <p:cNvPr id="1034" name="tile-4-chip-8"/>
          <p:cNvSpPr/>
          <p:nvPr/>
        </p:nvSpPr>
        <p:spPr>
          <a:xfrm>
            <a:off x="8951976" y="3584448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A5A5B0"/>
          </a:solidFill>
          <a:ln/>
        </p:spPr>
      </p:sp>
      <p:sp>
        <p:nvSpPr>
          <p:cNvPr id="1035" name="Text 33"/>
          <p:cNvSpPr txBox="1"/>
          <p:nvPr/>
        </p:nvSpPr>
        <p:spPr>
          <a:xfrm>
            <a:off x="8951976" y="3584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#8</a:t>
            </a:r>
            <a:endParaRPr lang="en-US" sz="900" dirty="0"/>
          </a:p>
        </p:txBody>
      </p:sp>
      <p:sp>
        <p:nvSpPr>
          <p:cNvPr id="1036" name="tile-5"/>
          <p:cNvSpPr/>
          <p:nvPr/>
        </p:nvSpPr>
        <p:spPr>
          <a:xfrm>
            <a:off x="6492240" y="3968496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37" name="tile-value-5"/>
          <p:cNvSpPr txBox="1"/>
          <p:nvPr/>
        </p:nvSpPr>
        <p:spPr>
          <a:xfrm>
            <a:off x="6629400" y="40599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£365.6bn</a:t>
            </a:r>
            <a:endParaRPr lang="en-US" sz="2000" dirty="0"/>
          </a:p>
        </p:txBody>
      </p:sp>
      <p:sp>
        <p:nvSpPr>
          <p:cNvPr id="1038" name="tile-label-5"/>
          <p:cNvSpPr txBox="1"/>
          <p:nvPr/>
        </p:nvSpPr>
        <p:spPr>
          <a:xfrm>
            <a:off x="662940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Mortgages: flood exposure not disclosed</a:t>
            </a:r>
            <a:endParaRPr lang="en-US" sz="1000" dirty="0"/>
          </a:p>
        </p:txBody>
      </p:sp>
      <p:sp>
        <p:nvSpPr>
          <p:cNvPr id="1039" name="tile-5-chip-9"/>
          <p:cNvSpPr/>
          <p:nvPr/>
        </p:nvSpPr>
        <p:spPr>
          <a:xfrm>
            <a:off x="6629400" y="4791456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A5A5B0"/>
          </a:solidFill>
          <a:ln/>
        </p:spPr>
      </p:sp>
      <p:sp>
        <p:nvSpPr>
          <p:cNvPr id="1040" name="Text 38"/>
          <p:cNvSpPr txBox="1"/>
          <p:nvPr/>
        </p:nvSpPr>
        <p:spPr>
          <a:xfrm>
            <a:off x="6629400" y="4791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#9</a:t>
            </a:r>
            <a:endParaRPr lang="en-US" sz="900" dirty="0"/>
          </a:p>
        </p:txBody>
      </p:sp>
      <p:sp>
        <p:nvSpPr>
          <p:cNvPr id="1041" name="tile-6"/>
          <p:cNvSpPr/>
          <p:nvPr/>
        </p:nvSpPr>
        <p:spPr>
          <a:xfrm>
            <a:off x="8814816" y="3968496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42" name="tile-value-6"/>
          <p:cNvSpPr txBox="1"/>
          <p:nvPr/>
        </p:nvSpPr>
        <p:spPr>
          <a:xfrm>
            <a:off x="8951976" y="40599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Not split</a:t>
            </a:r>
            <a:endParaRPr lang="en-US" sz="2000" dirty="0"/>
          </a:p>
        </p:txBody>
      </p:sp>
      <p:sp>
        <p:nvSpPr>
          <p:cNvPr id="1043" name="tile-label-6"/>
          <p:cNvSpPr txBox="1"/>
          <p:nvPr/>
        </p:nvSpPr>
        <p:spPr>
          <a:xfrm>
            <a:off x="8951976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Infrastructure finance, e.g. HARP, Cleve Hill</a:t>
            </a:r>
            <a:endParaRPr lang="en-US" sz="1000" dirty="0"/>
          </a:p>
        </p:txBody>
      </p:sp>
      <p:sp>
        <p:nvSpPr>
          <p:cNvPr id="1044" name="tile-6-chip-1"/>
          <p:cNvSpPr/>
          <p:nvPr/>
        </p:nvSpPr>
        <p:spPr>
          <a:xfrm>
            <a:off x="8951976" y="4791456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/>
        </p:spPr>
      </p:sp>
      <p:sp>
        <p:nvSpPr>
          <p:cNvPr id="1045" name="Text 43"/>
          <p:cNvSpPr txBox="1"/>
          <p:nvPr/>
        </p:nvSpPr>
        <p:spPr>
          <a:xfrm>
            <a:off x="8951976" y="4791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#1</a:t>
            </a:r>
            <a:endParaRPr lang="en-US" sz="900" dirty="0"/>
          </a:p>
        </p:txBody>
      </p:sp>
      <p:sp>
        <p:nvSpPr>
          <p:cNvPr id="1046" name="tile-6-chip-6"/>
          <p:cNvSpPr/>
          <p:nvPr/>
        </p:nvSpPr>
        <p:spPr>
          <a:xfrm>
            <a:off x="9381744" y="4791456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A5A5B0"/>
          </a:solidFill>
          <a:ln/>
        </p:spPr>
      </p:sp>
      <p:sp>
        <p:nvSpPr>
          <p:cNvPr id="1047" name="Text 45"/>
          <p:cNvSpPr txBox="1"/>
          <p:nvPr/>
        </p:nvSpPr>
        <p:spPr>
          <a:xfrm>
            <a:off x="9381744" y="4791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#6</a:t>
            </a:r>
            <a:endParaRPr lang="en-US" sz="900" dirty="0"/>
          </a:p>
        </p:txBody>
      </p:sp>
      <p:sp>
        <p:nvSpPr>
          <p:cNvPr id="1048" name="right-legend"/>
          <p:cNvSpPr txBox="1"/>
          <p:nvPr/>
        </p:nvSpPr>
        <p:spPr>
          <a:xfrm>
            <a:off x="6492240" y="512064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Yellow border</a:t>
            </a:r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= sector LBG classes as nature priority.  </a:t>
            </a:r>
            <a:pPr indent="0" marL="0">
              <a:buNone/>
            </a:pPr>
            <a:r>
              <a:rPr lang="en-US" sz="9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#</a:t>
            </a:r>
            <a:pPr indent="0" marL="0">
              <a:buNone/>
            </a:pPr>
            <a:r>
              <a:rPr lang="en-US" sz="9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 = linked priority on the left.</a:t>
            </a:r>
            <a:endParaRPr lang="en-US" sz="950" dirty="0"/>
          </a:p>
        </p:txBody>
      </p:sp>
      <p:sp>
        <p:nvSpPr>
          <p:cNvPr id="1049" name="so-what-panel"/>
          <p:cNvSpPr/>
          <p:nvPr/>
        </p:nvSpPr>
        <p:spPr>
          <a:xfrm>
            <a:off x="530352" y="5486400"/>
            <a:ext cx="10479024" cy="475488"/>
          </a:xfrm>
          <a:prstGeom prst="roundRect">
            <a:avLst>
              <a:gd name="adj" fmla="val 11538"/>
            </a:avLst>
          </a:prstGeom>
          <a:solidFill>
            <a:srgbClr val="FFE600"/>
          </a:solidFill>
          <a:ln/>
        </p:spPr>
      </p:sp>
      <p:sp>
        <p:nvSpPr>
          <p:cNvPr id="1050" name="so-what"/>
          <p:cNvSpPr txBox="1"/>
          <p:nvPr/>
        </p:nvSpPr>
        <p:spPr>
          <a:xfrm>
            <a:off x="713232" y="5504688"/>
            <a:ext cx="10113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So what  </a:t>
            </a:r>
            <a:pPr indent="0" marL="0">
              <a:buNone/>
            </a:pPr>
            <a:r>
              <a:rPr lang="en-US" sz="1150" dirty="0">
                <a:solidFill>
                  <a:srgbClr val="1A1A24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LBG’s nature priority exposures (£24.8bn across utilities, agriculture and construction) line up with four of the top five priorities. The largest gap is flood risk in the £365.6bn mortgage book, which is not disclosed.</a:t>
            </a:r>
            <a:endParaRPr lang="en-US" sz="1150" dirty="0"/>
          </a:p>
        </p:txBody>
      </p:sp>
      <p:sp>
        <p:nvSpPr>
          <p:cNvPr id="1051" name="footnote"/>
          <p:cNvSpPr txBox="1"/>
          <p:nvPr/>
        </p:nvSpPr>
        <p:spPr>
          <a:xfrm>
            <a:off x="530352" y="6016752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= weighted average (1–5) of materiality to LBG 30%, action gap 25%, NBSAP emphasis 20%, regulatory and market momentum 15%, market opportunity 10%. Exposure = lending plus off-balance sheet, LBG Sustainability Data Sheet 2025, tab 18. Other LBG nature priority sectors (personal lease financing, transport, manufacturing) link mainly to Low sub-themes.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EY could help LBG move from nature criteria to portfolio-level action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How EY can assist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card-1"/>
          <p:cNvSpPr/>
          <p:nvPr/>
        </p:nvSpPr>
        <p:spPr>
          <a:xfrm>
            <a:off x="530352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2" name="card-num-bg-1"/>
          <p:cNvSpPr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03" name="card-num-1"/>
          <p:cNvSpPr txBox="1"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1</a:t>
            </a:r>
            <a:endParaRPr lang="en-US" sz="1600" dirty="0"/>
          </a:p>
        </p:txBody>
      </p:sp>
      <p:sp>
        <p:nvSpPr>
          <p:cNvPr id="1004" name="card-head-1"/>
          <p:cNvSpPr txBox="1"/>
          <p:nvPr/>
        </p:nvSpPr>
        <p:spPr>
          <a:xfrm>
            <a:off x="1261872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Flood and drought risk reduction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FFE600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4.5</a:t>
            </a:r>
            <a:endParaRPr lang="en-US" sz="1350" dirty="0"/>
          </a:p>
        </p:txBody>
      </p:sp>
      <p:sp>
        <p:nvSpPr>
          <p:cNvPr id="1005" name="card-body-1"/>
          <p:cNvSpPr txBox="1"/>
          <p:nvPr/>
        </p:nvSpPr>
        <p:spPr>
          <a:xfrm>
            <a:off x="694944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Resilience built into Cleve Hill and HARP; mortgage flood exposure not disclosed.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Physical and nature-related risk assessment of the lending book; resilience finance criteria.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Portfolio flood and drought heatmap</a:t>
            </a:r>
            <a:endParaRPr lang="en-US" sz="1050" dirty="0"/>
          </a:p>
        </p:txBody>
      </p:sp>
      <p:sp>
        <p:nvSpPr>
          <p:cNvPr id="1006" name="card-2"/>
          <p:cNvSpPr/>
          <p:nvPr/>
        </p:nvSpPr>
        <p:spPr>
          <a:xfrm>
            <a:off x="3203143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7" name="card-num-bg-2"/>
          <p:cNvSpPr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solidFill>
            <a:srgbClr val="F4B183"/>
          </a:solidFill>
          <a:ln/>
        </p:spPr>
      </p:sp>
      <p:sp>
        <p:nvSpPr>
          <p:cNvPr id="1008" name="card-num-2"/>
          <p:cNvSpPr txBox="1"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2</a:t>
            </a:r>
            <a:endParaRPr lang="en-US" sz="1600" dirty="0"/>
          </a:p>
        </p:txBody>
      </p:sp>
      <p:sp>
        <p:nvSpPr>
          <p:cNvPr id="1009" name="card-head-2"/>
          <p:cNvSpPr txBox="1"/>
          <p:nvPr/>
        </p:nvSpPr>
        <p:spPr>
          <a:xfrm>
            <a:off x="3934663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Habitat protection and BNG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F4B183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4.2</a:t>
            </a:r>
            <a:endParaRPr lang="en-US" sz="1350" dirty="0"/>
          </a:p>
        </p:txBody>
      </p:sp>
      <p:sp>
        <p:nvSpPr>
          <p:cNvPr id="1010" name="card-body-2"/>
          <p:cNvSpPr txBox="1"/>
          <p:nvPr/>
        </p:nvSpPr>
        <p:spPr>
          <a:xfrm>
            <a:off x="3367735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£5.9bn construction exposure in scope of BNG; BNG delivered project by project (10–65%).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Nature markets and BNG strategy; due diligence on nature outcomes in financed projects.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Nature markets options paper; BNG due diligence checklist</a:t>
            </a:r>
            <a:endParaRPr lang="en-US" sz="1050" dirty="0"/>
          </a:p>
        </p:txBody>
      </p:sp>
      <p:sp>
        <p:nvSpPr>
          <p:cNvPr id="1011" name="card-3"/>
          <p:cNvSpPr/>
          <p:nvPr/>
        </p:nvSpPr>
        <p:spPr>
          <a:xfrm>
            <a:off x="5875934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2" name="card-num-bg-3"/>
          <p:cNvSpPr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solidFill>
            <a:srgbClr val="B565D9"/>
          </a:solidFill>
          <a:ln/>
        </p:spPr>
      </p:sp>
      <p:sp>
        <p:nvSpPr>
          <p:cNvPr id="1013" name="card-num-3"/>
          <p:cNvSpPr txBox="1"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3</a:t>
            </a:r>
            <a:endParaRPr lang="en-US" sz="1600" dirty="0"/>
          </a:p>
        </p:txBody>
      </p:sp>
      <p:sp>
        <p:nvSpPr>
          <p:cNvPr id="1014" name="card-head-3"/>
          <p:cNvSpPr txBox="1"/>
          <p:nvPr/>
        </p:nvSpPr>
        <p:spPr>
          <a:xfrm>
            <a:off x="6607454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Water availability and quality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B565D9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4.0</a:t>
            </a:r>
            <a:endParaRPr lang="en-US" sz="1350" dirty="0"/>
          </a:p>
        </p:txBody>
      </p:sp>
      <p:sp>
        <p:nvSpPr>
          <p:cNvPr id="1015" name="card-body-3"/>
          <p:cNvSpPr txBox="1"/>
          <p:nvPr/>
        </p:nvSpPr>
        <p:spPr>
          <a:xfrm>
            <a:off x="6040526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£12.1bn energy and water supply exposure; £120m HARP debt; water criteria in SFF.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UK water investment pipeline using the EY NBSAP sizing tool; sustainability-linked KPI design.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Water investment pipeline; KPI set</a:t>
            </a:r>
            <a:endParaRPr lang="en-US" sz="1050" dirty="0"/>
          </a:p>
        </p:txBody>
      </p:sp>
      <p:sp>
        <p:nvSpPr>
          <p:cNvPr id="1016" name="card-4"/>
          <p:cNvSpPr/>
          <p:nvPr/>
        </p:nvSpPr>
        <p:spPr>
          <a:xfrm>
            <a:off x="8548726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7" name="card-num-bg-4"/>
          <p:cNvSpPr/>
          <p:nvPr/>
        </p:nvSpPr>
        <p:spPr>
          <a:xfrm>
            <a:off x="8731606" y="1417320"/>
            <a:ext cx="411480" cy="411480"/>
          </a:xfrm>
          <a:prstGeom prst="rect">
            <a:avLst/>
          </a:prstGeom>
          <a:solidFill>
            <a:srgbClr val="4E95D9"/>
          </a:solidFill>
          <a:ln/>
        </p:spPr>
      </p:sp>
      <p:sp>
        <p:nvSpPr>
          <p:cNvPr id="1018" name="card-num-4"/>
          <p:cNvSpPr txBox="1"/>
          <p:nvPr/>
        </p:nvSpPr>
        <p:spPr>
          <a:xfrm>
            <a:off x="8731606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</a:t>
            </a:r>
            <a:endParaRPr lang="en-US" sz="1600" dirty="0"/>
          </a:p>
        </p:txBody>
      </p:sp>
      <p:sp>
        <p:nvSpPr>
          <p:cNvPr id="1019" name="card-head-4"/>
          <p:cNvSpPr txBox="1"/>
          <p:nvPr/>
        </p:nvSpPr>
        <p:spPr>
          <a:xfrm>
            <a:off x="9280246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Sustainable agriculture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4E95D9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3.9</a:t>
            </a:r>
            <a:endParaRPr lang="en-US" sz="1350" dirty="0"/>
          </a:p>
        </p:txBody>
      </p:sp>
      <p:sp>
        <p:nvSpPr>
          <p:cNvPr id="1020" name="card-body-4"/>
          <p:cNvSpPr txBox="1"/>
          <p:nvPr/>
        </p:nvSpPr>
        <p:spPr>
          <a:xfrm>
            <a:off x="8713318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£6.7bn agriculture exposure; 685 farms assessed; target covers emissions only.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Nature baseline for the agriculture book; regenerative farming products and nature targets.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Agriculture nature baseline; product concept</a:t>
            </a:r>
            <a:endParaRPr lang="en-US" sz="1050" dirty="0"/>
          </a:p>
        </p:txBody>
      </p:sp>
      <p:sp>
        <p:nvSpPr>
          <p:cNvPr id="1021" name="cross-cutting"/>
          <p:cNvSpPr txBox="1"/>
          <p:nvPr/>
        </p:nvSpPr>
        <p:spPr>
          <a:xfrm>
            <a:off x="530352" y="4846320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Across all four: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TNFD-aligned disclosure, nature metrics and target setting, and reporting sustainable finance by nature category.</a:t>
            </a:r>
            <a:endParaRPr lang="en-US" sz="1200" dirty="0"/>
          </a:p>
        </p:txBody>
      </p:sp>
      <p:sp>
        <p:nvSpPr>
          <p:cNvPr id="1022" name="next-steps-panel"/>
          <p:cNvSpPr/>
          <p:nvPr/>
        </p:nvSpPr>
        <p:spPr>
          <a:xfrm>
            <a:off x="530352" y="5230368"/>
            <a:ext cx="10479024" cy="658368"/>
          </a:xfrm>
          <a:prstGeom prst="roundRect">
            <a:avLst>
              <a:gd name="adj" fmla="val 11111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23" name="next-steps"/>
          <p:cNvSpPr txBox="1"/>
          <p:nvPr/>
        </p:nvSpPr>
        <p:spPr>
          <a:xfrm>
            <a:off x="731520" y="5266944"/>
            <a:ext cx="10104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Proposed next steps  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1. Validate against the LBG Sustainability Report 2025   2. Discovery workshop with LBG sustainability, risk and corporate banking teams   3. Deep dive on nature exposure in agriculture and water lending</a:t>
            </a:r>
            <a:endParaRPr lang="en-US" sz="1200" dirty="0"/>
          </a:p>
        </p:txBody>
      </p:sp>
      <p:sp>
        <p:nvSpPr>
          <p:cNvPr id="1024" name="footnote"/>
          <p:cNvSpPr txBox="1"/>
          <p:nvPr/>
        </p:nvSpPr>
        <p:spPr>
          <a:xfrm>
            <a:off x="530352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Support areas are indicative and to be aligned with the EY CCaSS service catalogue. Scores from page 3.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Custom 10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884888A5-C629-42F8-9D4B-3CDF061885ED}" vid="{39A1E73B-99D1-4B7B-ACBD-88B4D756EAAE}"/>
    </a:ext>
  </a:extLst>
</a:theme>
</file>

<file path=ppt/theme/theme2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_EY All In PowerPoint Onscreen (Widescreen) 2024 PowerPoint ribbon (FINAL).pptx" id="{74B484E2-2FF1-4219-84B9-072474B8FEB1}" vid="{2AA547DC-10FC-4772-B511-C540E0FE6E5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Aptos</vt:lpstr>
      <vt:lpstr>Arial</vt:lpstr>
      <vt:lpstr>Calibri</vt:lpstr>
      <vt:lpstr>EYInterstate</vt:lpstr>
      <vt:lpstr>EYInterstate Light</vt:lpstr>
      <vt:lpstr>EYInterstate Regular</vt:lpstr>
      <vt:lpstr>Georgia Pro</vt:lpstr>
      <vt:lpstr>Wingdings</vt:lpstr>
      <vt:lpstr>EY Core Slides</vt:lpstr>
      <vt:lpstr>1_EY Core Slides</vt:lpstr>
      <vt:lpstr>think-cell Slide</vt:lpstr>
      <vt:lpstr>Deck Title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Dakoju</dc:creator>
  <cp:lastModifiedBy>Manikanta Dakoju</cp:lastModifiedBy>
  <cp:revision>1</cp:revision>
  <dcterms:created xsi:type="dcterms:W3CDTF">2026-10-07T20:03:48Z</dcterms:created>
  <dcterms:modified xsi:type="dcterms:W3CDTF">2026-10-07T20:06:08Z</dcterms:modified>
</cp:coreProperties>
</file>