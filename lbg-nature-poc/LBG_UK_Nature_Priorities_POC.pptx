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ummary" id="{bad5ab7b-d0ce-bd2b-e670-8d5e1dcd2015}">
          <p14:sldIdLst>
            <p14:sldId id="256"/>
          </p14:sldIdLst>
        </p14:section>
        <p14:section name="Priorities" id="{70a7ee0d-6481-f81e-877c-9db318602afd}">
          <p14:sldIdLst>
            <p14:sldId id="257"/>
          </p14:sldIdLst>
        </p14:section>
        <p14:section name="How EY can assist" id="{a44bbdb2-2a11-ad86-b42e-51f9f6f73ddf}">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3" name="Text 0"/>
          <p:cNvSpPr/>
          <p:nvPr>
            <p:ph idx="101" type="body" hasCustomPrompt="1"/>
          </p:nvPr>
        </p:nvSpPr>
        <p:spPr>
          <a:xfrm>
            <a:off x="457200" y="6236208"/>
            <a:ext cx="10607040" cy="457200"/>
          </a:xfrm>
          <a:prstGeom prst="rect">
            <a:avLst/>
          </a:prstGeom>
          <a:noFill/>
          <a:ln/>
        </p:spPr>
        <p:txBody>
          <a:bodyPr wrap="square" rtlCol="0"/>
          <a:lstStyle>
            <a:lvl1pPr indent="0" marL="0">
              <a:buNone/>
              <a:defRPr lang="en-US" sz="900" dirty="0">
                <a:solidFill>
                  <a:schemeClr val="accent5"/>
                </a:solidFill>
              </a:defRPr>
            </a:lvl1pPr>
          </a:lstStyle>
          <a:p>
            <a:pPr indent="0" marL="0">
              <a:buNone/>
            </a:pPr>
            <a:endParaRPr lang="en-US" sz="900" dirty="0"/>
          </a:p>
        </p:txBody>
      </p:sp>
      <p:sp>
        <p:nvSpPr>
          <p:cNvPr id="25" name="Slide Number Placeholder 0"/>
          <p:cNvSpPr>
            <a:spLocks noGrp="1"/>
          </p:cNvSpPr>
          <p:nvPr>
            <p:ph type="sldNum" sz="quarter" idx="4294967295"/>
          </p:nvPr>
        </p:nvSpPr>
        <p:spPr>
          <a:xfrm>
            <a:off x="1133856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lIns="0" tIns="0" rIns="0" bIns="0" rtlCol="0" anchor="t"/>
          <a:lstStyle/>
          <a:p>
            <a:pPr algn="l" indent="0" marL="0">
              <a:buNone/>
            </a:pPr>
            <a:r>
              <a:rPr lang="en-US" sz="2400" b="1" dirty="0">
                <a:solidFill>
                  <a:schemeClr val="tx2"/>
                </a:solidFill>
              </a:rPr>
              <a:t>LBG's public nature focus aligns with UK priorities on flood, water and habitat resilience</a:t>
            </a:r>
            <a:endParaRPr lang="en-US" sz="2400" dirty="0"/>
          </a:p>
        </p:txBody>
      </p:sp>
      <p:sp>
        <p:nvSpPr>
          <p:cNvPr id="3" name="subtitle"/>
          <p:cNvSpPr txBox="1"/>
          <p:nvPr/>
        </p:nvSpPr>
        <p:spPr>
          <a:xfrm>
            <a:off x="457200" y="1078992"/>
            <a:ext cx="11274552" cy="320040"/>
          </a:xfrm>
          <a:prstGeom prst="rect">
            <a:avLst/>
          </a:prstGeom>
          <a:noFill/>
          <a:ln/>
        </p:spPr>
        <p:txBody>
          <a:bodyPr wrap="square" lIns="0" tIns="0" rIns="0" bIns="0" rtlCol="0" anchor="t"/>
          <a:lstStyle/>
          <a:p>
            <a:pPr indent="0" marL="0">
              <a:buNone/>
            </a:pPr>
            <a:r>
              <a:rPr lang="en-US" sz="1300" dirty="0">
                <a:solidFill>
                  <a:schemeClr val="accent5"/>
                </a:solidFill>
              </a:rPr>
              <a:t>Mapping Lloyds Banking Group (LBG) public nature disclosures to the UK NBSAP (Environmental Improvement Plan 2025)  |  As at 7 October 2026</a:t>
            </a:r>
            <a:endParaRPr lang="en-US" sz="1300" dirty="0"/>
          </a:p>
        </p:txBody>
      </p:sp>
      <p:sp>
        <p:nvSpPr>
          <p:cNvPr id="4" name="stat-card-1"/>
          <p:cNvSpPr/>
          <p:nvPr/>
        </p:nvSpPr>
        <p:spPr>
          <a:xfrm>
            <a:off x="457200" y="1600200"/>
            <a:ext cx="3200400" cy="1298448"/>
          </a:xfrm>
          <a:prstGeom prst="roundRect">
            <a:avLst>
              <a:gd name="adj" fmla="val 5634"/>
            </a:avLst>
          </a:prstGeom>
          <a:solidFill>
            <a:schemeClr val="bg2"/>
          </a:solidFill>
          <a:ln/>
        </p:spPr>
      </p:sp>
      <p:sp>
        <p:nvSpPr>
          <p:cNvPr id="5" name="stat-value-1"/>
          <p:cNvSpPr txBox="1"/>
          <p:nvPr/>
        </p:nvSpPr>
        <p:spPr>
          <a:xfrm>
            <a:off x="685800" y="1755648"/>
            <a:ext cx="2743200" cy="621792"/>
          </a:xfrm>
          <a:prstGeom prst="rect">
            <a:avLst/>
          </a:prstGeom>
          <a:noFill/>
          <a:ln/>
        </p:spPr>
        <p:txBody>
          <a:bodyPr wrap="square" lIns="0" tIns="0" rIns="0" bIns="0" rtlCol="0" anchor="t"/>
          <a:lstStyle/>
          <a:p>
            <a:pPr indent="0" marL="0">
              <a:buNone/>
            </a:pPr>
            <a:r>
              <a:rPr lang="en-US" sz="3800" b="1" dirty="0">
                <a:solidFill>
                  <a:schemeClr val="accent1"/>
                </a:solidFill>
              </a:rPr>
              <a:t>15</a:t>
            </a:r>
            <a:endParaRPr lang="en-US" sz="3800" dirty="0"/>
          </a:p>
        </p:txBody>
      </p:sp>
      <p:sp>
        <p:nvSpPr>
          <p:cNvPr id="6" name="stat-label-1"/>
          <p:cNvSpPr txBox="1"/>
          <p:nvPr/>
        </p:nvSpPr>
        <p:spPr>
          <a:xfrm>
            <a:off x="685800" y="2404872"/>
            <a:ext cx="2743200" cy="411480"/>
          </a:xfrm>
          <a:prstGeom prst="rect">
            <a:avLst/>
          </a:prstGeom>
          <a:noFill/>
          <a:ln/>
        </p:spPr>
        <p:txBody>
          <a:bodyPr wrap="square" lIns="0" tIns="0" rIns="0" bIns="0" rtlCol="0" anchor="t"/>
          <a:lstStyle/>
          <a:p>
            <a:pPr indent="0" marL="0">
              <a:buNone/>
            </a:pPr>
            <a:r>
              <a:rPr lang="en-US" sz="1200" dirty="0">
                <a:solidFill>
                  <a:schemeClr val="tx1"/>
                </a:solidFill>
              </a:rPr>
              <a:t>sub-themes assessed across 5 UK NBSAP themes</a:t>
            </a:r>
            <a:endParaRPr lang="en-US" sz="1200" dirty="0"/>
          </a:p>
        </p:txBody>
      </p:sp>
      <p:sp>
        <p:nvSpPr>
          <p:cNvPr id="7" name="stat-card-2"/>
          <p:cNvSpPr/>
          <p:nvPr/>
        </p:nvSpPr>
        <p:spPr>
          <a:xfrm>
            <a:off x="457200" y="3081528"/>
            <a:ext cx="3200400" cy="1298448"/>
          </a:xfrm>
          <a:prstGeom prst="roundRect">
            <a:avLst>
              <a:gd name="adj" fmla="val 5634"/>
            </a:avLst>
          </a:prstGeom>
          <a:solidFill>
            <a:schemeClr val="accent1"/>
          </a:solidFill>
          <a:ln/>
        </p:spPr>
      </p:sp>
      <p:sp>
        <p:nvSpPr>
          <p:cNvPr id="8" name="stat-value-2"/>
          <p:cNvSpPr txBox="1"/>
          <p:nvPr/>
        </p:nvSpPr>
        <p:spPr>
          <a:xfrm>
            <a:off x="685800" y="3236976"/>
            <a:ext cx="2743200" cy="621792"/>
          </a:xfrm>
          <a:prstGeom prst="rect">
            <a:avLst/>
          </a:prstGeom>
          <a:noFill/>
          <a:ln/>
        </p:spPr>
        <p:txBody>
          <a:bodyPr wrap="square" lIns="0" tIns="0" rIns="0" bIns="0" rtlCol="0" anchor="t"/>
          <a:lstStyle/>
          <a:p>
            <a:pPr indent="0" marL="0">
              <a:buNone/>
            </a:pPr>
            <a:r>
              <a:rPr lang="en-US" sz="3800" b="1" dirty="0">
                <a:solidFill>
                  <a:schemeClr val="bg1"/>
                </a:solidFill>
              </a:rPr>
              <a:t>3</a:t>
            </a:r>
            <a:endParaRPr lang="en-US" sz="3800" dirty="0"/>
          </a:p>
        </p:txBody>
      </p:sp>
      <p:sp>
        <p:nvSpPr>
          <p:cNvPr id="9" name="stat-label-2"/>
          <p:cNvSpPr txBox="1"/>
          <p:nvPr/>
        </p:nvSpPr>
        <p:spPr>
          <a:xfrm>
            <a:off x="685800" y="3886200"/>
            <a:ext cx="2743200" cy="411480"/>
          </a:xfrm>
          <a:prstGeom prst="rect">
            <a:avLst/>
          </a:prstGeom>
          <a:noFill/>
          <a:ln/>
        </p:spPr>
        <p:txBody>
          <a:bodyPr wrap="square" lIns="0" tIns="0" rIns="0" bIns="0" rtlCol="0" anchor="t"/>
          <a:lstStyle/>
          <a:p>
            <a:pPr indent="0" marL="0">
              <a:buNone/>
            </a:pPr>
            <a:r>
              <a:rPr lang="en-US" sz="1200" dirty="0">
                <a:solidFill>
                  <a:schemeClr val="bg1"/>
                </a:solidFill>
              </a:rPr>
              <a:t>High-priority sub-themes for LBG</a:t>
            </a:r>
            <a:endParaRPr lang="en-US" sz="1200" dirty="0"/>
          </a:p>
        </p:txBody>
      </p:sp>
      <p:sp>
        <p:nvSpPr>
          <p:cNvPr id="10" name="stat-card-3"/>
          <p:cNvSpPr/>
          <p:nvPr/>
        </p:nvSpPr>
        <p:spPr>
          <a:xfrm>
            <a:off x="457200" y="4562856"/>
            <a:ext cx="3200400" cy="1298448"/>
          </a:xfrm>
          <a:prstGeom prst="roundRect">
            <a:avLst>
              <a:gd name="adj" fmla="val 5634"/>
            </a:avLst>
          </a:prstGeom>
          <a:solidFill>
            <a:schemeClr val="bg2"/>
          </a:solidFill>
          <a:ln/>
        </p:spPr>
      </p:sp>
      <p:sp>
        <p:nvSpPr>
          <p:cNvPr id="11" name="stat-value-3"/>
          <p:cNvSpPr txBox="1"/>
          <p:nvPr/>
        </p:nvSpPr>
        <p:spPr>
          <a:xfrm>
            <a:off x="685800" y="4718304"/>
            <a:ext cx="2743200" cy="621792"/>
          </a:xfrm>
          <a:prstGeom prst="rect">
            <a:avLst/>
          </a:prstGeom>
          <a:noFill/>
          <a:ln/>
        </p:spPr>
        <p:txBody>
          <a:bodyPr wrap="square" lIns="0" tIns="0" rIns="0" bIns="0" rtlCol="0" anchor="t"/>
          <a:lstStyle/>
          <a:p>
            <a:pPr indent="0" marL="0">
              <a:buNone/>
            </a:pPr>
            <a:r>
              <a:rPr lang="en-US" sz="3800" b="1" dirty="0">
                <a:solidFill>
                  <a:schemeClr val="accent1"/>
                </a:solidFill>
              </a:rPr>
              <a:t>c.£60bn</a:t>
            </a:r>
            <a:endParaRPr lang="en-US" sz="3800" dirty="0"/>
          </a:p>
        </p:txBody>
      </p:sp>
      <p:sp>
        <p:nvSpPr>
          <p:cNvPr id="12" name="stat-label-3"/>
          <p:cNvSpPr txBox="1"/>
          <p:nvPr/>
        </p:nvSpPr>
        <p:spPr>
          <a:xfrm>
            <a:off x="685800" y="5367528"/>
            <a:ext cx="2743200" cy="411480"/>
          </a:xfrm>
          <a:prstGeom prst="rect">
            <a:avLst/>
          </a:prstGeom>
          <a:noFill/>
          <a:ln/>
        </p:spPr>
        <p:txBody>
          <a:bodyPr wrap="square" lIns="0" tIns="0" rIns="0" bIns="0" rtlCol="0" anchor="t"/>
          <a:lstStyle/>
          <a:p>
            <a:pPr indent="0" marL="0">
              <a:buNone/>
            </a:pPr>
            <a:r>
              <a:rPr lang="en-US" sz="1200" dirty="0">
                <a:solidFill>
                  <a:schemeClr val="tx1"/>
                </a:solidFill>
              </a:rPr>
              <a:t>UK NBSAP commitments mapped (34 commitments)</a:t>
            </a:r>
            <a:endParaRPr lang="en-US" sz="1200" dirty="0"/>
          </a:p>
        </p:txBody>
      </p:sp>
      <p:sp>
        <p:nvSpPr>
          <p:cNvPr id="13" name="summary-body"/>
          <p:cNvSpPr txBox="1"/>
          <p:nvPr/>
        </p:nvSpPr>
        <p:spPr>
          <a:xfrm>
            <a:off x="4069080" y="1536192"/>
            <a:ext cx="7662672" cy="4526280"/>
          </a:xfrm>
          <a:prstGeom prst="rect">
            <a:avLst/>
          </a:prstGeom>
          <a:noFill/>
          <a:ln/>
        </p:spPr>
        <p:txBody>
          <a:bodyPr wrap="square" lIns="0" tIns="0" rIns="0" bIns="0" rtlCol="0" anchor="t"/>
          <a:lstStyle/>
          <a:p>
            <a:pPr indent="0" marL="0">
              <a:spcBef>
                <a:spcPts val="800"/>
              </a:spcBef>
              <a:buNone/>
            </a:pPr>
            <a:r>
              <a:rPr lang="en-US" sz="1400" b="1" dirty="0">
                <a:solidFill>
                  <a:schemeClr val="accent1"/>
                </a:solidFill>
              </a:rPr>
              <a:t>Context</a:t>
            </a:r>
            <a:endParaRPr lang="en-US" sz="1400" dirty="0"/>
          </a:p>
          <a:p>
            <a:pPr marL="177800" indent="-177800">
              <a:spcAft>
                <a:spcPts val="400"/>
              </a:spcAft>
              <a:buSzPct val="100000"/>
              <a:buChar char="•"/>
            </a:pPr>
            <a:r>
              <a:rPr lang="en-US" sz="1400" dirty="0">
                <a:solidFill>
                  <a:schemeClr val="tx1"/>
                </a:solidFill>
              </a:rPr>
              <a:t>LBG presents nature-based solutions and resilient infrastructure as investable, citing a £56bn UK nature finance gap and an £11bn annual adaptation gap.</a:t>
            </a:r>
            <a:endParaRPr lang="en-US" sz="1400" dirty="0"/>
          </a:p>
          <a:p>
            <a:pPr indent="0" marL="0">
              <a:spcBef>
                <a:spcPts val="800"/>
              </a:spcBef>
              <a:buNone/>
            </a:pPr>
            <a:r>
              <a:rPr lang="en-US" sz="1400" b="1" dirty="0">
                <a:solidFill>
                  <a:schemeClr val="accent1"/>
                </a:solidFill>
              </a:rPr>
              <a:t>Key findings</a:t>
            </a:r>
            <a:endParaRPr lang="en-US" sz="1400" dirty="0"/>
          </a:p>
          <a:p>
            <a:pPr marL="177800" indent="-177800">
              <a:spcAft>
                <a:spcPts val="400"/>
              </a:spcAft>
              <a:buSzPct val="100000"/>
              <a:buChar char="•"/>
            </a:pPr>
            <a:r>
              <a:rPr lang="en-US" sz="1400" dirty="0">
                <a:solidFill>
                  <a:schemeClr val="tx1"/>
                </a:solidFill>
              </a:rPr>
              <a:t>Evidence is strongest in flood, water and farming: £120m HARP debt, £238.5m Cleve Hill financing, a £500m university retrofit programme and a 685-farm Soil Association Exchange partnership.</a:t>
            </a:r>
            <a:endParaRPr lang="en-US" sz="1400" dirty="0"/>
          </a:p>
          <a:p>
            <a:pPr marL="177800" indent="-177800">
              <a:spcAft>
                <a:spcPts val="400"/>
              </a:spcAft>
              <a:buSzPct val="100000"/>
              <a:buChar char="•"/>
            </a:pPr>
            <a:r>
              <a:rPr lang="en-US" sz="1400" dirty="0">
                <a:solidFill>
                  <a:schemeClr val="tx1"/>
                </a:solidFill>
              </a:rPr>
              <a:t>Nature outcomes appear at project level (10% and 65% Biodiversity Net Gain), not as portfolio-level nature targets or metrics.</a:t>
            </a:r>
            <a:endParaRPr lang="en-US" sz="1400" dirty="0"/>
          </a:p>
          <a:p>
            <a:pPr marL="177800" indent="-177800">
              <a:spcAft>
                <a:spcPts val="400"/>
              </a:spcAft>
              <a:buSzPct val="100000"/>
              <a:buChar char="•"/>
            </a:pPr>
            <a:r>
              <a:rPr lang="en-US" sz="1400" dirty="0">
                <a:solidFill>
                  <a:schemeClr val="tx1"/>
                </a:solidFill>
              </a:rPr>
              <a:t>No public evidence was identified for pollution, packaging or fisheries.</a:t>
            </a:r>
            <a:endParaRPr lang="en-US" sz="1400" dirty="0"/>
          </a:p>
          <a:p>
            <a:pPr indent="0" marL="0">
              <a:spcBef>
                <a:spcPts val="800"/>
              </a:spcBef>
              <a:buNone/>
            </a:pPr>
            <a:r>
              <a:rPr lang="en-US" sz="1400" b="1" dirty="0">
                <a:solidFill>
                  <a:schemeClr val="accent1"/>
                </a:solidFill>
              </a:rPr>
              <a:t>Top priorities (score out of 5)</a:t>
            </a:r>
            <a:endParaRPr lang="en-US" sz="1400" dirty="0"/>
          </a:p>
          <a:p>
            <a:pPr marL="177800" indent="-177800">
              <a:spcAft>
                <a:spcPts val="400"/>
              </a:spcAft>
              <a:buSzPct val="100000"/>
              <a:buChar char="•"/>
            </a:pPr>
            <a:r>
              <a:rPr lang="en-US" sz="1400" dirty="0">
                <a:solidFill>
                  <a:schemeClr val="tx1"/>
                </a:solidFill>
              </a:rPr>
              <a:t>Risk reduction and prevention (4.5), land-use change and habitat protection (4.2) and water availability (4.0).</a:t>
            </a:r>
            <a:endParaRPr lang="en-US" sz="1400" dirty="0"/>
          </a:p>
          <a:p>
            <a:pPr indent="0" marL="0">
              <a:spcBef>
                <a:spcPts val="800"/>
              </a:spcBef>
              <a:buNone/>
            </a:pPr>
            <a:r>
              <a:rPr lang="en-US" sz="1400" b="1" dirty="0">
                <a:solidFill>
                  <a:schemeClr val="accent1"/>
                </a:solidFill>
              </a:rPr>
              <a:t>Implication</a:t>
            </a:r>
            <a:endParaRPr lang="en-US" sz="1400" dirty="0"/>
          </a:p>
          <a:p>
            <a:pPr marL="177800" indent="-177800">
              <a:spcAft>
                <a:spcPts val="400"/>
              </a:spcAft>
              <a:buSzPct val="100000"/>
              <a:buChar char="•"/>
            </a:pPr>
            <a:r>
              <a:rPr lang="en-US" sz="1400" dirty="0">
                <a:solidFill>
                  <a:schemeClr val="tx1"/>
                </a:solidFill>
              </a:rPr>
              <a:t>There is scope to turn thought leadership and deal-level activity into a portfolio-level nature strategy, targets and disclosure.</a:t>
            </a:r>
            <a:endParaRPr lang="en-US" sz="1400" dirty="0"/>
          </a:p>
        </p:txBody>
      </p:sp>
      <p:sp>
        <p:nvSpPr>
          <p:cNvPr id="14" name="Text 0"/>
          <p:cNvSpPr/>
          <p:nvPr>
            <p:ph idx="101" type="body" hasCustomPrompt="1"/>
          </p:nvPr>
        </p:nvSpPr>
        <p:spPr>
          <a:xfrm>
            <a:off x="457200" y="6236208"/>
            <a:ext cx="10607040" cy="457200"/>
          </a:xfrm>
          <a:prstGeom prst="rect">
            <a:avLst/>
          </a:prstGeom>
          <a:noFill/>
          <a:ln/>
        </p:spPr>
        <p:txBody>
          <a:bodyPr wrap="square" lIns="0" tIns="0" rIns="0" bIns="0" rtlCol="0" anchor="t"/>
          <a:lstStyle/>
          <a:p>
            <a:pPr indent="0" marL="0">
              <a:buNone/>
            </a:pPr>
            <a:r>
              <a:rPr lang="en-US" sz="900" dirty="0">
                <a:solidFill>
                  <a:schemeClr val="accent5"/>
                </a:solidFill>
              </a:rPr>
              <a:t>Based on publicly available information as at 7 October 2026. Sources: SRC-01 LBG, Working with nature (2024); SRC-02 LBG, Built to Last (2026); SRC-03 EY NBSAP Nature Sizing workbook (UK). NBSAP commitment values are indicative; timeframes vary and some may overlap. Scoring methodology on slide 2.</a:t>
            </a:r>
            <a:endParaRPr lang="en-US" sz="900" dirty="0"/>
          </a:p>
        </p:txBody>
      </p:sp>
      <p:sp>
        <p:nvSpPr>
          <p:cNvPr id="25" name="Slide Number Placeholder 0"/>
          <p:cNvSpPr>
            <a:spLocks noGrp="1"/>
          </p:cNvSpPr>
          <p:nvPr>
            <p:ph type="sldNum" sz="quarter" idx="4294967295"/>
          </p:nvPr>
        </p:nvSpPr>
        <p:spPr>
          <a:xfrm>
            <a:off x="1133856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lIns="0" tIns="0" rIns="0" bIns="0" rtlCol="0" anchor="t"/>
          <a:lstStyle/>
          <a:p>
            <a:pPr algn="l" indent="0" marL="0">
              <a:buNone/>
            </a:pPr>
            <a:r>
              <a:rPr lang="en-US" sz="2400" b="1" dirty="0">
                <a:solidFill>
                  <a:schemeClr val="tx2"/>
                </a:solidFill>
              </a:rPr>
              <a:t>Flood risk, habitat protection and water availability score highest for LBG</a:t>
            </a:r>
            <a:endParaRPr lang="en-US" sz="2400" dirty="0"/>
          </a:p>
        </p:txBody>
      </p:sp>
      <p:graphicFrame>
        <p:nvGraphicFramePr>
          <p:cNvPr id="3" name="priority-table"/>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411480"/>
                <a:gridCol w="2148840"/>
                <a:gridCol w="2377440"/>
                <a:gridCol w="1325880"/>
                <a:gridCol w="640080"/>
                <a:gridCol w="777240"/>
                <a:gridCol w="3593592"/>
              </a:tblGrid>
              <a:tr h="384048">
                <a:tc>
                  <a:txBody>
                    <a:bodyPr/>
                    <a:lstStyle/>
                    <a:p>
                      <a:pPr indent="0" marL="0">
                        <a:buNone/>
                      </a:pPr>
                      <a:r>
                        <a:rPr lang="en-US" sz="1100" b="1" dirty="0">
                          <a:solidFill>
                            <a:schemeClr val="bg1"/>
                          </a:solidFill>
                        </a:rPr>
                        <a:t>#</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Theme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Sub-theme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UK NBSAP £ | no.</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Score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Tier</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Key LBG evidence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r>
              <a:tr h="384048">
                <a:tc>
                  <a:txBody>
                    <a:bodyPr/>
                    <a:lstStyle/>
                    <a:p>
                      <a:pPr algn="ctr" indent="0" marL="0">
                        <a:buNone/>
                      </a:pPr>
                      <a:r>
                        <a:rPr lang="en-US" sz="1100" dirty="0">
                          <a:solidFill>
                            <a:schemeClr val="tx1"/>
                          </a:solidFill>
                        </a:rPr>
                        <a:t>1</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Disaster management and adaptation</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Risk reduction and prevention</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£20.5bn | 6</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4.5</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bg1"/>
                          </a:solidFill>
                        </a:rPr>
                        <a:t>High</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Cleve Hill flood defences (£238.5m) and HARP drought resilience (£120m)</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r h="384048">
                <a:tc>
                  <a:txBody>
                    <a:bodyPr/>
                    <a:lstStyle/>
                    <a:p>
                      <a:pPr algn="ctr" indent="0" marL="0">
                        <a:buNone/>
                      </a:pPr>
                      <a:r>
                        <a:rPr lang="en-US" sz="1100" dirty="0">
                          <a:solidFill>
                            <a:schemeClr val="tx1"/>
                          </a:solidFill>
                        </a:rPr>
                        <a:t>2</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Urban development and infrastructure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Land-use change and habitat protection</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£15.4bn | 5</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4.2</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bg1"/>
                          </a:solidFill>
                        </a:rPr>
                        <a:t>High</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Project-level BNG of 10% (HARP) and 65% (Cleve Hill); Projects for Nature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r h="384048">
                <a:tc>
                  <a:txBody>
                    <a:bodyPr/>
                    <a:lstStyle/>
                    <a:p>
                      <a:pPr algn="ctr" indent="0" marL="0">
                        <a:buNone/>
                      </a:pPr>
                      <a:r>
                        <a:rPr lang="en-US" sz="1100" dirty="0">
                          <a:solidFill>
                            <a:schemeClr val="tx1"/>
                          </a:solidFill>
                        </a:rPr>
                        <a:t>3</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Water</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Water availability</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£2.2bn | 3</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4.0</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bg1"/>
                          </a:solidFill>
                        </a:rPr>
                        <a:t>High</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1"/>
                    </a:solidFill>
                  </a:tcPr>
                </a:tc>
                <a:tc>
                  <a:txBody>
                    <a:bodyPr/>
                    <a:lstStyle/>
                    <a:p>
                      <a:pPr indent="0" marL="0">
                        <a:buNone/>
                      </a:pPr>
                      <a:r>
                        <a:rPr lang="en-US" sz="1100" dirty="0">
                          <a:solidFill>
                            <a:schemeClr val="tx1"/>
                          </a:solidFill>
                        </a:rPr>
                        <a:t>£120m Scottish Widows debt to the £3bn Haweswater Aqueduct</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r h="384048">
                <a:tc>
                  <a:txBody>
                    <a:bodyPr/>
                    <a:lstStyle/>
                    <a:p>
                      <a:pPr algn="ctr" indent="0" marL="0">
                        <a:buNone/>
                      </a:pPr>
                      <a:r>
                        <a:rPr lang="en-US" sz="1100" dirty="0">
                          <a:solidFill>
                            <a:schemeClr val="tx1"/>
                          </a:solidFill>
                        </a:rPr>
                        <a:t>4</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Agriculture, forestry and fisheries</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Sustainable agriculture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£5.0bn | 2</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3.9</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Medium</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Soil Association Exchange: 685 farms assessed; advocates green farm finance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r h="384048">
                <a:tc>
                  <a:txBody>
                    <a:bodyPr/>
                    <a:lstStyle/>
                    <a:p>
                      <a:pPr algn="ctr" indent="0" marL="0">
                        <a:buNone/>
                      </a:pPr>
                      <a:r>
                        <a:rPr lang="en-US" sz="1100" dirty="0">
                          <a:solidFill>
                            <a:schemeClr val="tx1"/>
                          </a:solidFill>
                        </a:rPr>
                        <a:t>5</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Water</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Water quality</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£3.7bn | 5</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3.9</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Medium</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NbS paper: peatland returns £4.62 per £1; wetland case studies</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r h="384048">
                <a:tc>
                  <a:txBody>
                    <a:bodyPr/>
                    <a:lstStyle/>
                    <a:p>
                      <a:pPr algn="ctr" indent="0" marL="0">
                        <a:buNone/>
                      </a:pPr>
                      <a:r>
                        <a:rPr lang="en-US" sz="1100" dirty="0">
                          <a:solidFill>
                            <a:schemeClr val="tx1"/>
                          </a:solidFill>
                        </a:rPr>
                        <a:t>6</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Water</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Water usage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£0.2bn | 4</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3.6</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Medium</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Water efficiency in university fund criteria only</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r h="384048">
                <a:tc>
                  <a:txBody>
                    <a:bodyPr/>
                    <a:lstStyle/>
                    <a:p>
                      <a:pPr algn="ctr" indent="0" marL="0">
                        <a:buNone/>
                      </a:pPr>
                      <a:r>
                        <a:rPr lang="en-US" sz="1100" dirty="0">
                          <a:solidFill>
                            <a:schemeClr val="tx1"/>
                          </a:solidFill>
                        </a:rPr>
                        <a:t>7</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Disaster management and adaptation</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Long-term adaptation and resilience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&lt;£0.1bn | 1</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3.5</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Medium</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£500m university retrofit with heat and flood criteria</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r h="384048">
                <a:tc>
                  <a:txBody>
                    <a:bodyPr/>
                    <a:lstStyle/>
                    <a:p>
                      <a:pPr algn="ctr" indent="0" marL="0">
                        <a:buNone/>
                      </a:pPr>
                      <a:r>
                        <a:rPr lang="en-US" sz="1100" dirty="0">
                          <a:solidFill>
                            <a:schemeClr val="tx1"/>
                          </a:solidFill>
                        </a:rPr>
                        <a:t>8</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Disaster management and adaptation</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Flood mitigation</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 | 0</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3.3</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Medium</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Calls for physical-risk integration in lending; no approach disclosed</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r h="384048">
                <a:tc>
                  <a:txBody>
                    <a:bodyPr/>
                    <a:lstStyle/>
                    <a:p>
                      <a:pPr algn="ctr" indent="0" marL="0">
                        <a:buNone/>
                      </a:pPr>
                      <a:r>
                        <a:rPr lang="en-US" sz="1100" dirty="0">
                          <a:solidFill>
                            <a:schemeClr val="tx1"/>
                          </a:solidFill>
                        </a:rPr>
                        <a:t>9</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accent5"/>
                          </a:solidFill>
                        </a:rPr>
                        <a:t>Urban development and infrastructure</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b="1" dirty="0">
                          <a:solidFill>
                            <a:schemeClr val="tx1"/>
                          </a:solidFill>
                        </a:rPr>
                        <a:t>Nature-positive buildings</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indent="0" marL="0">
                        <a:buNone/>
                      </a:pPr>
                      <a:r>
                        <a:rPr lang="en-US" sz="1100" dirty="0">
                          <a:solidFill>
                            <a:schemeClr val="tx1"/>
                          </a:solidFill>
                        </a:rPr>
                        <a:t>&lt;£0.1bn | 1</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3.1</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c>
                  <a:txBody>
                    <a:bodyPr/>
                    <a:lstStyle/>
                    <a:p>
                      <a:pPr algn="ctr" indent="0" marL="0">
                        <a:buNone/>
                      </a:pPr>
                      <a:r>
                        <a:rPr lang="en-US" sz="1100" b="1" dirty="0">
                          <a:solidFill>
                            <a:schemeClr val="tx1"/>
                          </a:solidFill>
                        </a:rPr>
                        <a:t>Medium</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Advocates mandatory SuDS; retrofit fund includes habitat creation</a:t>
                      </a:r>
                      <a:endParaRPr lang="en-US" sz="1100" dirty="0"/>
                    </a:p>
                  </a:txBody>
                  <a:tcPr marL="73152" marR="73152" marT="27432" marB="27432" anchor="ctr">
                    <a:lnL w="9525" cap="flat" cmpd="sng" algn="ctr">
                      <a:solidFill>
                        <a:srgbClr val="D5DDD8"/>
                      </a:solidFill>
                      <a:prstDash val="solid"/>
                      <a:round/>
                      <a:headEnd type="none" w="med" len="med"/>
                      <a:tailEnd type="none" w="med" len="med"/>
                    </a:lnL>
                    <a:lnR w="9525" cap="flat" cmpd="sng" algn="ctr">
                      <a:solidFill>
                        <a:srgbClr val="D5DDD8"/>
                      </a:solidFill>
                      <a:prstDash val="solid"/>
                      <a:round/>
                      <a:headEnd type="none" w="med" len="med"/>
                      <a:tailEnd type="none" w="med" len="med"/>
                    </a:lnR>
                    <a:lnT w="9525" cap="flat" cmpd="sng" algn="ctr">
                      <a:solidFill>
                        <a:srgbClr val="D5DDD8"/>
                      </a:solidFill>
                      <a:prstDash val="solid"/>
                      <a:round/>
                      <a:headEnd type="none" w="med" len="med"/>
                      <a:tailEnd type="none" w="med" len="med"/>
                    </a:lnT>
                    <a:lnB w="9525" cap="flat" cmpd="sng" algn="ctr">
                      <a:solidFill>
                        <a:srgbClr val="D5DDD8"/>
                      </a:solidFill>
                      <a:prstDash val="solid"/>
                      <a:round/>
                      <a:headEnd type="none" w="med" len="med"/>
                      <a:tailEnd type="none" w="med" len="med"/>
                    </a:lnB>
                  </a:tcPr>
                </a:tc>
              </a:tr>
            </a:tbl>
          </a:graphicData>
        </a:graphic>
      </p:graphicFrame>
      <p:sp>
        <p:nvSpPr>
          <p:cNvPr id="4" name="low-panel"/>
          <p:cNvSpPr/>
          <p:nvPr/>
        </p:nvSpPr>
        <p:spPr>
          <a:xfrm>
            <a:off x="457200" y="5230368"/>
            <a:ext cx="11274552" cy="804672"/>
          </a:xfrm>
          <a:prstGeom prst="roundRect">
            <a:avLst>
              <a:gd name="adj" fmla="val 6818"/>
            </a:avLst>
          </a:prstGeom>
          <a:solidFill>
            <a:schemeClr val="bg2"/>
          </a:solidFill>
          <a:ln/>
        </p:spPr>
      </p:sp>
      <p:sp>
        <p:nvSpPr>
          <p:cNvPr id="5" name="low-text"/>
          <p:cNvSpPr txBox="1"/>
          <p:nvPr/>
        </p:nvSpPr>
        <p:spPr>
          <a:xfrm>
            <a:off x="640080" y="5321808"/>
            <a:ext cx="10908792" cy="640080"/>
          </a:xfrm>
          <a:prstGeom prst="rect">
            <a:avLst/>
          </a:prstGeom>
          <a:noFill/>
          <a:ln/>
        </p:spPr>
        <p:txBody>
          <a:bodyPr wrap="square" lIns="0" tIns="0" rIns="0" bIns="0" rtlCol="0" anchor="ctr"/>
          <a:lstStyle/>
          <a:p>
            <a:pPr indent="0" marL="0">
              <a:buNone/>
            </a:pPr>
            <a:r>
              <a:rPr lang="en-US" sz="1200" b="1" dirty="0">
                <a:solidFill>
                  <a:schemeClr val="accent1"/>
                </a:solidFill>
              </a:rPr>
              <a:t>Low priority (score &lt; 3.0): </a:t>
            </a:r>
            <a:pPr indent="0" marL="0">
              <a:buNone/>
            </a:pPr>
            <a:r>
              <a:rPr lang="en-US" sz="1200" dirty="0">
                <a:solidFill>
                  <a:schemeClr val="tx1"/>
                </a:solidFill>
              </a:rPr>
              <a:t>Green-blue infrastructure 2.8  |  Sustainable forestry 2.5  |  Air and noise pollution 2.2  |  Waste and circular economy 1.6  |  Sustainable fisheries 1.3  |  Sustainable packaging 1.3. </a:t>
            </a:r>
            <a:pPr indent="0" marL="0">
              <a:buNone/>
            </a:pPr>
            <a:r>
              <a:rPr lang="en-US" sz="1200" i="1" dirty="0">
                <a:solidFill>
                  <a:schemeClr val="accent5"/>
                </a:solidFill>
              </a:rPr>
              <a:t>Low scores mainly reflect no LBG evidence in the sources reviewed; confidence is low for 7 of 15 sub-themes.</a:t>
            </a:r>
            <a:endParaRPr lang="en-US" sz="1200" dirty="0"/>
          </a:p>
        </p:txBody>
      </p:sp>
      <p:sp>
        <p:nvSpPr>
          <p:cNvPr id="6" name="Text 0"/>
          <p:cNvSpPr/>
          <p:nvPr>
            <p:ph idx="101" type="body" hasCustomPrompt="1"/>
          </p:nvPr>
        </p:nvSpPr>
        <p:spPr>
          <a:xfrm>
            <a:off x="457200" y="6236208"/>
            <a:ext cx="10607040" cy="457200"/>
          </a:xfrm>
          <a:prstGeom prst="rect">
            <a:avLst/>
          </a:prstGeom>
          <a:noFill/>
          <a:ln/>
        </p:spPr>
        <p:txBody>
          <a:bodyPr wrap="square" lIns="0" tIns="0" rIns="0" bIns="0" rtlCol="0" anchor="t"/>
          <a:lstStyle/>
          <a:p>
            <a:pPr indent="0" marL="0">
              <a:buNone/>
            </a:pPr>
            <a:r>
              <a:rPr lang="en-US" sz="900" dirty="0">
                <a:solidFill>
                  <a:schemeClr val="accent5"/>
                </a:solidFill>
              </a:rPr>
              <a:t>Score = weighted average (1–5): materiality to LBG 30%, action gap 25%, NBSAP emphasis 20%, regulatory and market momentum 15%, market opportunity 10%. UK NBSAP £ | no. = value and number of UK commitments in the EY NBSAP Nature Sizing workbook, assigned by sub-market (indicative; timeframes vary). Full scoring, evidence and rationale in LBG_UK_NBSAP_Mapping.xlsx. Sources: SRC-01, SRC-02, SRC-03.</a:t>
            </a:r>
            <a:endParaRPr lang="en-US" sz="900" dirty="0"/>
          </a:p>
        </p:txBody>
      </p:sp>
      <p:sp>
        <p:nvSpPr>
          <p:cNvPr id="25" name="Slide Number Placeholder 0"/>
          <p:cNvSpPr>
            <a:spLocks noGrp="1"/>
          </p:cNvSpPr>
          <p:nvPr>
            <p:ph type="sldNum" sz="quarter" idx="4294967295"/>
          </p:nvPr>
        </p:nvSpPr>
        <p:spPr>
          <a:xfrm>
            <a:off x="1133856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77240"/>
          </a:xfrm>
          <a:prstGeom prst="rect">
            <a:avLst/>
          </a:prstGeom>
          <a:noFill/>
          <a:ln/>
        </p:spPr>
        <p:txBody>
          <a:bodyPr wrap="square" lIns="0" tIns="0" rIns="0" bIns="0" rtlCol="0" anchor="t"/>
          <a:lstStyle/>
          <a:p>
            <a:pPr algn="l" indent="0" marL="0">
              <a:buNone/>
            </a:pPr>
            <a:r>
              <a:rPr lang="en-US" sz="2400" b="1" dirty="0">
                <a:solidFill>
                  <a:schemeClr val="tx2"/>
                </a:solidFill>
              </a:rPr>
              <a:t>EY could help LBG turn its nature and resilience narrative into portfolio-level action</a:t>
            </a:r>
            <a:endParaRPr lang="en-US" sz="2400" dirty="0"/>
          </a:p>
        </p:txBody>
      </p:sp>
      <p:sp>
        <p:nvSpPr>
          <p:cNvPr id="3" name="card-1"/>
          <p:cNvSpPr/>
          <p:nvPr/>
        </p:nvSpPr>
        <p:spPr>
          <a:xfrm>
            <a:off x="457200" y="1188720"/>
            <a:ext cx="2670048" cy="3429000"/>
          </a:xfrm>
          <a:prstGeom prst="roundRect">
            <a:avLst>
              <a:gd name="adj" fmla="val 2740"/>
            </a:avLst>
          </a:prstGeom>
          <a:solidFill>
            <a:schemeClr val="bg2"/>
          </a:solidFill>
          <a:ln/>
        </p:spPr>
      </p:sp>
      <p:sp>
        <p:nvSpPr>
          <p:cNvPr id="4" name="card-num-bg-1"/>
          <p:cNvSpPr/>
          <p:nvPr/>
        </p:nvSpPr>
        <p:spPr>
          <a:xfrm>
            <a:off x="640080" y="1371600"/>
            <a:ext cx="457200" cy="457200"/>
          </a:xfrm>
          <a:prstGeom prst="ellipse">
            <a:avLst/>
          </a:prstGeom>
          <a:solidFill>
            <a:schemeClr val="accent1"/>
          </a:solidFill>
          <a:ln/>
        </p:spPr>
      </p:sp>
      <p:sp>
        <p:nvSpPr>
          <p:cNvPr id="5" name="card-num-1"/>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card-head-1"/>
          <p:cNvSpPr txBox="1"/>
          <p:nvPr/>
        </p:nvSpPr>
        <p:spPr>
          <a:xfrm>
            <a:off x="1207008" y="1344168"/>
            <a:ext cx="1801368" cy="566928"/>
          </a:xfrm>
          <a:prstGeom prst="rect">
            <a:avLst/>
          </a:prstGeom>
          <a:noFill/>
          <a:ln/>
        </p:spPr>
        <p:txBody>
          <a:bodyPr wrap="square" lIns="0" tIns="0" rIns="0" bIns="0" rtlCol="0" anchor="t"/>
          <a:lstStyle/>
          <a:p>
            <a:pPr indent="0" marL="0">
              <a:buNone/>
            </a:pPr>
            <a:r>
              <a:rPr lang="en-US" sz="1400" b="1" dirty="0">
                <a:solidFill>
                  <a:schemeClr val="accent1"/>
                </a:solidFill>
              </a:rPr>
              <a:t>Flood and drought risk reduction</a:t>
            </a:r>
            <a:endParaRPr lang="en-US" sz="1400" dirty="0"/>
          </a:p>
          <a:p>
            <a:pPr indent="0" marL="0">
              <a:buNone/>
            </a:pPr>
            <a:r>
              <a:rPr lang="en-US" sz="1100" dirty="0">
                <a:solidFill>
                  <a:schemeClr val="accent5"/>
                </a:solidFill>
              </a:rPr>
              <a:t>Score 4.5</a:t>
            </a:r>
            <a:endParaRPr lang="en-US" sz="1400" dirty="0"/>
          </a:p>
        </p:txBody>
      </p:sp>
      <p:sp>
        <p:nvSpPr>
          <p:cNvPr id="7" name="card-body-1"/>
          <p:cNvSpPr txBox="1"/>
          <p:nvPr/>
        </p:nvSpPr>
        <p:spPr>
          <a:xfrm>
            <a:off x="640080" y="2057400"/>
            <a:ext cx="2304288" cy="2468880"/>
          </a:xfrm>
          <a:prstGeom prst="rect">
            <a:avLst/>
          </a:prstGeom>
          <a:noFill/>
          <a:ln/>
        </p:spPr>
        <p:txBody>
          <a:bodyPr wrap="square" lIns="0" tIns="0" rIns="0" bIns="0" rtlCol="0" anchor="t"/>
          <a:lstStyle/>
          <a:p>
            <a:pPr indent="0" marL="0">
              <a:buNone/>
            </a:pPr>
            <a:r>
              <a:rPr lang="en-US" sz="1100" b="1" dirty="0">
                <a:solidFill>
                  <a:schemeClr val="accent2"/>
                </a:solidFill>
              </a:rPr>
              <a:t>What the public evidence shows</a:t>
            </a:r>
            <a:endParaRPr lang="en-US" sz="1100" dirty="0"/>
          </a:p>
          <a:p>
            <a:pPr indent="0" marL="0">
              <a:spcAft>
                <a:spcPts val="700"/>
              </a:spcAft>
              <a:buNone/>
            </a:pPr>
            <a:r>
              <a:rPr lang="en-US" sz="1200" dirty="0">
                <a:solidFill>
                  <a:schemeClr val="tx1"/>
                </a:solidFill>
              </a:rPr>
              <a:t>Resilience built into deal structures (Cleve Hill, HARP); PRA SS5/25 raises physical-risk expectations.</a:t>
            </a:r>
            <a:endParaRPr lang="en-US" sz="1100" dirty="0"/>
          </a:p>
          <a:p>
            <a:pPr indent="0" marL="0">
              <a:buNone/>
            </a:pPr>
            <a:r>
              <a:rPr lang="en-US" sz="1100" b="1" dirty="0">
                <a:solidFill>
                  <a:schemeClr val="accent2"/>
                </a:solidFill>
              </a:rPr>
              <a:t>How EY could support</a:t>
            </a:r>
            <a:endParaRPr lang="en-US" sz="1100" dirty="0"/>
          </a:p>
          <a:p>
            <a:pPr indent="0" marL="0">
              <a:spcAft>
                <a:spcPts val="700"/>
              </a:spcAft>
              <a:buNone/>
            </a:pPr>
            <a:r>
              <a:rPr lang="en-US" sz="1200" dirty="0">
                <a:solidFill>
                  <a:schemeClr val="tx1"/>
                </a:solidFill>
              </a:rPr>
              <a:t>Nature and physical-risk assessment of the lending book; resilience finance eligibility criteria.</a:t>
            </a:r>
            <a:endParaRPr lang="en-US" sz="1100" dirty="0"/>
          </a:p>
          <a:p>
            <a:pPr indent="0" marL="0">
              <a:buNone/>
            </a:pPr>
            <a:r>
              <a:rPr lang="en-US" sz="1100" b="1" dirty="0">
                <a:solidFill>
                  <a:schemeClr val="accent2"/>
                </a:solidFill>
              </a:rPr>
              <a:t>Indicative output</a:t>
            </a:r>
            <a:endParaRPr lang="en-US" sz="1100" dirty="0"/>
          </a:p>
          <a:p>
            <a:pPr indent="0" marL="0">
              <a:spcAft>
                <a:spcPts val="700"/>
              </a:spcAft>
              <a:buNone/>
            </a:pPr>
            <a:r>
              <a:rPr lang="en-US" sz="1200" dirty="0">
                <a:solidFill>
                  <a:schemeClr val="tx1"/>
                </a:solidFill>
              </a:rPr>
              <a:t>Portfolio risk heatmap; resilience finance criteria</a:t>
            </a:r>
            <a:endParaRPr lang="en-US" sz="1100" dirty="0"/>
          </a:p>
        </p:txBody>
      </p:sp>
      <p:sp>
        <p:nvSpPr>
          <p:cNvPr id="8" name="card-2"/>
          <p:cNvSpPr/>
          <p:nvPr/>
        </p:nvSpPr>
        <p:spPr>
          <a:xfrm>
            <a:off x="3325673" y="1188720"/>
            <a:ext cx="2670048" cy="3429000"/>
          </a:xfrm>
          <a:prstGeom prst="roundRect">
            <a:avLst>
              <a:gd name="adj" fmla="val 2740"/>
            </a:avLst>
          </a:prstGeom>
          <a:solidFill>
            <a:schemeClr val="bg2"/>
          </a:solidFill>
          <a:ln/>
        </p:spPr>
      </p:sp>
      <p:sp>
        <p:nvSpPr>
          <p:cNvPr id="9" name="card-num-bg-2"/>
          <p:cNvSpPr/>
          <p:nvPr/>
        </p:nvSpPr>
        <p:spPr>
          <a:xfrm>
            <a:off x="3508553" y="1371600"/>
            <a:ext cx="457200" cy="457200"/>
          </a:xfrm>
          <a:prstGeom prst="ellipse">
            <a:avLst/>
          </a:prstGeom>
          <a:solidFill>
            <a:schemeClr val="accent1"/>
          </a:solidFill>
          <a:ln/>
        </p:spPr>
      </p:sp>
      <p:sp>
        <p:nvSpPr>
          <p:cNvPr id="10" name="card-num-2"/>
          <p:cNvSpPr txBox="1"/>
          <p:nvPr/>
        </p:nvSpPr>
        <p:spPr>
          <a:xfrm>
            <a:off x="3508553"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card-head-2"/>
          <p:cNvSpPr txBox="1"/>
          <p:nvPr/>
        </p:nvSpPr>
        <p:spPr>
          <a:xfrm>
            <a:off x="4075481" y="1344168"/>
            <a:ext cx="1801368" cy="566928"/>
          </a:xfrm>
          <a:prstGeom prst="rect">
            <a:avLst/>
          </a:prstGeom>
          <a:noFill/>
          <a:ln/>
        </p:spPr>
        <p:txBody>
          <a:bodyPr wrap="square" lIns="0" tIns="0" rIns="0" bIns="0" rtlCol="0" anchor="t"/>
          <a:lstStyle/>
          <a:p>
            <a:pPr indent="0" marL="0">
              <a:buNone/>
            </a:pPr>
            <a:r>
              <a:rPr lang="en-US" sz="1400" b="1" dirty="0">
                <a:solidFill>
                  <a:schemeClr val="accent1"/>
                </a:solidFill>
              </a:rPr>
              <a:t>Habitat protection and BNG</a:t>
            </a:r>
            <a:endParaRPr lang="en-US" sz="1400" dirty="0"/>
          </a:p>
          <a:p>
            <a:pPr indent="0" marL="0">
              <a:buNone/>
            </a:pPr>
            <a:r>
              <a:rPr lang="en-US" sz="1100" dirty="0">
                <a:solidFill>
                  <a:schemeClr val="accent5"/>
                </a:solidFill>
              </a:rPr>
              <a:t>Score 4.2</a:t>
            </a:r>
            <a:endParaRPr lang="en-US" sz="1400" dirty="0"/>
          </a:p>
        </p:txBody>
      </p:sp>
      <p:sp>
        <p:nvSpPr>
          <p:cNvPr id="12" name="card-body-2"/>
          <p:cNvSpPr txBox="1"/>
          <p:nvPr/>
        </p:nvSpPr>
        <p:spPr>
          <a:xfrm>
            <a:off x="3508553" y="2057400"/>
            <a:ext cx="2304288" cy="2468880"/>
          </a:xfrm>
          <a:prstGeom prst="rect">
            <a:avLst/>
          </a:prstGeom>
          <a:noFill/>
          <a:ln/>
        </p:spPr>
        <p:txBody>
          <a:bodyPr wrap="square" lIns="0" tIns="0" rIns="0" bIns="0" rtlCol="0" anchor="t"/>
          <a:lstStyle/>
          <a:p>
            <a:pPr indent="0" marL="0">
              <a:buNone/>
            </a:pPr>
            <a:r>
              <a:rPr lang="en-US" sz="1100" b="1" dirty="0">
                <a:solidFill>
                  <a:schemeClr val="accent2"/>
                </a:solidFill>
              </a:rPr>
              <a:t>What the public evidence shows</a:t>
            </a:r>
            <a:endParaRPr lang="en-US" sz="1100" dirty="0"/>
          </a:p>
          <a:p>
            <a:pPr indent="0" marL="0">
              <a:spcAft>
                <a:spcPts val="700"/>
              </a:spcAft>
              <a:buNone/>
            </a:pPr>
            <a:r>
              <a:rPr lang="en-US" sz="1200" dirty="0">
                <a:solidFill>
                  <a:schemeClr val="tx1"/>
                </a:solidFill>
              </a:rPr>
              <a:t>BNG delivered at project level (10–65%); Nature Markets Framework targets £1bn a year.</a:t>
            </a:r>
            <a:endParaRPr lang="en-US" sz="1100" dirty="0"/>
          </a:p>
          <a:p>
            <a:pPr indent="0" marL="0">
              <a:buNone/>
            </a:pPr>
            <a:r>
              <a:rPr lang="en-US" sz="1100" b="1" dirty="0">
                <a:solidFill>
                  <a:schemeClr val="accent2"/>
                </a:solidFill>
              </a:rPr>
              <a:t>How EY could support</a:t>
            </a:r>
            <a:endParaRPr lang="en-US" sz="1100" dirty="0"/>
          </a:p>
          <a:p>
            <a:pPr indent="0" marL="0">
              <a:spcAft>
                <a:spcPts val="700"/>
              </a:spcAft>
              <a:buNone/>
            </a:pPr>
            <a:r>
              <a:rPr lang="en-US" sz="1200" dirty="0">
                <a:solidFill>
                  <a:schemeClr val="tx1"/>
                </a:solidFill>
              </a:rPr>
              <a:t>Nature markets and BNG strategy; due diligence on nature outcomes in financed projects.</a:t>
            </a:r>
            <a:endParaRPr lang="en-US" sz="1100" dirty="0"/>
          </a:p>
          <a:p>
            <a:pPr indent="0" marL="0">
              <a:buNone/>
            </a:pPr>
            <a:r>
              <a:rPr lang="en-US" sz="1100" b="1" dirty="0">
                <a:solidFill>
                  <a:schemeClr val="accent2"/>
                </a:solidFill>
              </a:rPr>
              <a:t>Indicative output</a:t>
            </a:r>
            <a:endParaRPr lang="en-US" sz="1100" dirty="0"/>
          </a:p>
          <a:p>
            <a:pPr indent="0" marL="0">
              <a:spcAft>
                <a:spcPts val="700"/>
              </a:spcAft>
              <a:buNone/>
            </a:pPr>
            <a:r>
              <a:rPr lang="en-US" sz="1200" dirty="0">
                <a:solidFill>
                  <a:schemeClr val="tx1"/>
                </a:solidFill>
              </a:rPr>
              <a:t>Nature markets options paper; BNG due diligence checklist</a:t>
            </a:r>
            <a:endParaRPr lang="en-US" sz="1100" dirty="0"/>
          </a:p>
        </p:txBody>
      </p:sp>
      <p:sp>
        <p:nvSpPr>
          <p:cNvPr id="13" name="card-3"/>
          <p:cNvSpPr/>
          <p:nvPr/>
        </p:nvSpPr>
        <p:spPr>
          <a:xfrm>
            <a:off x="6194146" y="1188720"/>
            <a:ext cx="2670048" cy="3429000"/>
          </a:xfrm>
          <a:prstGeom prst="roundRect">
            <a:avLst>
              <a:gd name="adj" fmla="val 2740"/>
            </a:avLst>
          </a:prstGeom>
          <a:solidFill>
            <a:schemeClr val="bg2"/>
          </a:solidFill>
          <a:ln/>
        </p:spPr>
      </p:sp>
      <p:sp>
        <p:nvSpPr>
          <p:cNvPr id="14" name="card-num-bg-3"/>
          <p:cNvSpPr/>
          <p:nvPr/>
        </p:nvSpPr>
        <p:spPr>
          <a:xfrm>
            <a:off x="6377026" y="1371600"/>
            <a:ext cx="457200" cy="457200"/>
          </a:xfrm>
          <a:prstGeom prst="ellipse">
            <a:avLst/>
          </a:prstGeom>
          <a:solidFill>
            <a:schemeClr val="accent1"/>
          </a:solidFill>
          <a:ln/>
        </p:spPr>
      </p:sp>
      <p:sp>
        <p:nvSpPr>
          <p:cNvPr id="15" name="card-num-3"/>
          <p:cNvSpPr txBox="1"/>
          <p:nvPr/>
        </p:nvSpPr>
        <p:spPr>
          <a:xfrm>
            <a:off x="6377026"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card-head-3"/>
          <p:cNvSpPr txBox="1"/>
          <p:nvPr/>
        </p:nvSpPr>
        <p:spPr>
          <a:xfrm>
            <a:off x="6943954" y="1344168"/>
            <a:ext cx="1801368" cy="566928"/>
          </a:xfrm>
          <a:prstGeom prst="rect">
            <a:avLst/>
          </a:prstGeom>
          <a:noFill/>
          <a:ln/>
        </p:spPr>
        <p:txBody>
          <a:bodyPr wrap="square" lIns="0" tIns="0" rIns="0" bIns="0" rtlCol="0" anchor="t"/>
          <a:lstStyle/>
          <a:p>
            <a:pPr indent="0" marL="0">
              <a:buNone/>
            </a:pPr>
            <a:r>
              <a:rPr lang="en-US" sz="1400" b="1" dirty="0">
                <a:solidFill>
                  <a:schemeClr val="accent1"/>
                </a:solidFill>
              </a:rPr>
              <a:t>Water availability</a:t>
            </a:r>
            <a:endParaRPr lang="en-US" sz="1400" dirty="0"/>
          </a:p>
          <a:p>
            <a:pPr indent="0" marL="0">
              <a:buNone/>
            </a:pPr>
            <a:r>
              <a:rPr lang="en-US" sz="1100" dirty="0">
                <a:solidFill>
                  <a:schemeClr val="accent5"/>
                </a:solidFill>
              </a:rPr>
              <a:t>Score 4.0</a:t>
            </a:r>
            <a:endParaRPr lang="en-US" sz="1400" dirty="0"/>
          </a:p>
        </p:txBody>
      </p:sp>
      <p:sp>
        <p:nvSpPr>
          <p:cNvPr id="17" name="card-body-3"/>
          <p:cNvSpPr txBox="1"/>
          <p:nvPr/>
        </p:nvSpPr>
        <p:spPr>
          <a:xfrm>
            <a:off x="6377026" y="2057400"/>
            <a:ext cx="2304288" cy="2468880"/>
          </a:xfrm>
          <a:prstGeom prst="rect">
            <a:avLst/>
          </a:prstGeom>
          <a:noFill/>
          <a:ln/>
        </p:spPr>
        <p:txBody>
          <a:bodyPr wrap="square" lIns="0" tIns="0" rIns="0" bIns="0" rtlCol="0" anchor="t"/>
          <a:lstStyle/>
          <a:p>
            <a:pPr indent="0" marL="0">
              <a:buNone/>
            </a:pPr>
            <a:r>
              <a:rPr lang="en-US" sz="1100" b="1" dirty="0">
                <a:solidFill>
                  <a:schemeClr val="accent2"/>
                </a:solidFill>
              </a:rPr>
              <a:t>What the public evidence shows</a:t>
            </a:r>
            <a:endParaRPr lang="en-US" sz="1100" dirty="0"/>
          </a:p>
          <a:p>
            <a:pPr indent="0" marL="0">
              <a:spcAft>
                <a:spcPts val="700"/>
              </a:spcAft>
              <a:buNone/>
            </a:pPr>
            <a:r>
              <a:rPr lang="en-US" sz="1200" dirty="0">
                <a:solidFill>
                  <a:schemeClr val="tx1"/>
                </a:solidFill>
              </a:rPr>
              <a:t>£120m long-term debt to HARP; the 2026 drought highlighted supply risk.</a:t>
            </a:r>
            <a:endParaRPr lang="en-US" sz="1100" dirty="0"/>
          </a:p>
          <a:p>
            <a:pPr indent="0" marL="0">
              <a:buNone/>
            </a:pPr>
            <a:r>
              <a:rPr lang="en-US" sz="1100" b="1" dirty="0">
                <a:solidFill>
                  <a:schemeClr val="accent2"/>
                </a:solidFill>
              </a:rPr>
              <a:t>How EY could support</a:t>
            </a:r>
            <a:endParaRPr lang="en-US" sz="1100" dirty="0"/>
          </a:p>
          <a:p>
            <a:pPr indent="0" marL="0">
              <a:spcAft>
                <a:spcPts val="700"/>
              </a:spcAft>
              <a:buNone/>
            </a:pPr>
            <a:r>
              <a:rPr lang="en-US" sz="1200" dirty="0">
                <a:solidFill>
                  <a:schemeClr val="tx1"/>
                </a:solidFill>
              </a:rPr>
              <a:t>Water investment pipeline analysis using the EY NBSAP sizing tool; sustainability-linked KPI design.</a:t>
            </a:r>
            <a:endParaRPr lang="en-US" sz="1100" dirty="0"/>
          </a:p>
          <a:p>
            <a:pPr indent="0" marL="0">
              <a:buNone/>
            </a:pPr>
            <a:r>
              <a:rPr lang="en-US" sz="1100" b="1" dirty="0">
                <a:solidFill>
                  <a:schemeClr val="accent2"/>
                </a:solidFill>
              </a:rPr>
              <a:t>Indicative output</a:t>
            </a:r>
            <a:endParaRPr lang="en-US" sz="1100" dirty="0"/>
          </a:p>
          <a:p>
            <a:pPr indent="0" marL="0">
              <a:spcAft>
                <a:spcPts val="700"/>
              </a:spcAft>
              <a:buNone/>
            </a:pPr>
            <a:r>
              <a:rPr lang="en-US" sz="1200" dirty="0">
                <a:solidFill>
                  <a:schemeClr val="tx1"/>
                </a:solidFill>
              </a:rPr>
              <a:t>UK water investment pipeline; KPI set</a:t>
            </a:r>
            <a:endParaRPr lang="en-US" sz="1100" dirty="0"/>
          </a:p>
        </p:txBody>
      </p:sp>
      <p:sp>
        <p:nvSpPr>
          <p:cNvPr id="18" name="card-4"/>
          <p:cNvSpPr/>
          <p:nvPr/>
        </p:nvSpPr>
        <p:spPr>
          <a:xfrm>
            <a:off x="9062618" y="1188720"/>
            <a:ext cx="2670048" cy="3429000"/>
          </a:xfrm>
          <a:prstGeom prst="roundRect">
            <a:avLst>
              <a:gd name="adj" fmla="val 2740"/>
            </a:avLst>
          </a:prstGeom>
          <a:solidFill>
            <a:schemeClr val="bg2"/>
          </a:solidFill>
          <a:ln/>
        </p:spPr>
      </p:sp>
      <p:sp>
        <p:nvSpPr>
          <p:cNvPr id="19" name="card-num-bg-4"/>
          <p:cNvSpPr/>
          <p:nvPr/>
        </p:nvSpPr>
        <p:spPr>
          <a:xfrm>
            <a:off x="9245498" y="1371600"/>
            <a:ext cx="457200" cy="457200"/>
          </a:xfrm>
          <a:prstGeom prst="ellipse">
            <a:avLst/>
          </a:prstGeom>
          <a:solidFill>
            <a:schemeClr val="accent1"/>
          </a:solidFill>
          <a:ln/>
        </p:spPr>
      </p:sp>
      <p:sp>
        <p:nvSpPr>
          <p:cNvPr id="20" name="card-num-4"/>
          <p:cNvSpPr txBox="1"/>
          <p:nvPr/>
        </p:nvSpPr>
        <p:spPr>
          <a:xfrm>
            <a:off x="9245498"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card-head-4"/>
          <p:cNvSpPr txBox="1"/>
          <p:nvPr/>
        </p:nvSpPr>
        <p:spPr>
          <a:xfrm>
            <a:off x="9812426" y="1344168"/>
            <a:ext cx="1801368" cy="566928"/>
          </a:xfrm>
          <a:prstGeom prst="rect">
            <a:avLst/>
          </a:prstGeom>
          <a:noFill/>
          <a:ln/>
        </p:spPr>
        <p:txBody>
          <a:bodyPr wrap="square" lIns="0" tIns="0" rIns="0" bIns="0" rtlCol="0" anchor="t"/>
          <a:lstStyle/>
          <a:p>
            <a:pPr indent="0" marL="0">
              <a:buNone/>
            </a:pPr>
            <a:r>
              <a:rPr lang="en-US" sz="1400" b="1" dirty="0">
                <a:solidFill>
                  <a:schemeClr val="accent1"/>
                </a:solidFill>
              </a:rPr>
              <a:t>Sustainable agriculture</a:t>
            </a:r>
            <a:endParaRPr lang="en-US" sz="1400" dirty="0"/>
          </a:p>
          <a:p>
            <a:pPr indent="0" marL="0">
              <a:buNone/>
            </a:pPr>
            <a:r>
              <a:rPr lang="en-US" sz="1100" dirty="0">
                <a:solidFill>
                  <a:schemeClr val="accent5"/>
                </a:solidFill>
              </a:rPr>
              <a:t>Score 3.9</a:t>
            </a:r>
            <a:endParaRPr lang="en-US" sz="1400" dirty="0"/>
          </a:p>
        </p:txBody>
      </p:sp>
      <p:sp>
        <p:nvSpPr>
          <p:cNvPr id="22" name="card-body-4"/>
          <p:cNvSpPr txBox="1"/>
          <p:nvPr/>
        </p:nvSpPr>
        <p:spPr>
          <a:xfrm>
            <a:off x="9245498" y="2057400"/>
            <a:ext cx="2304288" cy="2468880"/>
          </a:xfrm>
          <a:prstGeom prst="rect">
            <a:avLst/>
          </a:prstGeom>
          <a:noFill/>
          <a:ln/>
        </p:spPr>
        <p:txBody>
          <a:bodyPr wrap="square" lIns="0" tIns="0" rIns="0" bIns="0" rtlCol="0" anchor="t"/>
          <a:lstStyle/>
          <a:p>
            <a:pPr indent="0" marL="0">
              <a:buNone/>
            </a:pPr>
            <a:r>
              <a:rPr lang="en-US" sz="1100" b="1" dirty="0">
                <a:solidFill>
                  <a:schemeClr val="accent2"/>
                </a:solidFill>
              </a:rPr>
              <a:t>What the public evidence shows</a:t>
            </a:r>
            <a:endParaRPr lang="en-US" sz="1100" dirty="0"/>
          </a:p>
          <a:p>
            <a:pPr indent="0" marL="0">
              <a:spcAft>
                <a:spcPts val="700"/>
              </a:spcAft>
              <a:buNone/>
            </a:pPr>
            <a:r>
              <a:rPr lang="en-US" sz="1200" dirty="0">
                <a:solidFill>
                  <a:schemeClr val="tx1"/>
                </a:solidFill>
              </a:rPr>
              <a:t>Soil Association Exchange covers 685 farms; LBG calls for green finance to UK farmers.</a:t>
            </a:r>
            <a:endParaRPr lang="en-US" sz="1100" dirty="0"/>
          </a:p>
          <a:p>
            <a:pPr indent="0" marL="0">
              <a:buNone/>
            </a:pPr>
            <a:r>
              <a:rPr lang="en-US" sz="1100" b="1" dirty="0">
                <a:solidFill>
                  <a:schemeClr val="accent2"/>
                </a:solidFill>
              </a:rPr>
              <a:t>How EY could support</a:t>
            </a:r>
            <a:endParaRPr lang="en-US" sz="1100" dirty="0"/>
          </a:p>
          <a:p>
            <a:pPr indent="0" marL="0">
              <a:spcAft>
                <a:spcPts val="700"/>
              </a:spcAft>
              <a:buNone/>
            </a:pPr>
            <a:r>
              <a:rPr lang="en-US" sz="1200" dirty="0">
                <a:solidFill>
                  <a:schemeClr val="tx1"/>
                </a:solidFill>
              </a:rPr>
              <a:t>Scale farm-level data into a portfolio baseline; design nature-positive farm lending products and targets.</a:t>
            </a:r>
            <a:endParaRPr lang="en-US" sz="1100" dirty="0"/>
          </a:p>
          <a:p>
            <a:pPr indent="0" marL="0">
              <a:buNone/>
            </a:pPr>
            <a:r>
              <a:rPr lang="en-US" sz="1100" b="1" dirty="0">
                <a:solidFill>
                  <a:schemeClr val="accent2"/>
                </a:solidFill>
              </a:rPr>
              <a:t>Indicative output</a:t>
            </a:r>
            <a:endParaRPr lang="en-US" sz="1100" dirty="0"/>
          </a:p>
          <a:p>
            <a:pPr indent="0" marL="0">
              <a:spcAft>
                <a:spcPts val="700"/>
              </a:spcAft>
              <a:buNone/>
            </a:pPr>
            <a:r>
              <a:rPr lang="en-US" sz="1200" dirty="0">
                <a:solidFill>
                  <a:schemeClr val="tx1"/>
                </a:solidFill>
              </a:rPr>
              <a:t>Agri portfolio baseline; product concept</a:t>
            </a:r>
            <a:endParaRPr lang="en-US" sz="1100" dirty="0"/>
          </a:p>
        </p:txBody>
      </p:sp>
      <p:sp>
        <p:nvSpPr>
          <p:cNvPr id="23" name="cross-cutting"/>
          <p:cNvSpPr txBox="1"/>
          <p:nvPr/>
        </p:nvSpPr>
        <p:spPr>
          <a:xfrm>
            <a:off x="457200" y="4800600"/>
            <a:ext cx="11274552" cy="274320"/>
          </a:xfrm>
          <a:prstGeom prst="rect">
            <a:avLst/>
          </a:prstGeom>
          <a:noFill/>
          <a:ln/>
        </p:spPr>
        <p:txBody>
          <a:bodyPr wrap="square" lIns="0" tIns="0" rIns="0" bIns="0" rtlCol="0" anchor="t"/>
          <a:lstStyle/>
          <a:p>
            <a:pPr indent="0" marL="0">
              <a:buNone/>
            </a:pPr>
            <a:r>
              <a:rPr lang="en-US" sz="1300" b="1" dirty="0">
                <a:solidFill>
                  <a:schemeClr val="accent1"/>
                </a:solidFill>
              </a:rPr>
              <a:t>Across all four: </a:t>
            </a:r>
            <a:pPr indent="0" marL="0">
              <a:buNone/>
            </a:pPr>
            <a:r>
              <a:rPr lang="en-US" sz="1300" dirty="0">
                <a:solidFill>
                  <a:schemeClr val="tx1"/>
                </a:solidFill>
              </a:rPr>
              <a:t>TNFD-aligned disclosure readiness, nature metrics and target setting.</a:t>
            </a:r>
            <a:endParaRPr lang="en-US" sz="1300" dirty="0"/>
          </a:p>
        </p:txBody>
      </p:sp>
      <p:sp>
        <p:nvSpPr>
          <p:cNvPr id="24" name="next-steps-panel"/>
          <p:cNvSpPr/>
          <p:nvPr/>
        </p:nvSpPr>
        <p:spPr>
          <a:xfrm>
            <a:off x="457200" y="5212080"/>
            <a:ext cx="11274552" cy="822960"/>
          </a:xfrm>
          <a:prstGeom prst="roundRect">
            <a:avLst>
              <a:gd name="adj" fmla="val 6667"/>
            </a:avLst>
          </a:prstGeom>
          <a:solidFill>
            <a:schemeClr val="accent1"/>
          </a:solidFill>
          <a:ln/>
        </p:spPr>
      </p:sp>
      <p:sp>
        <p:nvSpPr>
          <p:cNvPr id="25" name="next-steps"/>
          <p:cNvSpPr txBox="1"/>
          <p:nvPr/>
        </p:nvSpPr>
        <p:spPr>
          <a:xfrm>
            <a:off x="685800" y="5257800"/>
            <a:ext cx="10817352" cy="731520"/>
          </a:xfrm>
          <a:prstGeom prst="rect">
            <a:avLst/>
          </a:prstGeom>
          <a:noFill/>
          <a:ln/>
        </p:spPr>
        <p:txBody>
          <a:bodyPr wrap="square" lIns="0" tIns="0" rIns="0" bIns="0" rtlCol="0" anchor="ctr"/>
          <a:lstStyle/>
          <a:p>
            <a:pPr indent="0" marL="0">
              <a:buNone/>
            </a:pPr>
            <a:r>
              <a:rPr lang="en-US" sz="1300" b="1" dirty="0">
                <a:solidFill>
                  <a:schemeClr val="accent3"/>
                </a:solidFill>
              </a:rPr>
              <a:t>Proposed next steps   </a:t>
            </a:r>
            <a:pPr indent="0" marL="0">
              <a:buNone/>
            </a:pPr>
            <a:r>
              <a:rPr lang="en-US" sz="1300" dirty="0">
                <a:solidFill>
                  <a:schemeClr val="bg1"/>
                </a:solidFill>
              </a:rPr>
              <a:t>1. Validate findings against LBG annual, sustainability and any TNFD disclosures   2. Discovery workshop with LBG sustainability and corporate banking teams   3. Deep dive on nature exposure in agriculture and water lending</a:t>
            </a:r>
            <a:endParaRPr lang="en-US" sz="1300" dirty="0"/>
          </a:p>
        </p:txBody>
      </p:sp>
      <p:sp>
        <p:nvSpPr>
          <p:cNvPr id="26" name="Text 0"/>
          <p:cNvSpPr/>
          <p:nvPr>
            <p:ph idx="101" type="body" hasCustomPrompt="1"/>
          </p:nvPr>
        </p:nvSpPr>
        <p:spPr>
          <a:xfrm>
            <a:off x="457200" y="6236208"/>
            <a:ext cx="10607040" cy="457200"/>
          </a:xfrm>
          <a:prstGeom prst="rect">
            <a:avLst/>
          </a:prstGeom>
          <a:noFill/>
          <a:ln/>
        </p:spPr>
        <p:txBody>
          <a:bodyPr wrap="square" lIns="0" tIns="0" rIns="0" bIns="0" rtlCol="0" anchor="t"/>
          <a:lstStyle/>
          <a:p>
            <a:pPr indent="0" marL="0">
              <a:buNone/>
            </a:pPr>
            <a:r>
              <a:rPr lang="en-US" sz="900" dirty="0">
                <a:solidFill>
                  <a:schemeClr val="accent5"/>
                </a:solidFill>
              </a:rPr>
              <a:t>Support areas are indicative and to be aligned with the EY CCaSS service catalogue. Scores from slide 2. Sources: SRC-01, SRC-02, SRC-03.</a:t>
            </a:r>
            <a:endParaRPr lang="en-US" sz="900" dirty="0"/>
          </a:p>
        </p:txBody>
      </p:sp>
      <p:sp>
        <p:nvSpPr>
          <p:cNvPr id="25" name="Slide Number Placeholder 0"/>
          <p:cNvSpPr>
            <a:spLocks noGrp="1"/>
          </p:cNvSpPr>
          <p:nvPr>
            <p:ph type="sldNum" sz="quarter" idx="4294967295"/>
          </p:nvPr>
        </p:nvSpPr>
        <p:spPr>
          <a:xfrm>
            <a:off x="1133856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Nature Priorities">
  <a:themeElements>
    <a:clrScheme name="Nature Priorities">
      <a:dk1>
        <a:srgbClr val="1E2A24"/>
      </a:dk1>
      <a:lt1>
        <a:srgbClr val="FFFFFF"/>
      </a:lt1>
      <a:dk2>
        <a:srgbClr val="1F4E3D"/>
      </a:dk2>
      <a:lt2>
        <a:srgbClr val="EEF3F0"/>
      </a:lt2>
      <a:accent1>
        <a:srgbClr val="1F4E3D"/>
      </a:accent1>
      <a:accent2>
        <a:srgbClr val="2A7F8F"/>
      </a:accent2>
      <a:accent3>
        <a:srgbClr val="D9A21B"/>
      </a:accent3>
      <a:accent4>
        <a:srgbClr val="9CC3A8"/>
      </a:accent4>
      <a:accent5>
        <a:srgbClr val="5F6B66"/>
      </a:accent5>
      <a:accent6>
        <a:srgbClr val="D5DDD8"/>
      </a:accent6>
      <a:hlink>
        <a:srgbClr val="2A7F8F"/>
      </a:hlink>
      <a:folHlink>
        <a:srgbClr val="5F6B66"/>
      </a:folHlink>
    </a:clrScheme>
    <a:fontScheme name="Nature Priorit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LBG UK nature priorities – proof of concept</dc:title>
  <dc:subject>PptxGenJS Presentation</dc:subject>
  <dc:creator>PptxGenJS</dc:creator>
  <cp:lastModifiedBy>PptxGenJS</cp:lastModifiedBy>
  <cp:revision>1</cp:revision>
  <dcterms:created xsi:type="dcterms:W3CDTF">2026-10-07T19:52:26Z</dcterms:created>
  <dcterms:modified xsi:type="dcterms:W3CDTF">2026-10-07T19:52:26Z</dcterms:modified>
</cp:coreProperties>
</file>