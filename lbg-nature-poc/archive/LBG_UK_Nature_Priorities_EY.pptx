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9a4dd670-8bce-5b3c-a783-aa995251fbe9}">
          <p14:sldIdLst>
            <p14:sldId id="256"/>
          </p14:sldIdLst>
        </p14:section>
        <p14:section name="Priorities" id="{923562c4-55bd-cbe2-705d-c1b3d75fb603}">
          <p14:sldIdLst>
            <p14:sldId id="257"/>
          </p14:sldIdLst>
        </p14:section>
        <p14:section name="How EY can assist" id="{4abd7647-31fc-47c8-e6c3-d32057b41a8d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Y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6053328"/>
            <a:ext cx="102412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i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14300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7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LBG's nature exposure and activity align with UK priorities on flood, water and habitat resilience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2618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Executive summary  |  Lloyds Banking Group (LBG) public disclosures mapped to the UK NBSAP (Environmental Improvement Plan 2025)</a:t>
            </a:r>
            <a:endParaRPr lang="en-US" sz="1200" dirty="0"/>
          </a:p>
        </p:txBody>
      </p:sp>
      <p:sp>
        <p:nvSpPr>
          <p:cNvPr id="4" name="stat-card-1"/>
          <p:cNvSpPr/>
          <p:nvPr/>
        </p:nvSpPr>
        <p:spPr>
          <a:xfrm>
            <a:off x="457200" y="1737360"/>
            <a:ext cx="3246120" cy="1207008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5" name="stat-value-1"/>
          <p:cNvSpPr txBox="1"/>
          <p:nvPr/>
        </p:nvSpPr>
        <p:spPr>
          <a:xfrm>
            <a:off x="685800" y="18653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</a:rPr>
              <a:t>£60.0bn</a:t>
            </a:r>
            <a:endParaRPr lang="en-US" sz="3200" dirty="0"/>
          </a:p>
        </p:txBody>
      </p:sp>
      <p:sp>
        <p:nvSpPr>
          <p:cNvPr id="6" name="stat-label-1"/>
          <p:cNvSpPr txBox="1"/>
          <p:nvPr/>
        </p:nvSpPr>
        <p:spPr>
          <a:xfrm>
            <a:off x="685800" y="24505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LBG exposure to nature priority sectors (9.3% of Group, Dec 2025)</a:t>
            </a:r>
            <a:endParaRPr lang="en-US" sz="1100" dirty="0"/>
          </a:p>
        </p:txBody>
      </p:sp>
      <p:sp>
        <p:nvSpPr>
          <p:cNvPr id="7" name="stat-card-2"/>
          <p:cNvSpPr/>
          <p:nvPr/>
        </p:nvSpPr>
        <p:spPr>
          <a:xfrm>
            <a:off x="457200" y="3108960"/>
            <a:ext cx="3246120" cy="1207008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8" name="stat-value-2"/>
          <p:cNvSpPr txBox="1"/>
          <p:nvPr/>
        </p:nvSpPr>
        <p:spPr>
          <a:xfrm>
            <a:off x="685800" y="32369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</a:rPr>
              <a:t>4 of 15</a:t>
            </a:r>
            <a:endParaRPr lang="en-US" sz="3200" dirty="0"/>
          </a:p>
        </p:txBody>
      </p:sp>
      <p:sp>
        <p:nvSpPr>
          <p:cNvPr id="9" name="stat-label-2"/>
          <p:cNvSpPr txBox="1"/>
          <p:nvPr/>
        </p:nvSpPr>
        <p:spPr>
          <a:xfrm>
            <a:off x="685800" y="38221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UK NBSAP sub-themes scored High priority for LBG</a:t>
            </a:r>
            <a:endParaRPr lang="en-US" sz="1100" dirty="0"/>
          </a:p>
        </p:txBody>
      </p:sp>
      <p:sp>
        <p:nvSpPr>
          <p:cNvPr id="10" name="stat-card-3"/>
          <p:cNvSpPr/>
          <p:nvPr/>
        </p:nvSpPr>
        <p:spPr>
          <a:xfrm>
            <a:off x="457200" y="4480560"/>
            <a:ext cx="3246120" cy="1207008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11" name="stat-value-3"/>
          <p:cNvSpPr txBox="1"/>
          <p:nvPr/>
        </p:nvSpPr>
        <p:spPr>
          <a:xfrm>
            <a:off x="685800" y="46085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</a:rPr>
              <a:t>£70.9bn</a:t>
            </a:r>
            <a:endParaRPr lang="en-US" sz="3200" dirty="0"/>
          </a:p>
        </p:txBody>
      </p:sp>
      <p:sp>
        <p:nvSpPr>
          <p:cNvPr id="12" name="stat-label-3"/>
          <p:cNvSpPr txBox="1"/>
          <p:nvPr/>
        </p:nvSpPr>
        <p:spPr>
          <a:xfrm>
            <a:off x="685800" y="51937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sustainable finance since 2022, not broken down by nature category</a:t>
            </a:r>
            <a:endParaRPr lang="en-US" sz="1100" dirty="0"/>
          </a:p>
        </p:txBody>
      </p:sp>
      <p:sp>
        <p:nvSpPr>
          <p:cNvPr id="13" name="summary-body"/>
          <p:cNvSpPr txBox="1"/>
          <p:nvPr/>
        </p:nvSpPr>
        <p:spPr>
          <a:xfrm>
            <a:off x="4069080" y="1691640"/>
            <a:ext cx="7662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Context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LBG positions nature-based solutions and resilient infrastructure as investable, citing a £56bn UK nature finance gap and an £11bn annual adaptation gap.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Key findings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Exposure: £60.0bn in nature priority sectors, led by energy and water supply (£12.1bn), agriculture (£6.7bn) and construction (£5.9bn).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Action: nature is an eligible category in the 2025 Sustainable Financing Framework; deals include £120m HARP debt and £238.5m Cleve Hill financing.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Gap: no nature-specific targets or reporting. The agriculture target covers emissions only, and flood exposure of the £365.6bn mortgage book is not disclosed.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Top priorities (score out of 5)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Risk reduction and prevention (4.5), land-use change and habitat protection (4.2), water availability (4.0) and water quality (4.0).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Implication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There is scope to move from eligibility criteria and deal-level outcomes to portfolio-level nature targets, metrics and TNFD-aligned disclosure.</a:t>
            </a:r>
            <a:endParaRPr lang="en-US" sz="1300" dirty="0"/>
          </a:p>
        </p:txBody>
      </p:sp>
      <p:sp>
        <p:nvSpPr>
          <p:cNvPr id="14" name="Text 1"/>
          <p:cNvSpPr/>
          <p:nvPr>
            <p:ph idx="102" type="body" hasCustomPrompt="1"/>
          </p:nvPr>
        </p:nvSpPr>
        <p:spPr>
          <a:xfrm>
            <a:off x="457200" y="6053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</a:rPr>
              <a:t>Based on publicly available information. Sources: LBG Working with nature (2024); Built to Last (2026); Sustainability Data Sheet 2025; Sustainable Financing Framework 2025; EY NBSAP Nature Sizing workbook (UK). Scoring method on page 2.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Flood risk, habitat protection and water score highest; agriculture is the largest nature exposure</a:t>
            </a:r>
            <a:endParaRPr lang="en-US" sz="2600" dirty="0"/>
          </a:p>
        </p:txBody>
      </p:sp>
      <p:graphicFrame>
        <p:nvGraphicFramePr>
          <p:cNvPr id="3" name="prio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14600"/>
                <a:gridCol w="1508760"/>
                <a:gridCol w="1691640"/>
                <a:gridCol w="640080"/>
                <a:gridCol w="777240"/>
                <a:gridCol w="37307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Sub-theme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NBSAP £ | no.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LBG exposure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Key LBG evidence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Risk reduction and prevention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£20.5bn | 6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Not split out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4.5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Cleve Hill (£238.5m) and HARP (£120m) financing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Land-use change and habitat protection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£15.4bn | 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£5.9bn construction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4.2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Project BNG of 10–65%; restoration eligible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Water availability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£2.2bn | 3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In £12.1bn utilities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£120m HARP debt; reservoirs eligible under SFF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Water quality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£3.7bn | 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£12.1bn utilities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Wastewater eligible under SFF; wetland case studies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Sustainable agriculture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£5.0bn | 2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£6.7bn agriculture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3.9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685 farms assessed; regenerative farming eligible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Long-term adaptation and resilience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&lt;£0.1bn | 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Cross-portfolio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£500m university retrofit; NbS eligible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Water usage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£0.2bn | 4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In £12.1bn utilities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3.3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Smart irrigation eligible; own-use water target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Nature-positive buildings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&lt;£0.1bn | 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£26.3bn property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Biodiversity criteria in retrofit fund; SuDS advocacy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Flood mitigation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– | 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£365.6bn mortgages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Flood products eligible; exposure not disclosed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4" name="low-panel"/>
          <p:cNvSpPr/>
          <p:nvPr/>
        </p:nvSpPr>
        <p:spPr>
          <a:xfrm>
            <a:off x="457200" y="5321808"/>
            <a:ext cx="11274552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</p:sp>
      <p:sp>
        <p:nvSpPr>
          <p:cNvPr id="5" name="low-text"/>
          <p:cNvSpPr txBox="1"/>
          <p:nvPr/>
        </p:nvSpPr>
        <p:spPr>
          <a:xfrm>
            <a:off x="640080" y="5358384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Low (below 3.0):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Green-blue infrastructure 2.8  |  Forestry 2.5  |  Waste and circular economy 2.2  |  Air and noise pollution 2.2  |  Packaging 1.9  |  Fisheries 1.3. </a:t>
            </a:r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Agriculture is the largest nature priority exposure but has only two UK NBSAP commitments in the EY workbook.</a:t>
            </a:r>
            <a:endParaRPr lang="en-US" sz="11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457200" y="6053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</a:rPr>
              <a:t>Score = weighted average (1–5): materiality to LBG 30%, action gap 25%, NBSAP emphasis 20%, regulatory and market momentum 15%, market opportunity 10%. NBSAP £ | no. = UK commitments in the EY NBSAP sizing workbook (indicative). LBG exposure at 31 Dec 2025 (Data Sheet tab 18). SFF = Sustainable Financing Framework 2025.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EY could help LBG move from nature eligibility criteria to portfolio-level nature action</a:t>
            </a:r>
            <a:endParaRPr lang="en-US" sz="2600" dirty="0"/>
          </a:p>
        </p:txBody>
      </p:sp>
      <p:sp>
        <p:nvSpPr>
          <p:cNvPr id="3" name="card-1"/>
          <p:cNvSpPr/>
          <p:nvPr/>
        </p:nvSpPr>
        <p:spPr>
          <a:xfrm>
            <a:off x="457200" y="1371600"/>
            <a:ext cx="2670048" cy="3429000"/>
          </a:xfrm>
          <a:prstGeom prst="roundRect">
            <a:avLst>
              <a:gd name="adj" fmla="val 4110"/>
            </a:avLst>
          </a:prstGeom>
          <a:solidFill>
            <a:schemeClr val="accent2"/>
          </a:solidFill>
          <a:ln/>
        </p:spPr>
      </p:sp>
      <p:sp>
        <p:nvSpPr>
          <p:cNvPr id="4" name="card-num-bg-1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card-num-1"/>
          <p:cNvSpPr txBox="1"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ard-head-1"/>
          <p:cNvSpPr txBox="1"/>
          <p:nvPr/>
        </p:nvSpPr>
        <p:spPr>
          <a:xfrm>
            <a:off x="1188720" y="1527048"/>
            <a:ext cx="180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Flood and drought risk reduction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Score 4.5</a:t>
            </a:r>
            <a:endParaRPr lang="en-US" sz="1350" dirty="0"/>
          </a:p>
        </p:txBody>
      </p:sp>
      <p:sp>
        <p:nvSpPr>
          <p:cNvPr id="7" name="card-body-1"/>
          <p:cNvSpPr txBox="1"/>
          <p:nvPr/>
        </p:nvSpPr>
        <p:spPr>
          <a:xfrm>
            <a:off x="640080" y="226771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Resilience built into Cleve Hill and HARP; mortgage flood exposure not disclosed.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Physical and nature-related risk assessment of the lending book; resilience finance criteria.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Portfolio flood and drought heatmap</a:t>
            </a:r>
            <a:endParaRPr lang="en-US" sz="1050" dirty="0"/>
          </a:p>
        </p:txBody>
      </p:sp>
      <p:sp>
        <p:nvSpPr>
          <p:cNvPr id="8" name="card-2"/>
          <p:cNvSpPr/>
          <p:nvPr/>
        </p:nvSpPr>
        <p:spPr>
          <a:xfrm>
            <a:off x="3325673" y="1371600"/>
            <a:ext cx="2670048" cy="3429000"/>
          </a:xfrm>
          <a:prstGeom prst="roundRect">
            <a:avLst>
              <a:gd name="adj" fmla="val 4110"/>
            </a:avLst>
          </a:prstGeom>
          <a:solidFill>
            <a:schemeClr val="accent2"/>
          </a:solidFill>
          <a:ln/>
        </p:spPr>
      </p:sp>
      <p:sp>
        <p:nvSpPr>
          <p:cNvPr id="9" name="card-num-bg-2"/>
          <p:cNvSpPr/>
          <p:nvPr/>
        </p:nvSpPr>
        <p:spPr>
          <a:xfrm>
            <a:off x="3508553" y="155448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card-num-2"/>
          <p:cNvSpPr txBox="1"/>
          <p:nvPr/>
        </p:nvSpPr>
        <p:spPr>
          <a:xfrm>
            <a:off x="3508553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d-head-2"/>
          <p:cNvSpPr txBox="1"/>
          <p:nvPr/>
        </p:nvSpPr>
        <p:spPr>
          <a:xfrm>
            <a:off x="4057193" y="1527048"/>
            <a:ext cx="180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Habitat protection and BNG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Score 4.2</a:t>
            </a:r>
            <a:endParaRPr lang="en-US" sz="1350" dirty="0"/>
          </a:p>
        </p:txBody>
      </p:sp>
      <p:sp>
        <p:nvSpPr>
          <p:cNvPr id="12" name="card-body-2"/>
          <p:cNvSpPr txBox="1"/>
          <p:nvPr/>
        </p:nvSpPr>
        <p:spPr>
          <a:xfrm>
            <a:off x="3508553" y="226771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£5.9bn construction exposure in scope of BNG; BNG delivered project by project (10–65%).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Nature markets and BNG strategy; due diligence on nature outcomes in financed projects.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Nature markets options paper; BNG due diligence checklist</a:t>
            </a:r>
            <a:endParaRPr lang="en-US" sz="1050" dirty="0"/>
          </a:p>
        </p:txBody>
      </p:sp>
      <p:sp>
        <p:nvSpPr>
          <p:cNvPr id="13" name="card-3"/>
          <p:cNvSpPr/>
          <p:nvPr/>
        </p:nvSpPr>
        <p:spPr>
          <a:xfrm>
            <a:off x="6194146" y="1371600"/>
            <a:ext cx="2670048" cy="3429000"/>
          </a:xfrm>
          <a:prstGeom prst="roundRect">
            <a:avLst>
              <a:gd name="adj" fmla="val 4110"/>
            </a:avLst>
          </a:prstGeom>
          <a:solidFill>
            <a:schemeClr val="accent2"/>
          </a:solidFill>
          <a:ln/>
        </p:spPr>
      </p:sp>
      <p:sp>
        <p:nvSpPr>
          <p:cNvPr id="14" name="card-num-bg-3"/>
          <p:cNvSpPr/>
          <p:nvPr/>
        </p:nvSpPr>
        <p:spPr>
          <a:xfrm>
            <a:off x="6377026" y="155448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ard-num-3"/>
          <p:cNvSpPr txBox="1"/>
          <p:nvPr/>
        </p:nvSpPr>
        <p:spPr>
          <a:xfrm>
            <a:off x="637702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ard-head-3"/>
          <p:cNvSpPr txBox="1"/>
          <p:nvPr/>
        </p:nvSpPr>
        <p:spPr>
          <a:xfrm>
            <a:off x="6925666" y="1527048"/>
            <a:ext cx="180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Water availability and quality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Score 4.0</a:t>
            </a:r>
            <a:endParaRPr lang="en-US" sz="1350" dirty="0"/>
          </a:p>
        </p:txBody>
      </p:sp>
      <p:sp>
        <p:nvSpPr>
          <p:cNvPr id="17" name="card-body-3"/>
          <p:cNvSpPr txBox="1"/>
          <p:nvPr/>
        </p:nvSpPr>
        <p:spPr>
          <a:xfrm>
            <a:off x="6377026" y="226771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£12.1bn energy and water supply exposure; £120m HARP debt; water criteria in SFF.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UK water investment pipeline using the EY NBSAP sizing tool; sustainability-linked KPI design.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Water investment pipeline; KPI set</a:t>
            </a:r>
            <a:endParaRPr lang="en-US" sz="1050" dirty="0"/>
          </a:p>
        </p:txBody>
      </p:sp>
      <p:sp>
        <p:nvSpPr>
          <p:cNvPr id="18" name="card-4"/>
          <p:cNvSpPr/>
          <p:nvPr/>
        </p:nvSpPr>
        <p:spPr>
          <a:xfrm>
            <a:off x="9062618" y="1371600"/>
            <a:ext cx="2670048" cy="3429000"/>
          </a:xfrm>
          <a:prstGeom prst="roundRect">
            <a:avLst>
              <a:gd name="adj" fmla="val 4110"/>
            </a:avLst>
          </a:prstGeom>
          <a:solidFill>
            <a:schemeClr val="accent2"/>
          </a:solidFill>
          <a:ln/>
        </p:spPr>
      </p:sp>
      <p:sp>
        <p:nvSpPr>
          <p:cNvPr id="19" name="card-num-bg-4"/>
          <p:cNvSpPr/>
          <p:nvPr/>
        </p:nvSpPr>
        <p:spPr>
          <a:xfrm>
            <a:off x="9245498" y="1554480"/>
            <a:ext cx="41148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card-num-4"/>
          <p:cNvSpPr txBox="1"/>
          <p:nvPr/>
        </p:nvSpPr>
        <p:spPr>
          <a:xfrm>
            <a:off x="924549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card-head-4"/>
          <p:cNvSpPr txBox="1"/>
          <p:nvPr/>
        </p:nvSpPr>
        <p:spPr>
          <a:xfrm>
            <a:off x="9794138" y="1527048"/>
            <a:ext cx="1801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Sustainable agriculture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Score 3.9</a:t>
            </a:r>
            <a:endParaRPr lang="en-US" sz="1350" dirty="0"/>
          </a:p>
        </p:txBody>
      </p:sp>
      <p:sp>
        <p:nvSpPr>
          <p:cNvPr id="22" name="card-body-4"/>
          <p:cNvSpPr txBox="1"/>
          <p:nvPr/>
        </p:nvSpPr>
        <p:spPr>
          <a:xfrm>
            <a:off x="9245498" y="2267712"/>
            <a:ext cx="230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£6.7bn agriculture exposure; 685 farms assessed; target covers emissions only.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Nature baseline for the agriculture book; regenerative farming products and nature targets.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Agriculture nature baseline; product concept</a:t>
            </a:r>
            <a:endParaRPr lang="en-US" sz="1050" dirty="0"/>
          </a:p>
        </p:txBody>
      </p:sp>
      <p:sp>
        <p:nvSpPr>
          <p:cNvPr id="23" name="cross-cutting"/>
          <p:cNvSpPr txBox="1"/>
          <p:nvPr/>
        </p:nvSpPr>
        <p:spPr>
          <a:xfrm>
            <a:off x="457200" y="49194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Across all four: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TNFD-aligned disclosure, nature metrics and target setting, and reporting sustainable finance by nature category.</a:t>
            </a:r>
            <a:endParaRPr lang="en-US" sz="1200" dirty="0"/>
          </a:p>
        </p:txBody>
      </p:sp>
      <p:sp>
        <p:nvSpPr>
          <p:cNvPr id="24" name="next-steps-panel"/>
          <p:cNvSpPr/>
          <p:nvPr/>
        </p:nvSpPr>
        <p:spPr>
          <a:xfrm>
            <a:off x="457200" y="5285232"/>
            <a:ext cx="11274552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25" name="next-steps"/>
          <p:cNvSpPr txBox="1"/>
          <p:nvPr/>
        </p:nvSpPr>
        <p:spPr>
          <a:xfrm>
            <a:off x="658368" y="5321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Proposed next steps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1. Validate against the LBG Sustainability Report 2025   2. Discovery workshop with LBG sustainability, risk and corporate banking teams   3. Deep dive on nature exposure in agriculture and water lending</a:t>
            </a:r>
            <a:endParaRPr lang="en-US" sz="1200" dirty="0"/>
          </a:p>
        </p:txBody>
      </p:sp>
      <p:sp>
        <p:nvSpPr>
          <p:cNvPr id="26" name="Text 1"/>
          <p:cNvSpPr/>
          <p:nvPr>
            <p:ph idx="102" type="body" hasCustomPrompt="1"/>
          </p:nvPr>
        </p:nvSpPr>
        <p:spPr>
          <a:xfrm>
            <a:off x="457200" y="6053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</a:rPr>
              <a:t>Support areas are indicative and to be aligned with the EY CCaSS service catalogue. Scores from page 2.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style (POC)">
  <a:themeElements>
    <a:clrScheme name="EY style (POC)">
      <a:dk1>
        <a:srgbClr val="2E2E38"/>
      </a:dk1>
      <a:lt1>
        <a:srgbClr val="FFFFFF"/>
      </a:lt1>
      <a:dk2>
        <a:srgbClr val="1A1A24"/>
      </a:dk2>
      <a:lt2>
        <a:srgbClr val="C4C4CD"/>
      </a:lt2>
      <a:accent1>
        <a:srgbClr val="FFE600"/>
      </a:accent1>
      <a:accent2>
        <a:srgbClr val="42586F"/>
      </a:accent2>
      <a:accent3>
        <a:srgbClr val="188CE5"/>
      </a:accent3>
      <a:accent4>
        <a:srgbClr val="5F5F68"/>
      </a:accent4>
      <a:accent5>
        <a:srgbClr val="747480"/>
      </a:accent5>
      <a:accent6>
        <a:srgbClr val="373744"/>
      </a:accent6>
      <a:hlink>
        <a:srgbClr val="188CE5"/>
      </a:hlink>
      <a:folHlink>
        <a:srgbClr val="C4C4CD"/>
      </a:folHlink>
    </a:clrScheme>
    <a:fontScheme name="EY style (POC)">
      <a:majorFont>
        <a:latin typeface="EYInterstate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YIntersta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LBG UK nature priorities – proof of concept</dc:title>
  <dc:subject>PptxGenJS Presentation</dc:subject>
  <dc:creator>PptxGenJS</dc:creator>
  <cp:lastModifiedBy>PptxGenJS</cp:lastModifiedBy>
  <cp:revision>1</cp:revision>
  <dcterms:created xsi:type="dcterms:W3CDTF">2026-10-07T20:02:17Z</dcterms:created>
  <dcterms:modified xsi:type="dcterms:W3CDTF">2026-10-07T20:02:17Z</dcterms:modified>
</cp:coreProperties>
</file>