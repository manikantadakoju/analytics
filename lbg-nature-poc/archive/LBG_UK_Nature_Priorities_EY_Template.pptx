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5"/>
  </p:notesMasterIdLst>
  <p:sldIdLst>
    <p:sldId id="1881839119" r:id="rId3"/>
    <p:sldId id="259" r:id="rId4"/>
    <p:sldId id="1881839120" r:id="rId10"/>
    <p:sldId id="18818391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  <Relationship Id="rId10" Type="http://schemas.openxmlformats.org/officeDocument/2006/relationships/slide" Target="slides/slide3.xml"/>
  <Relationship Id="rId11" Type="http://schemas.openxmlformats.org/officeDocument/2006/relationships/slide" Target="slides/slide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C2B1-23C1-4307-B4AD-DAB351667850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F5790-E546-4855-B1FF-519DEAB91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9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LBG, Working with nature (2024), pp.3–14.</a:t>
            </a:r>
          </a:p>
          <a:p>
            <a:r>
              <a:t>LBG, Built to Last (Sep 2026), pp.2–21.</a:t>
            </a:r>
          </a:p>
          <a:p>
            <a:r>
              <a:t>LBG, Sustainability Data Sheet 2025, tabs 15, 18, 20, 23.</a:t>
            </a:r>
          </a:p>
          <a:p>
            <a:r>
              <a:t>LBG, Sustainable Financing Framework 2025, pp.7–17.</a:t>
            </a:r>
          </a:p>
          <a:p>
            <a:r>
              <a:t>EY NBSAP PowerBI Excel (UK rows); LBG_UK_NBSAP_Mapping_v2.xlsx, Scoring tab.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LBG_UK_NBSAP_Mapping_v2.xlsx: Scoring, Rubric, Evidence_Log and NBSAP_Mapping tabs.</a:t>
            </a:r>
          </a:p>
          <a:p>
            <a:r>
              <a:t>LBG, Sustainability Data Sheet 2025, tab 18 (exposure at 31 Dec 2025).</a:t>
            </a:r>
          </a:p>
          <a:p>
            <a:r>
              <a:t>EY NBSAP PowerBI Excel, Market_Examples (GBR) – values indicative; see Data_QA tab.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LBG_UK_NBSAP_Mapping_v2.xlsx, Scoring tab (top four priorities).</a:t>
            </a:r>
          </a:p>
          <a:p>
            <a:r>
              <a:t>Support areas indicative; to be aligned with the EY CCaSS service catalogue.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lurry image of a rainbow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75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 Regular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89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/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/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/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/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0" name="Group 309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311" name="Freeform 310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6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002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47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0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/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/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09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11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89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93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FF3C00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9472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FF00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730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D584E2-E6B2-4A7D-81B0-8FBC634F9BA5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763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693411-32CC-4679-A80D-23B1CD26AF1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24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DB1848-C723-40CA-AAF8-27AE56B8CEF8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99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BE1EA0-7103-4CDC-9A5A-77B17722C81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06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26494D-DA71-43AD-9576-F8B7D241F4F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471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/>
              <a:t>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8C7B00-708E-4E98-B608-05CD6141EFC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39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Introduction text goes here and delete the bullet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/>
              <a:t>Section header goes here and to insert page numbers use the tab button on the keyboard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0FDFFA-E04C-4AED-83E7-8D0E4FB6C33C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647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6" name="SmartArt Placeholder 35"/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7" name="SmartArt Placeholder 35"/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8" name="SmartArt Placeholder 35"/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9" name="SmartArt Placeholder 35"/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5AAF7C1F-4F4E-4041-B532-2ABAEFD071B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62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9DDD0-D032-4344-A085-74FA98C6B8BF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127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61AEE8-B02E-49A3-B84C-3C1728A5CE38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4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218C1317-6CB0-45E7-9E7B-266B22DA9F7F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5" name="SmartArt Placeholder 13"/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832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</p:spPr>
        <p:txBody>
          <a:bodyPr/>
          <a:lstStyle/>
          <a:p>
            <a:fld id="{7204FF08-ACE0-4AA3-B197-D684A68AB0D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8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2" name="SmartArt Placeholder 13"/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127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5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</a:lvl2pPr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/>
          <a:lstStyle/>
          <a:p>
            <a:fld id="{786A0FED-F61E-4244-81E1-9D77C39BCDF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9" name="Logo"/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540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/>
            <p:cNvSpPr/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</p:grpSp>
      <p:sp>
        <p:nvSpPr>
          <p:cNvPr id="1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E6DAB4A4-27C4-4692-AFD5-1E6CE69ADBDA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34979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5" pos="7432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/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F213AF8-FFED-4B53-BA54-1560C121C9F4}" type="slidenum">
              <a:rPr smtClean="0"/>
              <a:t>‹#›</a:t>
            </a:fld>
            <a:endParaRPr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122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1678390" y="6379058"/>
            <a:ext cx="270278" cy="291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314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7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07483" y="719139"/>
            <a:ext cx="3598126" cy="4680594"/>
          </a:xfrm>
          <a:prstGeom prst="rect">
            <a:avLst/>
          </a:prstGeom>
        </p:spPr>
        <p:txBody>
          <a:bodyPr lIns="0" tIns="0" rIns="35981" bIns="0">
            <a:noAutofit/>
          </a:bodyPr>
          <a:lstStyle/>
          <a:p>
            <a:pPr marL="0" marR="0" lvl="0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1199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</a:t>
            </a:r>
            <a:r>
              <a:rPr kumimoji="0" lang="en-GB" sz="999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 | Assurance | Tax | Transactions | Advisory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999" kern="0" noProof="0">
                <a:solidFill>
                  <a:schemeClr val="bg1"/>
                </a:solidFill>
                <a:latin typeface="EYInterstate Light"/>
                <a:ea typeface="+mn-ea"/>
                <a:cs typeface="Arial"/>
              </a:rPr>
              <a:t>About EY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is a global leader in assurance, tax, transaction and advisory services. The insights and quality services we deliver help build trust and confidence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in the capital markets and in economies the world over. We develop outstanding leaders who team to deliver on our promises to all of our stakeholders. In so doing, we play a critical role in building a better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working world for our people, for our clients and for our communities.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For more information about our organization, please visit ey.com.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© 2020 EYGM Limited.</a:t>
            </a:r>
            <a:b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</a:b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All Rights Reserved.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EYG/OC/FEA no.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EY##### (UK) ##/20. CSG London.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ED MMYY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This material has been prepared for general informational purposes only and is not intended to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be relied upon as accounting, tax or other professional advice. Please refer to your advisors for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specific advice.</a:t>
            </a: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ey.com/*******</a:t>
            </a:r>
          </a:p>
        </p:txBody>
      </p:sp>
    </p:spTree>
    <p:extLst>
      <p:ext uri="{BB962C8B-B14F-4D97-AF65-F5344CB8AC3E}">
        <p14:creationId xmlns:p14="http://schemas.microsoft.com/office/powerpoint/2010/main" val="49417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78BE7C29-9BE6-4073-8387-F0C8A984B7CC}" type="slidenum">
              <a:rPr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1586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2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Reimagined and our Transformation Big Bet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CFD7EDB9-8A24-4B09-B23D-9391D0C3431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35060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/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7AB4-795F-4BB5-8C19-C05EFD5A70A1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Unleashing Agents: Extending Copilot To Transform LBG</a:t>
            </a:r>
            <a:endParaRPr lang="en-US"/>
          </a:p>
        </p:txBody>
      </p:sp>
      <p:grpSp>
        <p:nvGrpSpPr>
          <p:cNvPr id="8" name="Logo"/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4E97DA86-E44F-4586-A38A-B30C0F019B38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435851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8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35A17-6E72-5D10-337D-87AD82CF51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8B71BF-2CD6-B365-4402-A8FF831788C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718681-C140-C687-56FE-5B74AAC28F6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F880BD-E431-2A19-D56A-8B37360C1C2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7192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EC877-2F2D-B87F-413C-A62960EC67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00CEB3-70C1-B84B-69F4-47C6239A963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1A4559-3046-DB7C-170D-8B5BA7C0932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32AF557-95D5-C3A7-8762-30EB758F130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8455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E7332-D2DE-8669-0AEC-5A2A6ABEC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9C3B74-7F38-B0AE-8CDD-386F5F93EBD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FAD6BB-BE7F-B979-02B7-6642DECA997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AC9C-4DEF-0172-39AF-392FB46391D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6195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98833-5BF3-BB5E-C3B2-7B705558D0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DC9F8E-6F8C-AF4A-9D84-4AD1502BB51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C135C3-9109-7FAF-7A1E-C1697A8F558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B01A6-453C-E086-340E-1FA1E3E1B1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1512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E3CB0E-CBF5-F5C6-CBEB-87739E77EC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86F64B-08DB-E5D4-B2AA-6649ABAD812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B14B79-79B7-68CD-1151-6FCC77898E6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AE5A-2AFE-71BF-47E0-9339A3B8348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546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EBF90-6B4E-C743-2098-786F67C750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9C1757-8C94-A6AF-A3BA-BBD03B3D52C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6AE5F3-3050-E5BF-9762-F46B3D60EEC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23A643-B30A-6BB1-47DB-C281B542937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2800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4647-A297-6D44-253F-7CB799E419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7FE96-06E1-764F-EF1D-227F096A720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8010C-6DC5-5ED2-865B-9ECC10B1F52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8B4FD0-7989-32A2-2C2D-B98F2CA72ACD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51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6C001-67C6-86C4-D219-6D9FF2EE00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864A79-9397-C095-6A60-037405E9993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A99C1-F5EA-E9BD-DDAD-6B8B04AA2AB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94E93B-1732-5AE8-2F55-692D141C96C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6291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D404D-3B24-C700-DA68-CAC99436C4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AC5912-E51B-95BC-8C66-553238217429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D55CF-CF31-502D-7730-391827138A2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7F457C-720D-E922-F11E-103B461D0764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679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DD5-A107-F05E-1B17-E91A154938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E304F-8F78-3B87-4D90-A4CD04AD740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0ED5AB1-67B1-EB7E-24B6-6CE9AFD2444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218930-F485-F944-970D-2DD7F653BED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67894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C9C312-F6C2-0463-D74A-A17E895A20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07442E-6BC7-A4A5-0BEA-D4E13D6ED37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9A8D832-F8A5-B928-BD29-D49AC2218B7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768C3F-9B6D-90AA-9F71-E2AE10CDE47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40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27FA85-BD8B-B10F-506C-988BB7ED6E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5F022C-3DD7-CE54-3F41-B2A9FD83FDF1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B4BDBD-6FF3-6330-ADF8-EDC185F44AE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E5D71A-BC9C-E69D-9D59-9AA8924027F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2172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E008F-2A59-02D8-4837-99D5AB62729A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939668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9DE20-B99E-1D81-053E-84438CF8E9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28E5B5-50F4-4EAB-B39C-60891A0ADB2A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98CC51-0E72-2BDA-8CF5-1ABDA2CC41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FD4AAE-DE34-CF40-FC0A-1653066FD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18251012-D45B-479F-5EDA-A3F6C1E15D2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CF40346-9E85-4BC4-C5BF-D62BF00300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17D7237-88EE-FA7A-2FB2-EBCB3AACB8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91FDBFF-3F6A-7B38-613C-F3C72FB727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9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609B97E-2DC6-A36D-54FC-92BC09C831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612C65-D267-47C3-B14C-544668977604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FF456FF-F708-52C3-6330-E3E06F1DFC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6FB6E0-FFD6-54F8-9ED2-C25EB31D01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7E9251C7-6ABE-7271-86DD-E6C7EA7C6DD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C2207C1-58B2-00E2-E2CA-5D37F0D8DD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7F1680E-CD67-2A48-5B49-10C8DB5289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D9731E6-5099-75C1-7798-553468FB27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117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2D95-5C58-DAA3-01AB-0FBFF01FCB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76EA68-6CF5-4EA4-9FC2-9728A2DBFD8D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5863-8584-4333-CE32-49F8F8023F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21BD-0A8A-9AC6-5618-F237A9B83A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ACF2ADCF-CA4C-F7DF-0251-1AF30AE7103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21539E2-E30F-90D3-8303-41D62639A64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412BADD-ACBB-8991-0CE3-E84D354088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4800EB6-016B-2DE6-0374-7831F666F8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9758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F5CD6D5B-3D47-CDC7-66FD-22686B08A5F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84B3F94-3D8C-9F6A-5E5F-1A8473AB50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29B739D-2B8A-7A3E-33E6-A9F7F44C12D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CA985E2-C0E4-39C5-A529-B3C8C70A2C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382FA3A-9114-F937-1E2F-D5FE20B5D2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0C2FB6-B2A8-4A47-9971-1365A9F9A995}" type="datetime1">
              <a:rPr lang="en-GB" smtClean="0"/>
              <a:t>07/10/2026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2447BA0-C33B-8115-7DA0-1DCCAC88CA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344103D-B100-2C69-A21C-E8E8DA377D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4577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0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B4856D9-3089-5BDD-B9B9-A4CD079CA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835D5F-695B-4060-8D87-F1B722BA0EB5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015B5A-91DC-F131-BBC1-B7D33250C4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284658-C487-F55F-3BCA-9D45E9EF2D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FAD020ED-EAB5-A1B7-B76E-7DFF25EF272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4E4911-68ED-9138-AE53-28CEFB19627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C0F1ED4F-5BA1-BE72-F1D9-2F9CA8B84F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B80EF99-DCE0-BE24-ACAE-087B6460F3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244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81538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/>
            </a:lvl1pPr>
            <a:lvl2pPr marL="269875" indent="0">
              <a:defRPr sz="1600"/>
            </a:lvl2pPr>
            <a:lvl3pPr marL="269875" indent="0">
              <a:defRPr sz="1600"/>
            </a:lvl3pPr>
            <a:lvl4pPr marL="444500" indent="-174625">
              <a:defRPr sz="1400"/>
            </a:lvl4pPr>
            <a:lvl5pPr marL="628650" indent="-184150">
              <a:defRPr sz="1400"/>
            </a:lvl5pPr>
          </a:lstStyle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5CBB57-69E0-3CF8-D2DF-A316D98FAC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25" y="1412875"/>
            <a:ext cx="5105400" cy="467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38A6C0F-3417-2AC3-E2A2-1AB96B34FB2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AE7CA59-01E8-48A8-925C-55627216BE88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6879B2-C6AD-B223-A2B1-BAFDCB6FDEF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6E9C3A6-279D-9AEE-07E3-9AC4C42133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Logo">
            <a:extLst>
              <a:ext uri="{FF2B5EF4-FFF2-40B4-BE49-F238E27FC236}">
                <a16:creationId xmlns:a16="http://schemas.microsoft.com/office/drawing/2014/main" id="{4E225EF6-8D5E-A943-DA66-FC3EA7A133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9082018-2FBA-4C46-89C5-43A99DBD13C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D0C1103-4336-EC5A-6761-7696EAC980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62F4B6-EBE7-183E-404F-575433B108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29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DE3AA740-B8B1-5B7B-72E0-02E82136943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F05F4CA-B0A1-6571-C05C-6C4D6CFE28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76DA22-E2C3-1EBB-B638-4A3B94A09A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F2A1D68-86C4-1924-BBE4-E55856618F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45EDB25-04F9-FE88-EBA3-C8D5069B719E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6F770517-DE79-4D4B-BA87-91B1A092C62B}" type="datetime1">
              <a:rPr lang="en-GB" smtClean="0"/>
              <a:t>07/10/2026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B626F01-193E-E5DE-6210-10CB0419332B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7EAD6B-75E3-29AF-07AA-7450C4503F3B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360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F66F87-BA60-4C99-D2D4-F29C30FF73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041FA7-5670-4283-BC33-7DF002B3853F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9DE581-7B50-7B6D-A41F-0004A45A7F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500C8D-FE22-A8F5-6FA3-A84F20F019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68C3FCB0-2AC4-7050-3315-30A44447F7C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017B73F-7A76-2CFB-EBE1-2CA6C32D30E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B10704A-A13B-F4BD-C1FA-CD3013CBEB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9CAC502-5DF4-7BBA-74BF-350838343F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609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3A4AEFF-B7E4-C792-7CE0-3AD22D1031F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38AB828-356E-1FDD-C9C8-243989B96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D8F2230-BC31-E11A-1D5C-2A51AD3299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612817D-315D-323F-0F5F-D2B46DFC17E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30CD162-7366-86D1-906A-0A3E367649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67B5D4-2B96-442D-BB5A-781E50E22250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D410F2F-D03F-0D7F-6E11-BE9A31F33A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5A8BB5-D269-4EB5-9DBD-C6A1A7878B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73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47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747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849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747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5CBFB1-2925-E563-7FC5-99F9DE0D484F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B674CEC-8130-44B4-9B0A-E405622BA235}" type="datetime1">
              <a:rPr lang="en-GB" smtClean="0"/>
              <a:t>07/10/2026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A1D37E-2C18-BB63-446A-7AE4AFE8B05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918797-673F-7293-8322-C09E2733B9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485747" y="6390988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Logo">
            <a:extLst>
              <a:ext uri="{FF2B5EF4-FFF2-40B4-BE49-F238E27FC236}">
                <a16:creationId xmlns:a16="http://schemas.microsoft.com/office/drawing/2014/main" id="{8FD6ED4F-A357-F9C3-450F-6EE8FFF1CCB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4F2195B-B3BC-B186-9C2E-42828CC855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4A6CD35-B470-5625-4013-8D14CED22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7A4548F-02F1-00AD-33EC-8C316A1454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04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110AE97-2F65-8BD0-0958-C9D005E058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707DD8-FAC5-47D3-9E7B-471A54BE6893}" type="datetime1">
              <a:rPr lang="en-GB" smtClean="0"/>
              <a:t>07/10/2026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25DA1E8-9A46-959E-19A0-37432BE0DD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46768A-FE38-61DA-72B5-FB5D763D38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61823FF7-52FB-31D4-5A38-3C4EBC3FB5C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999A64-07EE-CBBE-41EF-E2A60CB5E3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221EE00-D369-482F-4E81-65456588AA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799A885-1274-C189-F2A5-A24FAC3DDF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4909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053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2191-0438-8AEC-A789-96532D6A46BF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5536389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1E64A6F5-4ADF-B8E8-CD09-F0D719706B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9ABDBB72-A74A-425B-891A-92D10735032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1E43667-7A35-4A70-8163-C5AEBBCF0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A1C9CAA-3899-41E9-AAC4-FD2A2BD3D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9A34B52-D18D-4F3A-9A44-49CA04427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</p:grp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32458A1-A667-D6C4-02C0-EBD6B1AB7C80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80602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3" orient="horz" pos="3934">
          <p15:clr>
            <a:srgbClr val="F26B43"/>
          </p15:clr>
        </p15:guide>
        <p15:guide id="4" pos="272">
          <p15:clr>
            <a:srgbClr val="F26B43"/>
          </p15:clr>
        </p15:guide>
        <p15:guide id="5" pos="7432">
          <p15:clr>
            <a:srgbClr val="F26B43"/>
          </p15:clr>
        </p15:guide>
        <p15:guide id="6" orient="horz" pos="274">
          <p15:clr>
            <a:srgbClr val="F26B43"/>
          </p15:clr>
        </p15:guide>
        <p15:guide id="7" orient="horz" pos="85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73B6-79DD-4B4F-ACB0-F62259251157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9871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E1598-99D5-72CF-E9B0-613158D21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659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7524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D178608-8F70-46F4-939A-9BC9ECBE70FD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EY.ai for Sustainability Reporting - NY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2691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2620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0675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4300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017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07096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923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8466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0339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6749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3772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3827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3087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528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6390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9430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77702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5236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6573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3853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52292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5197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3125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8007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0417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7220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7914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5211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8962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6190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0336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1278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3247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16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Relationship Id="rId63" Type="http://schemas.openxmlformats.org/officeDocument/2006/relationships/slideLayout" Target="../slideLayouts/slideLayout96.xml"/><Relationship Id="rId68" Type="http://schemas.openxmlformats.org/officeDocument/2006/relationships/image" Target="../media/image15.emf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66" Type="http://schemas.openxmlformats.org/officeDocument/2006/relationships/tags" Target="../tags/tag1.xml"/><Relationship Id="rId5" Type="http://schemas.openxmlformats.org/officeDocument/2006/relationships/slideLayout" Target="../slideLayouts/slideLayout38.xml"/><Relationship Id="rId61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9.xml"/><Relationship Id="rId64" Type="http://schemas.openxmlformats.org/officeDocument/2006/relationships/slideLayout" Target="../slideLayouts/slideLayout97.xml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67" Type="http://schemas.openxmlformats.org/officeDocument/2006/relationships/oleObject" Target="../embeddings/oleObject6.bin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06" imgH="609" progId="TCLayout.ActiveDocument.1">
                  <p:embed/>
                </p:oleObj>
              </mc:Choice>
              <mc:Fallback>
                <p:oleObj name="think-cell Slide" r:id="rId35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2A17138-BB3C-49F6-9250-356F901FCBF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6" name="Group 4" descr="Logo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467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ftr="0" dt="0"/>
  <p:txStyles>
    <p:titleStyle>
      <a:lvl1pPr algn="l" defTabSz="914400" rtl="0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E6C1AFA-E92F-0C9E-DC48-9B6335D2E0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240578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73" imgH="473" progId="TCLayout.ActiveDocument.1">
                  <p:embed/>
                </p:oleObj>
              </mc:Choice>
              <mc:Fallback>
                <p:oleObj name="think-cell Slide" r:id="rId6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6C1AFA-E92F-0C9E-DC48-9B6335D2E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E290D1-43DF-6DA2-6807-81A0EA835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390988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173B4AA1-0FB1-986B-36C1-A5EF26B85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390988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3637FA5-E211-431D-BAE9-7C47D9737975}" type="datetime1">
              <a:rPr lang="en-GB" smtClean="0"/>
              <a:t>07/10/2026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F4B9D0E-19BB-1F6F-43F4-D3F40510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390988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err="1"/>
              <a:t>EY.Ai</a:t>
            </a:r>
            <a:r>
              <a:rPr lang="en-GB"/>
              <a:t> Sustainability Offering</a:t>
            </a:r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92A19011-F13B-61BB-7319-F18841E1AA0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7A9DF9E-FAA6-1B54-7F9C-A8D13BFBF9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7B98982-9E47-CB75-7B1E-562AB72016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C8F8A70-F71F-7AB0-C83D-4C23948AEF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04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42" r:id="rId48"/>
    <p:sldLayoutId id="2147483743" r:id="rId49"/>
    <p:sldLayoutId id="2147483744" r:id="rId50"/>
    <p:sldLayoutId id="2147483745" r:id="rId51"/>
    <p:sldLayoutId id="2147483746" r:id="rId52"/>
    <p:sldLayoutId id="2147483747" r:id="rId53"/>
    <p:sldLayoutId id="2147483748" r:id="rId54"/>
    <p:sldLayoutId id="2147483749" r:id="rId55"/>
    <p:sldLayoutId id="2147483750" r:id="rId56"/>
    <p:sldLayoutId id="2147483751" r:id="rId57"/>
    <p:sldLayoutId id="2147483752" r:id="rId58"/>
    <p:sldLayoutId id="2147483753" r:id="rId59"/>
    <p:sldLayoutId id="2147483754" r:id="rId60"/>
    <p:sldLayoutId id="2147483755" r:id="rId61"/>
    <p:sldLayoutId id="2147483756" r:id="rId62"/>
    <p:sldLayoutId id="2147483757" r:id="rId63"/>
    <p:sldLayoutId id="2147483758" r:id="rId6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82563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541338" indent="-18415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715963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898525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10731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9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BDEF60-2E7F-9E9E-F92D-1DEB4957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69255"/>
            <a:ext cx="4906009" cy="2148552"/>
          </a:xfrm>
        </p:spPr>
        <p:txBody>
          <a:bodyPr/>
          <a:lstStyle/>
          <a:p>
            <a:r>
              <a:rPr lang="en-GB" dirty="0"/>
              <a:t>Nature priorities for Lloyds Banking Group: UK NBSAP proof of concept</a:t>
            </a:r>
            <a:endParaRPr lang="en-GB" b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E701F-B945-4F4B-F65D-1371AA9CC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762" y="4871362"/>
            <a:ext cx="4907628" cy="511939"/>
          </a:xfrm>
        </p:spPr>
        <p:txBody>
          <a:bodyPr/>
          <a:lstStyle/>
          <a:p>
            <a:r>
              <a:rPr lang="en-GB" dirty="0"/>
              <a:t>7</a:t>
            </a:r>
            <a:r>
              <a:rPr lang="en-GB" baseline="30000" dirty="0"/>
              <a:t>th</a:t>
            </a:r>
            <a:r>
              <a:rPr lang="en-GB" dirty="0"/>
              <a:t> October 2026 </a:t>
            </a:r>
          </a:p>
        </p:txBody>
      </p:sp>
    </p:spTree>
    <p:extLst>
      <p:ext uri="{BB962C8B-B14F-4D97-AF65-F5344CB8AC3E}">
        <p14:creationId xmlns:p14="http://schemas.microsoft.com/office/powerpoint/2010/main" val="352189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LBG's nature focus aligns with UK flood, water and habitat priorities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Executive summary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stat-card-1"/>
          <p:cNvSpPr/>
          <p:nvPr/>
        </p:nvSpPr>
        <p:spPr>
          <a:xfrm>
            <a:off x="530352" y="1280160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stat-value-1"/>
          <p:cNvSpPr txBox="1"/>
          <p:nvPr/>
        </p:nvSpPr>
        <p:spPr>
          <a:xfrm>
            <a:off x="758952" y="1444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£60.0bn</a:t>
            </a:r>
            <a:endParaRPr lang="en-US" sz="3200" dirty="0"/>
          </a:p>
        </p:txBody>
      </p:sp>
      <p:sp>
        <p:nvSpPr>
          <p:cNvPr id="1003" name="stat-label-1"/>
          <p:cNvSpPr txBox="1"/>
          <p:nvPr/>
        </p:nvSpPr>
        <p:spPr>
          <a:xfrm>
            <a:off x="758952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LBG exposure to nature priority sectors (9.3% of Group, Dec 2025)</a:t>
            </a:r>
            <a:endParaRPr lang="en-US" sz="1150" dirty="0"/>
          </a:p>
        </p:txBody>
      </p:sp>
      <p:sp>
        <p:nvSpPr>
          <p:cNvPr id="1004" name="stat-card-2"/>
          <p:cNvSpPr/>
          <p:nvPr/>
        </p:nvSpPr>
        <p:spPr>
          <a:xfrm>
            <a:off x="530352" y="2852928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5" name="stat-value-2"/>
          <p:cNvSpPr txBox="1"/>
          <p:nvPr/>
        </p:nvSpPr>
        <p:spPr>
          <a:xfrm>
            <a:off x="758952" y="3017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B183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 of 15</a:t>
            </a:r>
            <a:endParaRPr lang="en-US" sz="3200" dirty="0"/>
          </a:p>
        </p:txBody>
      </p:sp>
      <p:sp>
        <p:nvSpPr>
          <p:cNvPr id="1006" name="stat-label-2"/>
          <p:cNvSpPr txBox="1"/>
          <p:nvPr/>
        </p:nvSpPr>
        <p:spPr>
          <a:xfrm>
            <a:off x="758952" y="3657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UK NBSAP sub-themes scored High priority for LBG</a:t>
            </a:r>
            <a:endParaRPr lang="en-US" sz="1150" dirty="0"/>
          </a:p>
        </p:txBody>
      </p:sp>
      <p:sp>
        <p:nvSpPr>
          <p:cNvPr id="1007" name="stat-card-3"/>
          <p:cNvSpPr/>
          <p:nvPr/>
        </p:nvSpPr>
        <p:spPr>
          <a:xfrm>
            <a:off x="530352" y="4425696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8" name="stat-value-3"/>
          <p:cNvSpPr txBox="1"/>
          <p:nvPr/>
        </p:nvSpPr>
        <p:spPr>
          <a:xfrm>
            <a:off x="758952" y="45902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5D9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£70.9bn</a:t>
            </a:r>
            <a:endParaRPr lang="en-US" sz="3200" dirty="0"/>
          </a:p>
        </p:txBody>
      </p:sp>
      <p:sp>
        <p:nvSpPr>
          <p:cNvPr id="1009" name="stat-label-3"/>
          <p:cNvSpPr txBox="1"/>
          <p:nvPr/>
        </p:nvSpPr>
        <p:spPr>
          <a:xfrm>
            <a:off x="758952" y="5230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sustainable finance since 2022, not broken down by nature category</a:t>
            </a:r>
            <a:endParaRPr lang="en-US" sz="1150" dirty="0"/>
          </a:p>
        </p:txBody>
      </p:sp>
      <p:sp>
        <p:nvSpPr>
          <p:cNvPr id="1010" name="summary-body"/>
          <p:cNvSpPr txBox="1"/>
          <p:nvPr/>
        </p:nvSpPr>
        <p:spPr>
          <a:xfrm>
            <a:off x="4069080" y="123444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Context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LBG positions nature-based solutions and resilient infrastructure as investable, citing a £56bn UK nature finance gap and an £11bn annual adaptation gap.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Key findings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Exposure: £60.0bn in nature priority sectors, led by energy and water supply (£12.1bn), agriculture (£6.7bn) and construction (£5.9bn).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Action: nature is an eligible category in the 2025 Sustainable Financing Framework; deals include £120m HARP debt and £238.5m Cleve Hill financing.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Gap: no nature-specific targets or reporting. The agriculture target covers emissions only, and flood exposure of the £365.6bn mortgage book is not disclosed.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Top priorities (score out of 5)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Risk reduction and prevention (4.5), land-use change and habitat protection (4.2), water availability (4.0) and water quality (4.0).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Implication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There is scope to move from eligibility criteria and deal-level outcomes to portfolio-level nature targets, metrics and TNFD-aligned disclosure.</a:t>
            </a:r>
            <a:endParaRPr lang="en-US" sz="1300" dirty="0"/>
          </a:p>
        </p:txBody>
      </p:sp>
      <p:sp>
        <p:nvSpPr>
          <p:cNvPr id="1011" name="footnote"/>
          <p:cNvSpPr txBox="1"/>
          <p:nvPr/>
        </p:nvSpPr>
        <p:spPr>
          <a:xfrm>
            <a:off x="530352" y="60167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Based on publicly available information. Sources in speaker notes. Scoring method on page 3.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Flood, habitat and water score highest; agriculture is the largest exposure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Nature priorities ranked by score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01" name="prio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188720"/>
          <a:ext cx="10479024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95728"/>
                <a:gridCol w="1325880"/>
                <a:gridCol w="1600200"/>
                <a:gridCol w="566928"/>
                <a:gridCol w="731520"/>
                <a:gridCol w="349300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#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Sub-theme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NBSAP £ | no.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LBG exposure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Score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Tier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Key LBG evidence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1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Risk reduction and prevention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£20.5bn | 6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Not split out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4.5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4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High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Cleve Hill (£238.5m) and HARP (£120m) financing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2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Land-use change and habitat protection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£15.4bn | 5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£5.9bn construction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4.2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4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High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Project BNG of 10–65%; restoration eligible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3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Water availability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£2.2bn | 3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In £12.1bn utilities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4.0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4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High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£120m HARP debt; reservoirs eligible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4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Water quality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£3.7bn | 5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£12.1bn utilities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4.0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4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High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Wastewater eligible (SFF); wetland case studies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5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Sustainable agriculture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£5.0bn | 2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£6.7bn agriculture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3.9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Medium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685 farms assessed; regenerative farming eligible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6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Long-term adaptation and resilience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&lt;£0.1bn | 1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Cross-portfolio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3.5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Medium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£500m university retrofit; NbS eligible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7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Water usage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£0.2bn | 4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In £12.1bn utilities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3.3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Medium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Smart irrigation eligible; own-use water target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8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Nature-positive buildings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&lt;£0.1bn | 1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£26.3bn property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3.1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Medium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Biodiversity criteria in retrofit fund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9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Flood mitigation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– | 0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£365.6bn mortgages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3.0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Medium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Flood products eligible; exposure not disclosed</a:t>
                      </a:r>
                      <a:endParaRPr lang="en-US" sz="11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</a:tbl>
          </a:graphicData>
        </a:graphic>
      </p:graphicFrame>
      <p:sp>
        <p:nvSpPr>
          <p:cNvPr id="1002" name="low-panel"/>
          <p:cNvSpPr/>
          <p:nvPr/>
        </p:nvSpPr>
        <p:spPr>
          <a:xfrm>
            <a:off x="530352" y="5166360"/>
            <a:ext cx="10479024" cy="658368"/>
          </a:xfrm>
          <a:prstGeom prst="roundRect">
            <a:avLst>
              <a:gd name="adj" fmla="val 11111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3" name="low-text"/>
          <p:cNvSpPr txBox="1"/>
          <p:nvPr/>
        </p:nvSpPr>
        <p:spPr>
          <a:xfrm>
            <a:off x="713232" y="521208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Low (below 3.0):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Green-blue infrastructure 2.8  |  Forestry 2.5  |  Waste and circular economy 2.2  |  Air and noise pollution 2.2  |  Packaging 1.9  |  Fisheries 1.3. </a:t>
            </a:r>
            <a:pPr indent="0" marL="0">
              <a:buNone/>
            </a:pPr>
            <a:r>
              <a:rPr lang="en-US" sz="11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Agriculture is the largest nature priority exposure but has only two UK NBSAP commitments in the EY workbook.</a:t>
            </a:r>
            <a:endParaRPr lang="en-US" sz="1100" dirty="0"/>
          </a:p>
        </p:txBody>
      </p:sp>
      <p:sp>
        <p:nvSpPr>
          <p:cNvPr id="1004" name="footnote"/>
          <p:cNvSpPr txBox="1"/>
          <p:nvPr/>
        </p:nvSpPr>
        <p:spPr>
          <a:xfrm>
            <a:off x="530352" y="5897880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= weighted average (1–5): materiality to LBG 30%, action gap 25%, NBSAP emphasis 20%, regulatory and market momentum 15%, market opportunity 10%. NBSAP £ | no. = UK commitments in the EY NBSAP sizing workbook (indicative). LBG exposure at 31 Dec 2025. SFF = Sustainable Financing Framework 2025.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EY could help LBG move from nature criteria to portfolio-level action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How EY can assist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card-1"/>
          <p:cNvSpPr/>
          <p:nvPr/>
        </p:nvSpPr>
        <p:spPr>
          <a:xfrm>
            <a:off x="530352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card-num-bg-1"/>
          <p:cNvSpPr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03" name="card-num-1"/>
          <p:cNvSpPr txBox="1"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1</a:t>
            </a:r>
            <a:endParaRPr lang="en-US" sz="1600" dirty="0"/>
          </a:p>
        </p:txBody>
      </p:sp>
      <p:sp>
        <p:nvSpPr>
          <p:cNvPr id="1004" name="card-head-1"/>
          <p:cNvSpPr txBox="1"/>
          <p:nvPr/>
        </p:nvSpPr>
        <p:spPr>
          <a:xfrm>
            <a:off x="1261872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Flood and drought risk reduction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FE600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4.5</a:t>
            </a:r>
            <a:endParaRPr lang="en-US" sz="1350" dirty="0"/>
          </a:p>
        </p:txBody>
      </p:sp>
      <p:sp>
        <p:nvSpPr>
          <p:cNvPr id="1005" name="card-body-1"/>
          <p:cNvSpPr txBox="1"/>
          <p:nvPr/>
        </p:nvSpPr>
        <p:spPr>
          <a:xfrm>
            <a:off x="694944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Resilience built into Cleve Hill and HARP; mortgage flood exposure not disclosed.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Physical and nature-related risk assessment of the lending book; resilience finance criteria.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Portfolio flood and drought heatmap</a:t>
            </a:r>
            <a:endParaRPr lang="en-US" sz="1050" dirty="0"/>
          </a:p>
        </p:txBody>
      </p:sp>
      <p:sp>
        <p:nvSpPr>
          <p:cNvPr id="1006" name="card-2"/>
          <p:cNvSpPr/>
          <p:nvPr/>
        </p:nvSpPr>
        <p:spPr>
          <a:xfrm>
            <a:off x="3203143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7" name="card-num-bg-2"/>
          <p:cNvSpPr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solidFill>
            <a:srgbClr val="F4B183"/>
          </a:solidFill>
          <a:ln/>
        </p:spPr>
      </p:sp>
      <p:sp>
        <p:nvSpPr>
          <p:cNvPr id="1008" name="card-num-2"/>
          <p:cNvSpPr txBox="1"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2</a:t>
            </a:r>
            <a:endParaRPr lang="en-US" sz="1600" dirty="0"/>
          </a:p>
        </p:txBody>
      </p:sp>
      <p:sp>
        <p:nvSpPr>
          <p:cNvPr id="1009" name="card-head-2"/>
          <p:cNvSpPr txBox="1"/>
          <p:nvPr/>
        </p:nvSpPr>
        <p:spPr>
          <a:xfrm>
            <a:off x="3934663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Habitat protection and BNG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4B183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4.2</a:t>
            </a:r>
            <a:endParaRPr lang="en-US" sz="1350" dirty="0"/>
          </a:p>
        </p:txBody>
      </p:sp>
      <p:sp>
        <p:nvSpPr>
          <p:cNvPr id="1010" name="card-body-2"/>
          <p:cNvSpPr txBox="1"/>
          <p:nvPr/>
        </p:nvSpPr>
        <p:spPr>
          <a:xfrm>
            <a:off x="3367735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£5.9bn construction exposure in scope of BNG; BNG delivered project by project (10–65%).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markets and BNG strategy; due diligence on nature outcomes in financed projects.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markets options paper; BNG due diligence checklist</a:t>
            </a:r>
            <a:endParaRPr lang="en-US" sz="1050" dirty="0"/>
          </a:p>
        </p:txBody>
      </p:sp>
      <p:sp>
        <p:nvSpPr>
          <p:cNvPr id="1011" name="card-3"/>
          <p:cNvSpPr/>
          <p:nvPr/>
        </p:nvSpPr>
        <p:spPr>
          <a:xfrm>
            <a:off x="5875934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2" name="card-num-bg-3"/>
          <p:cNvSpPr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solidFill>
            <a:srgbClr val="B565D9"/>
          </a:solidFill>
          <a:ln/>
        </p:spPr>
      </p:sp>
      <p:sp>
        <p:nvSpPr>
          <p:cNvPr id="1013" name="card-num-3"/>
          <p:cNvSpPr txBox="1"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3</a:t>
            </a:r>
            <a:endParaRPr lang="en-US" sz="1600" dirty="0"/>
          </a:p>
        </p:txBody>
      </p:sp>
      <p:sp>
        <p:nvSpPr>
          <p:cNvPr id="1014" name="card-head-3"/>
          <p:cNvSpPr txBox="1"/>
          <p:nvPr/>
        </p:nvSpPr>
        <p:spPr>
          <a:xfrm>
            <a:off x="6607454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Water availability and quality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B56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4.0</a:t>
            </a:r>
            <a:endParaRPr lang="en-US" sz="1350" dirty="0"/>
          </a:p>
        </p:txBody>
      </p:sp>
      <p:sp>
        <p:nvSpPr>
          <p:cNvPr id="1015" name="card-body-3"/>
          <p:cNvSpPr txBox="1"/>
          <p:nvPr/>
        </p:nvSpPr>
        <p:spPr>
          <a:xfrm>
            <a:off x="6040526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£12.1bn energy and water supply exposure; £120m HARP debt; water criteria in SFF.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UK water investment pipeline using the EY NBSAP sizing tool; sustainability-linked KPI design.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Water investment pipeline; KPI set</a:t>
            </a:r>
            <a:endParaRPr lang="en-US" sz="1050" dirty="0"/>
          </a:p>
        </p:txBody>
      </p:sp>
      <p:sp>
        <p:nvSpPr>
          <p:cNvPr id="1016" name="card-4"/>
          <p:cNvSpPr/>
          <p:nvPr/>
        </p:nvSpPr>
        <p:spPr>
          <a:xfrm>
            <a:off x="8548726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7" name="card-num-bg-4"/>
          <p:cNvSpPr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solidFill>
            <a:srgbClr val="4E95D9"/>
          </a:solidFill>
          <a:ln/>
        </p:spPr>
      </p:sp>
      <p:sp>
        <p:nvSpPr>
          <p:cNvPr id="1018" name="card-num-4"/>
          <p:cNvSpPr txBox="1"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</a:t>
            </a:r>
            <a:endParaRPr lang="en-US" sz="1600" dirty="0"/>
          </a:p>
        </p:txBody>
      </p:sp>
      <p:sp>
        <p:nvSpPr>
          <p:cNvPr id="1019" name="card-head-4"/>
          <p:cNvSpPr txBox="1"/>
          <p:nvPr/>
        </p:nvSpPr>
        <p:spPr>
          <a:xfrm>
            <a:off x="9280246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Sustainable agriculture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4E9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3.9</a:t>
            </a:r>
            <a:endParaRPr lang="en-US" sz="1350" dirty="0"/>
          </a:p>
        </p:txBody>
      </p:sp>
      <p:sp>
        <p:nvSpPr>
          <p:cNvPr id="1020" name="card-body-4"/>
          <p:cNvSpPr txBox="1"/>
          <p:nvPr/>
        </p:nvSpPr>
        <p:spPr>
          <a:xfrm>
            <a:off x="8713318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£6.7bn agriculture exposure; 685 farms assessed; target covers emissions only.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Nature baseline for the agriculture book; regenerative farming products and nature targets.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Agriculture nature baseline; product concept</a:t>
            </a:r>
            <a:endParaRPr lang="en-US" sz="1050" dirty="0"/>
          </a:p>
        </p:txBody>
      </p:sp>
      <p:sp>
        <p:nvSpPr>
          <p:cNvPr id="1021" name="cross-cutting"/>
          <p:cNvSpPr txBox="1"/>
          <p:nvPr/>
        </p:nvSpPr>
        <p:spPr>
          <a:xfrm>
            <a:off x="530352" y="4846320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Across all four: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TNFD-aligned disclosure, nature metrics and target setting, and reporting sustainable finance by nature category.</a:t>
            </a:r>
            <a:endParaRPr lang="en-US" sz="1200" dirty="0"/>
          </a:p>
        </p:txBody>
      </p:sp>
      <p:sp>
        <p:nvSpPr>
          <p:cNvPr id="1022" name="next-steps-panel"/>
          <p:cNvSpPr/>
          <p:nvPr/>
        </p:nvSpPr>
        <p:spPr>
          <a:xfrm>
            <a:off x="530352" y="5230368"/>
            <a:ext cx="10479024" cy="658368"/>
          </a:xfrm>
          <a:prstGeom prst="roundRect">
            <a:avLst>
              <a:gd name="adj" fmla="val 11111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23" name="next-steps"/>
          <p:cNvSpPr txBox="1"/>
          <p:nvPr/>
        </p:nvSpPr>
        <p:spPr>
          <a:xfrm>
            <a:off x="731520" y="5266944"/>
            <a:ext cx="10104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Proposed next steps  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1. Validate against the LBG Sustainability Report 2025   2. Discovery workshop with LBG sustainability, risk and corporate banking teams   3. Deep dive on nature exposure in agriculture and water lending</a:t>
            </a:r>
            <a:endParaRPr lang="en-US" sz="1200" dirty="0"/>
          </a:p>
        </p:txBody>
      </p:sp>
      <p:sp>
        <p:nvSpPr>
          <p:cNvPr id="1024" name="footnote"/>
          <p:cNvSpPr txBox="1"/>
          <p:nvPr/>
        </p:nvSpPr>
        <p:spPr>
          <a:xfrm>
            <a:off x="530352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Support areas are indicative and to be aligned with the EY CCaSS service catalogue. Scores from page 3.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Custom 10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884888A5-C629-42F8-9D4B-3CDF061885ED}" vid="{39A1E73B-99D1-4B7B-ACBD-88B4D756EAAE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_EY All In PowerPoint Onscreen (Widescreen) 2024 PowerPoint ribbon (FINAL).pptx" id="{74B484E2-2FF1-4219-84B9-072474B8FEB1}" vid="{2AA547DC-10FC-4772-B511-C540E0FE6E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Aptos</vt:lpstr>
      <vt:lpstr>Arial</vt:lpstr>
      <vt:lpstr>Calibri</vt:lpstr>
      <vt:lpstr>EYInterstate</vt:lpstr>
      <vt:lpstr>EYInterstate Light</vt:lpstr>
      <vt:lpstr>EYInterstate Regular</vt:lpstr>
      <vt:lpstr>Georgia Pro</vt:lpstr>
      <vt:lpstr>Wingdings</vt:lpstr>
      <vt:lpstr>EY Core Slides</vt:lpstr>
      <vt:lpstr>1_EY Core Slides</vt:lpstr>
      <vt:lpstr>think-cell Slide</vt:lpstr>
      <vt:lpstr>Deck Title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Dakoju</dc:creator>
  <cp:lastModifiedBy>Manikanta Dakoju</cp:lastModifiedBy>
  <cp:revision>1</cp:revision>
  <dcterms:created xsi:type="dcterms:W3CDTF">2026-10-07T20:03:48Z</dcterms:created>
  <dcterms:modified xsi:type="dcterms:W3CDTF">2026-10-07T20:06:08Z</dcterms:modified>
</cp:coreProperties>
</file>