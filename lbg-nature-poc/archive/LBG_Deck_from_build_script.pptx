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5"/>
  </p:notesMasterIdLst>
  <p:sldIdLst>
    <p:sldId id="1881839119" r:id="rId3"/>
    <p:sldId id="259" r:id="rId4"/>
    <p:sldId id="1881839120" r:id="rId10"/>
    <p:sldId id="18818391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1C2B1-23C1-4307-B4AD-DAB351667850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F5790-E546-4855-B1FF-519DEAB91AE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938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LBG, Working with nature (2024)</a:t>
            </a:r>
          </a:p>
          <a:p>
            <a:r>
              <a:t>LBG, Built to Last (2026)</a:t>
            </a:r>
          </a:p>
          <a:p>
            <a:r>
              <a:t>LBG, Sustainability Data Sheet 2025</a:t>
            </a:r>
          </a:p>
          <a:p>
            <a:r>
              <a:t>LBG, Sustainable Financing Framework 2025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E77733-57F8-4C9B-8F25-DC6A87FADDF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Mapping workbook: Scoring tab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Mapping workbook: Scoring tab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4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oleObject" Target="../embeddings/oleObject5.bin"/><Relationship Id="rId4" Type="http://schemas.openxmlformats.org/officeDocument/2006/relationships/image" Target="../media/image14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blurry image of a rainbow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75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7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 Regular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89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/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/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/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/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0" name="Group 309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311" name="Freeform 310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662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002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047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404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2" name="Title 4"/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/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/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709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43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00FF"/>
                </a:gs>
                <a:gs pos="100000">
                  <a:srgbClr val="4696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11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7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89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993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FF3C00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4" name="Group 3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9472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6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9" name="Title 4"/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vert="horz"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 Regular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30" name="Text Placeholder 288"/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/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/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B4FF00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/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 userDrawn="1"/>
        </p:nvGrpSpPr>
        <p:grpSpPr bwMode="black">
          <a:xfrm>
            <a:off x="10563224" y="5167683"/>
            <a:ext cx="1219200" cy="1284606"/>
            <a:chOff x="10563224" y="5158158"/>
            <a:chExt cx="1219200" cy="1284606"/>
          </a:xfrm>
        </p:grpSpPr>
        <p:sp>
          <p:nvSpPr>
            <p:cNvPr id="22" name="Freeform 21"/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7304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ED584E2-E6B2-4A7D-81B0-8FBC634F9BA5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2763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C693411-32CC-4679-A80D-23B1CD26AF17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524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DB1848-C723-40CA-AAF8-27AE56B8CEF8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992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1BE1EA0-7103-4CDC-9A5A-77B17722C816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06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26494D-DA71-43AD-9576-F8B7D241F4FA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471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GB"/>
              <a:t>00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38C7B00-708E-4E98-B608-05CD6141EFC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398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Introduction text goes here and delete the bullet if not required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/>
              <a:t>Section header goes here and to insert page numbers use the tab button on the keyboard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60FDFFA-E04C-4AED-83E7-8D0E4FB6C33C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647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606" imgH="609" progId="TCLayout.ActiveDocument.1">
                  <p:embed/>
                </p:oleObj>
              </mc:Choice>
              <mc:Fallback>
                <p:oleObj name="think-cell Slide" r:id="rId2" imgW="606" imgH="609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bright light in the dark&#10;&#10;Description automatically generated"/>
          <p:cNvPicPr/>
          <p:nvPr userDrawn="1"/>
        </p:nvPicPr>
        <p:blipFill>
          <a:blip r:embed="rId4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 vert="horz"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6" name="SmartArt Placeholder 35"/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7" name="SmartArt Placeholder 35"/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8" name="SmartArt Placeholder 35"/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9" name="SmartArt Placeholder 35"/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5AAF7C1F-4F4E-4041-B532-2ABAEFD071B8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62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9DDD0-D032-4344-A085-74FA98C6B8BF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1278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61AEE8-B02E-49A3-B84C-3C1728A5CE38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94400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218C1317-6CB0-45E7-9E7B-266B22DA9F7F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5" name="SmartArt Placeholder 13"/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8320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/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</p:spPr>
        <p:txBody>
          <a:bodyPr/>
          <a:lstStyle/>
          <a:p>
            <a:fld id="{7204FF08-ACE0-4AA3-B197-D684A68AB0D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8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Footer Placeholder 4"/>
          <p:cNvSpPr>
            <a:spLocks noGrp="1"/>
          </p:cNvSpPr>
          <p:nvPr userDrawn="1"/>
        </p:nvSpPr>
        <p:spPr>
          <a:xfrm>
            <a:off x="485747" y="6494666"/>
            <a:ext cx="7192670" cy="123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>
                <a:solidFill>
                  <a:schemeClr val="bg1"/>
                </a:solidFill>
              </a:rPr>
              <a:t>Copyright © 2025 Ernst &amp; Young, Australia. All Rights Reserved. Liability limited by a scheme approved under Professional Standards Legislation</a:t>
            </a:r>
          </a:p>
        </p:txBody>
      </p:sp>
      <p:sp>
        <p:nvSpPr>
          <p:cNvPr id="12" name="SmartArt Placeholder 13"/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SmartArt Placeholder 14"/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21270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5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marL="252000" indent="0" algn="ctr">
              <a:buNone/>
            </a:lvl2pPr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+mj-lt"/>
              </a:defRPr>
            </a:lvl1pPr>
            <a:lvl2pPr algn="ctr"/>
            <a:lvl3pPr algn="ctr"/>
            <a:lvl4pPr algn="ctr"/>
            <a:lvl5pPr algn="ctr"/>
          </a:lstStyle>
          <a:p>
            <a:pPr lvl="0"/>
            <a:r>
              <a:rPr lang="en-GB"/>
              <a:t>000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/>
          <a:lstStyle/>
          <a:p>
            <a:fld id="{786A0FED-F61E-4244-81E1-9D77C39BCDF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grpSp>
        <p:nvGrpSpPr>
          <p:cNvPr id="9" name="Logo"/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5403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/>
            <p:cNvSpPr/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8"/>
            </a:p>
          </p:txBody>
        </p:sp>
      </p:grpSp>
      <p:sp>
        <p:nvSpPr>
          <p:cNvPr id="1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E6DAB4A4-27C4-4692-AFD5-1E6CE69ADBDA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349798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5" pos="7432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94200"/>
            <a:ext cx="109728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Line 10"/>
          <p:cNvSpPr>
            <a:spLocks noChangeShapeType="1"/>
          </p:cNvSpPr>
          <p:nvPr userDrawn="1"/>
        </p:nvSpPr>
        <p:spPr bwMode="auto">
          <a:xfrm>
            <a:off x="609601" y="907750"/>
            <a:ext cx="1097428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8" noProof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FF213AF8-FFED-4B53-BA54-1560C121C9F4}" type="slidenum">
              <a:rPr smtClean="0"/>
              <a:t>‹#›</a:t>
            </a:fld>
            <a:endParaRPr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1" y="1137920"/>
            <a:ext cx="10972800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3" name="Picture 122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1678390" y="6379058"/>
            <a:ext cx="270278" cy="291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314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827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07483" y="719139"/>
            <a:ext cx="3598126" cy="4680594"/>
          </a:xfrm>
          <a:prstGeom prst="rect">
            <a:avLst/>
          </a:prstGeom>
        </p:spPr>
        <p:txBody>
          <a:bodyPr lIns="0" tIns="0" rIns="35981" bIns="0">
            <a:noAutofit/>
          </a:bodyPr>
          <a:lstStyle/>
          <a:p>
            <a:pPr marL="0" marR="0" lvl="0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1199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sz="999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</a:t>
            </a:r>
            <a:r>
              <a:rPr kumimoji="0" lang="en-GB" sz="999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 | Assurance | Tax | Transactions | Advisory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999" kern="0" noProof="0">
                <a:solidFill>
                  <a:schemeClr val="bg1"/>
                </a:solidFill>
                <a:latin typeface="EYInterstate Light"/>
                <a:ea typeface="+mn-ea"/>
                <a:cs typeface="Arial"/>
              </a:rPr>
              <a:t>About EY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is a global leader in assurance, tax, transaction and advisory services. The insights and quality services we deliver help build trust and confidence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in the capital markets and in economies the world over. We develop outstanding leaders who team to deliver on our promises to all of our stakeholders. In so doing, we play a critical role in building a better </a:t>
            </a:r>
            <a:b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working world for our people, for our clients and for our communities.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75000"/>
              <a:buFontTx/>
              <a:buNone/>
              <a:tabLst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For more information about our organization, please visit ey.com.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uLnTx/>
              <a:uFillTx/>
              <a:latin typeface="EYInterstate Light" pitchFamily="2" charset="0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© 2020 EYGM Limited.</a:t>
            </a:r>
            <a:b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</a:b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All Rights Reserved.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EYG/OC/FEA no.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EY##### (UK) ##/20. CSG London.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r>
              <a:rPr lang="en-GB" sz="800" kern="0" noProof="0">
                <a:solidFill>
                  <a:schemeClr val="bg1"/>
                </a:solidFill>
                <a:latin typeface="EYInterstate Light"/>
                <a:ea typeface="+mn-ea"/>
                <a:cs typeface="+mn-cs"/>
              </a:rPr>
              <a:t>ED MMYY</a:t>
            </a:r>
          </a:p>
          <a:p>
            <a:pPr marL="0" marR="0" lvl="3" indent="0" algn="l" defTabSz="91394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 typeface="Arial" pitchFamily="34" charset="0"/>
              <a:buNone/>
              <a:tabLst/>
            </a:pPr>
            <a:endParaRPr lang="en-GB" sz="800" kern="0" noProof="0">
              <a:solidFill>
                <a:schemeClr val="bg1"/>
              </a:solidFill>
              <a:latin typeface="EYInterstate Light"/>
              <a:ea typeface="+mn-ea"/>
              <a:cs typeface="+mn-cs"/>
            </a:endParaRP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This material has been prepared for general informational purposes only and is not intended to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be relied upon as accounting, tax or other professional advice. Please refer to your advisors for </a:t>
            </a:r>
            <a:b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</a:br>
            <a:r>
              <a:rPr kumimoji="0" lang="en-GB" sz="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specific advice.</a:t>
            </a:r>
          </a:p>
          <a:p>
            <a:pPr marL="0" marR="0" lvl="3" indent="0" algn="l" defTabSz="1042534" rtl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Pct val="75000"/>
              <a:buFontTx/>
              <a:buNone/>
              <a:tabLst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uLnTx/>
                <a:uFillTx/>
                <a:latin typeface="EYInterstate Light" pitchFamily="2" charset="0"/>
                <a:ea typeface="+mn-ea"/>
                <a:cs typeface="+mn-cs"/>
              </a:rPr>
              <a:t>ey.com/*******</a:t>
            </a:r>
          </a:p>
        </p:txBody>
      </p:sp>
    </p:spTree>
    <p:extLst>
      <p:ext uri="{BB962C8B-B14F-4D97-AF65-F5344CB8AC3E}">
        <p14:creationId xmlns:p14="http://schemas.microsoft.com/office/powerpoint/2010/main" val="49417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29593" y="6471244"/>
            <a:ext cx="1190638" cy="1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491874" y="6471244"/>
            <a:ext cx="3208254" cy="180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78BE7C29-9BE6-4073-8387-F0C8A984B7CC}" type="slidenum">
              <a:rPr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1586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12" name="think-cell data - do not delete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Enterprise Reimagined and our Transformation Big Bet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CFD7EDB9-8A24-4B09-B23D-9391D0C3431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35060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/>
          <p:cNvPicPr/>
          <p:nvPr userDrawn="1"/>
        </p:nvPicPr>
        <p:blipFill>
          <a:blip r:embed="rId2"/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/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7AB4-795F-4BB5-8C19-C05EFD5A70A1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Unleashing Agents: Extending Copilot To Transform LBG</a:t>
            </a:r>
            <a:endParaRPr lang="en-US"/>
          </a:p>
        </p:txBody>
      </p:sp>
      <p:grpSp>
        <p:nvGrpSpPr>
          <p:cNvPr id="8" name="Logo"/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7" name="Slide Number Placeholder 4"/>
          <p:cNvSpPr txBox="1"/>
          <p:nvPr userDrawn="1"/>
        </p:nvSpPr>
        <p:spPr>
          <a:xfrm>
            <a:off x="440929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4E97DA86-E44F-4586-A38A-B30C0F019B38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4358514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0822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35A17-6E72-5D10-337D-87AD82CF51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8B71BF-2CD6-B365-4402-A8FF831788C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718681-C140-C687-56FE-5B74AAC28F6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F880BD-E431-2A19-D56A-8B37360C1C2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71926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EC877-2F2D-B87F-413C-A62960EC67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00CEB3-70C1-B84B-69F4-47C6239A963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1A4559-3046-DB7C-170D-8B5BA7C0932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32AF557-95D5-C3A7-8762-30EB758F130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8455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E7332-D2DE-8669-0AEC-5A2A6ABEC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9C3B74-7F38-B0AE-8CDD-386F5F93EBD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FAD6BB-BE7F-B979-02B7-6642DECA997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AC9C-4DEF-0172-39AF-392FB46391D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61955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98833-5BF3-BB5E-C3B2-7B705558D0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DC9F8E-6F8C-AF4A-9D84-4AD1502BB51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C135C3-9109-7FAF-7A1E-C1697A8F558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B01A6-453C-E086-340E-1FA1E3E1B1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61512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Job Title</a:t>
            </a:r>
            <a:endParaRPr lang="en-GB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E3CB0E-CBF5-F5C6-CBEB-87739E77EC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86F64B-08DB-E5D4-B2AA-6649ABAD812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B14B79-79B7-68CD-1151-6FCC77898E6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AE5A-2AFE-71BF-47E0-9339A3B8348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25465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EBF90-6B4E-C743-2098-786F67C750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9C1757-8C94-A6AF-A3BA-BBD03B3D52C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6AE5F3-3050-E5BF-9762-F46B3D60EEC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23A643-B30A-6BB1-47DB-C281B542937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2800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4647-A297-6D44-253F-7CB799E419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7FE96-06E1-764F-EF1D-227F096A720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8010C-6DC5-5ED2-865B-9ECC10B1F52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8B4FD0-7989-32A2-2C2D-B98F2CA72ACD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51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6C001-67C6-86C4-D219-6D9FF2EE00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864A79-9397-C095-6A60-037405E9993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A99C1-F5EA-E9BD-DDAD-6B8B04AA2AB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94E93B-1732-5AE8-2F55-692D141C96C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62910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D404D-3B24-C700-DA68-CAC99436C4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AC5912-E51B-95BC-8C66-553238217429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D55CF-CF31-502D-7730-391827138A2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7F457C-720D-E922-F11E-103B461D0764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679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DD5-A107-F05E-1B17-E91A154938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E304F-8F78-3B87-4D90-A4CD04AD740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0ED5AB1-67B1-EB7E-24B6-6CE9AFD2444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218930-F485-F944-970D-2DD7F653BED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67894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C9C312-F6C2-0463-D74A-A17E895A20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07442E-6BC7-A4A5-0BEA-D4E13D6ED37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9A8D832-F8A5-B928-BD29-D49AC2218B7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768C3F-9B6D-90AA-9F71-E2AE10CDE47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40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27FA85-BD8B-B10F-506C-988BB7ED6E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5F022C-3DD7-CE54-3F41-B2A9FD83FDF1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B4BDBD-6FF3-6330-ADF8-EDC185F44AE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E5D71A-BC9C-E69D-9D59-9AA8924027F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21720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E008F-2A59-02D8-4837-99D5AB62729A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14939668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9DE20-B99E-1D81-053E-84438CF8E9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28E5B5-50F4-4EAB-B39C-60891A0ADB2A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98CC51-0E72-2BDA-8CF5-1ABDA2CC41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FD4AAE-DE34-CF40-FC0A-1653066FD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18251012-D45B-479F-5EDA-A3F6C1E15D2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CF40346-9E85-4BC4-C5BF-D62BF00300D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617D7237-88EE-FA7A-2FB2-EBCB3AACB80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91FDBFF-3F6A-7B38-613C-F3C72FB727F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9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609B97E-2DC6-A36D-54FC-92BC09C831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612C65-D267-47C3-B14C-544668977604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FF456FF-F708-52C3-6330-E3E06F1DFC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6FB6E0-FFD6-54F8-9ED2-C25EB31D01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7E9251C7-6ABE-7271-86DD-E6C7EA7C6DD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C2207C1-58B2-00E2-E2CA-5D37F0D8DD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7F1680E-CD67-2A48-5B49-10C8DB5289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D9731E6-5099-75C1-7798-553468FB27D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117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82D95-5C58-DAA3-01AB-0FBFF01FCB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76EA68-6CF5-4EA4-9FC2-9728A2DBFD8D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95863-8584-4333-CE32-49F8F8023F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21BD-0A8A-9AC6-5618-F237A9B83A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ACF2ADCF-CA4C-F7DF-0251-1AF30AE7103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21539E2-E30F-90D3-8303-41D62639A64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412BADD-ACBB-8991-0CE3-E84D354088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4800EB6-016B-2DE6-0374-7831F666F8A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9758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F5CD6D5B-3D47-CDC7-66FD-22686B08A5F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484B3F94-3D8C-9F6A-5E5F-1A8473AB504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29B739D-2B8A-7A3E-33E6-A9F7F44C12D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CA985E2-C0E4-39C5-A529-B3C8C70A2CD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2382FA3A-9114-F937-1E2F-D5FE20B5D23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0C2FB6-B2A8-4A47-9971-1365A9F9A995}" type="datetime1">
              <a:rPr lang="en-GB" smtClean="0"/>
              <a:t>07/10/2026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2447BA0-C33B-8115-7DA0-1DCCAC88CA9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344103D-B100-2C69-A21C-E8E8DA377D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4577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0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00</a:t>
            </a:r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B4856D9-3089-5BDD-B9B9-A4CD079CA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835D5F-695B-4060-8D87-F1B722BA0EB5}" type="datetime1">
              <a:rPr lang="en-GB" smtClean="0"/>
              <a:t>07/10/2026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015B5A-91DC-F131-BBC1-B7D33250C4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F284658-C487-F55F-3BCA-9D45E9EF2D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2" name="Logo">
            <a:extLst>
              <a:ext uri="{FF2B5EF4-FFF2-40B4-BE49-F238E27FC236}">
                <a16:creationId xmlns:a16="http://schemas.microsoft.com/office/drawing/2014/main" id="{FAD020ED-EAB5-A1B7-B76E-7DFF25EF272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4E4911-68ED-9138-AE53-28CEFB19627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C0F1ED4F-5BA1-BE72-F1D9-2F9CA8B84F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7B80EF99-DCE0-BE24-ACAE-087B6460F3A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6244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81538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/>
            </a:lvl1pPr>
            <a:lvl2pPr marL="269875" indent="0">
              <a:defRPr sz="1600"/>
            </a:lvl2pPr>
            <a:lvl3pPr marL="269875" indent="0">
              <a:defRPr sz="1600"/>
            </a:lvl3pPr>
            <a:lvl4pPr marL="444500" indent="-174625">
              <a:defRPr sz="1400"/>
            </a:lvl4pPr>
            <a:lvl5pPr marL="628650" indent="-184150">
              <a:defRPr sz="1400"/>
            </a:lvl5pPr>
          </a:lstStyle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  <a:p>
            <a:pPr lvl="0"/>
            <a:r>
              <a:rPr lang="en-IN"/>
              <a:t>Section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5CBB57-69E0-3CF8-D2DF-A316D98FAC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425" y="1412875"/>
            <a:ext cx="5105400" cy="4679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38A6C0F-3417-2AC3-E2A2-1AB96B34FB2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AE7CA59-01E8-48A8-925C-55627216BE88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6879B2-C6AD-B223-A2B1-BAFDCB6FDEF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6E9C3A6-279D-9AEE-07E3-9AC4C421332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9" name="Logo">
            <a:extLst>
              <a:ext uri="{FF2B5EF4-FFF2-40B4-BE49-F238E27FC236}">
                <a16:creationId xmlns:a16="http://schemas.microsoft.com/office/drawing/2014/main" id="{4E225EF6-8D5E-A943-DA66-FC3EA7A133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09082018-2FBA-4C46-89C5-43A99DBD13C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D0C1103-4336-EC5A-6761-7696EAC9808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62F4B6-EBE7-183E-404F-575433B1084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29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/>
              <a:t>Agenda text goes here and delete the bullet if not required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/>
              <a:t>0</a:t>
            </a:r>
            <a:endParaRPr lang="en-US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DE3AA740-B8B1-5B7B-72E0-02E82136943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F05F4CA-B0A1-6571-C05C-6C4D6CFE28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476DA22-E2C3-1EBB-B638-4A3B94A09AE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F2A1D68-86C4-1924-BBE4-E55856618F7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45EDB25-04F9-FE88-EBA3-C8D5069B719E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6F770517-DE79-4D4B-BA87-91B1A092C62B}" type="datetime1">
              <a:rPr lang="en-GB" smtClean="0"/>
              <a:t>07/10/2026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9B626F01-193E-E5DE-6210-10CB0419332B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87EAD6B-75E3-29AF-07AA-7450C4503F3B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3604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F66F87-BA60-4C99-D2D4-F29C30FF73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041FA7-5670-4283-BC33-7DF002B3853F}" type="datetime1">
              <a:rPr lang="en-GB" smtClean="0"/>
              <a:t>07/10/2026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9DE581-7B50-7B6D-A41F-0004A45A7F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500C8D-FE22-A8F5-6FA3-A84F20F019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68C3FCB0-2AC4-7050-3315-30A44447F7C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017B73F-7A76-2CFB-EBE1-2CA6C32D30E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B10704A-A13B-F4BD-C1FA-CD3013CBEB1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9CAC502-5DF4-7BBA-74BF-350838343FB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16094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3A4AEFF-B7E4-C792-7CE0-3AD22D1031F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38AB828-356E-1FDD-C9C8-243989B96FC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D8F2230-BC31-E11A-1D5C-2A51AD3299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9612817D-315D-323F-0F5F-D2B46DFC17E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30CD162-7366-86D1-906A-0A3E367649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867B5D4-2B96-442D-BB5A-781E50E22250}" type="datetime1">
              <a:rPr lang="en-GB" smtClean="0"/>
              <a:t>07/10/2026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D410F2F-D03F-0D7F-6E11-BE9A31F33A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45A8BB5-D269-4EB5-9DBD-C6A1A7878B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8073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47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747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Job title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849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747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/>
              <a:t>Quote goes here.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5CBFB1-2925-E563-7FC5-99F9DE0D484F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DB674CEC-8130-44B4-9B0A-E405622BA235}" type="datetime1">
              <a:rPr lang="en-GB" smtClean="0"/>
              <a:t>07/10/2026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6A1D37E-2C18-BB63-446A-7AE4AFE8B05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918797-673F-7293-8322-C09E2733B9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485747" y="6390988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4" name="Logo">
            <a:extLst>
              <a:ext uri="{FF2B5EF4-FFF2-40B4-BE49-F238E27FC236}">
                <a16:creationId xmlns:a16="http://schemas.microsoft.com/office/drawing/2014/main" id="{8FD6ED4F-A357-F9C3-450F-6EE8FFF1CCB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34F2195B-B3BC-B186-9C2E-42828CC855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4A6CD35-B470-5625-4013-8D14CED22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7A4548F-02F1-00AD-33EC-8C316A14543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04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110AE97-2F65-8BD0-0958-C9D005E058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707DD8-FAC5-47D3-9E7B-471A54BE6893}" type="datetime1">
              <a:rPr lang="en-GB" smtClean="0"/>
              <a:t>07/10/2026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25DA1E8-9A46-959E-19A0-37432BE0DD1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46768A-FE38-61DA-72B5-FB5D763D38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61823FF7-52FB-31D4-5A38-3C4EBC3FB5C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DB999A64-07EE-CBBE-41EF-E2A60CB5E33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2221EE00-D369-482F-4E81-65456588AA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9799A885-1274-C189-F2A5-A24FAC3DDFF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4909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4053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D2191-0438-8AEC-A789-96532D6A46BF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5536389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s-bullets-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1E64A6F5-4ADF-B8E8-CD09-F0D719706B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2913" y="438150"/>
            <a:ext cx="11322050" cy="714375"/>
          </a:xfrm>
        </p:spPr>
        <p:txBody>
          <a:bodyPr/>
          <a:lstStyle>
            <a:lvl1pPr>
              <a:lnSpc>
                <a:spcPts val="2700"/>
              </a:lnSpc>
              <a:spcAft>
                <a:spcPts val="300"/>
              </a:spcAft>
              <a:defRPr sz="2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Standard slide</a:t>
            </a:r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9ABDBB72-A74A-425B-891A-92D10735032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61907" y="6356351"/>
            <a:ext cx="303055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1E43667-7A35-4A70-8163-C5AEBBCF00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3A1C9CAA-3899-41E9-AAC4-FD2A2BD3D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9A34B52-D18D-4F3A-9A44-49CA04427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999"/>
            </a:p>
          </p:txBody>
        </p:sp>
      </p:grp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32458A1-A667-D6C4-02C0-EBD6B1AB7C80}"/>
              </a:ext>
            </a:extLst>
          </p:cNvPr>
          <p:cNvSpPr txBox="1">
            <a:spLocks/>
          </p:cNvSpPr>
          <p:nvPr userDrawn="1"/>
        </p:nvSpPr>
        <p:spPr>
          <a:xfrm>
            <a:off x="477751" y="6471244"/>
            <a:ext cx="662721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80602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  <p15:guide id="3" orient="horz" pos="3934">
          <p15:clr>
            <a:srgbClr val="F26B43"/>
          </p15:clr>
        </p15:guide>
        <p15:guide id="4" pos="272">
          <p15:clr>
            <a:srgbClr val="F26B43"/>
          </p15:clr>
        </p15:guide>
        <p15:guide id="5" pos="7432">
          <p15:clr>
            <a:srgbClr val="F26B43"/>
          </p15:clr>
        </p15:guide>
        <p15:guide id="6" orient="horz" pos="274">
          <p15:clr>
            <a:srgbClr val="F26B43"/>
          </p15:clr>
        </p15:guide>
        <p15:guide id="7" orient="horz" pos="850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/>
              <a:t>Only one highlight line should appear. Delete the other two lines.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673B6-79DD-4B4F-ACB0-F62259251157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9871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/>
              <a:t>Chapter 00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DD00A-5473-9C4E-E608-8B32E0D272E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E9B457-AB94-4EFD-8647-19A0D7E58A85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9E421-2EC0-3319-C39C-40599878BE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E1598-99D5-72CF-E9B0-613158D21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41A7ECE6-349D-0365-4AF1-743B2708216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6C23CFB-156B-9078-6323-545707AA149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A31CCB7-1D59-7915-39B7-6FFB756D028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3707F1C-2F20-E3B4-486B-4BCC5102652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26594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75240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D178608-8F70-46F4-939A-9BC9ECBE70FD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EY.ai for Sustainability Reporting - NY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26915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2620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70675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4300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801740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07096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9236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98466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0339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6749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3772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38277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3087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65283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6390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9430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177702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75236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6573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838534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52292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51972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3125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8007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0417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7220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79142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52116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8962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61908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03360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12781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C333F-51CF-416B-8E42-3D568CCE5A3B}" type="datetime1">
              <a:rPr lang="en-GB" smtClean="0"/>
              <a:t>07/10/2026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E54260D4-7915-51EC-19E4-7BD111F5167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3D34886-41B4-387E-E442-1AB5523E99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31A0C3-2080-FB45-BE93-BA6356FCD6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D309911-1BD8-4388-EF8B-F7B692796DB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32472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1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9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037B4-84FB-4EDC-B509-8CC6C5144847}" type="datetime1">
              <a:rPr lang="en-GB" smtClean="0"/>
              <a:t>07/10/2026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15B9C502-954D-C53A-2FCB-F3F9B054AA7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5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EE0305F8-1F58-EC01-802B-8C106653245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CF5BE44-DE88-9178-0CEC-40DC6A5190B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4BD1417-89B8-E95D-4636-160101FFBE8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163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Relationship Id="rId35" Type="http://schemas.openxmlformats.org/officeDocument/2006/relationships/oleObject" Target="../embeddings/oleObject1.bin"/><Relationship Id="rId3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70.xml"/><Relationship Id="rId38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75.xml"/><Relationship Id="rId43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77.xml"/><Relationship Id="rId45" Type="http://schemas.openxmlformats.org/officeDocument/2006/relationships/slideLayout" Target="../slideLayouts/slideLayout78.xml"/><Relationship Id="rId46" Type="http://schemas.openxmlformats.org/officeDocument/2006/relationships/slideLayout" Target="../slideLayouts/slideLayout79.xml"/><Relationship Id="rId47" Type="http://schemas.openxmlformats.org/officeDocument/2006/relationships/slideLayout" Target="../slideLayouts/slideLayout80.xml"/><Relationship Id="rId48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82.xml"/><Relationship Id="rId50" Type="http://schemas.openxmlformats.org/officeDocument/2006/relationships/slideLayout" Target="../slideLayouts/slideLayout83.xml"/><Relationship Id="rId51" Type="http://schemas.openxmlformats.org/officeDocument/2006/relationships/slideLayout" Target="../slideLayouts/slideLayout84.xml"/><Relationship Id="rId52" Type="http://schemas.openxmlformats.org/officeDocument/2006/relationships/slideLayout" Target="../slideLayouts/slideLayout85.xml"/><Relationship Id="rId53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87.xml"/><Relationship Id="rId55" Type="http://schemas.openxmlformats.org/officeDocument/2006/relationships/slideLayout" Target="../slideLayouts/slideLayout88.xml"/><Relationship Id="rId56" Type="http://schemas.openxmlformats.org/officeDocument/2006/relationships/slideLayout" Target="../slideLayouts/slideLayout89.xml"/><Relationship Id="rId57" Type="http://schemas.openxmlformats.org/officeDocument/2006/relationships/slideLayout" Target="../slideLayouts/slideLayout90.xml"/><Relationship Id="rId58" Type="http://schemas.openxmlformats.org/officeDocument/2006/relationships/slideLayout" Target="../slideLayouts/slideLayout91.xml"/><Relationship Id="rId59" Type="http://schemas.openxmlformats.org/officeDocument/2006/relationships/slideLayout" Target="../slideLayouts/slideLayout92.xml"/><Relationship Id="rId60" Type="http://schemas.openxmlformats.org/officeDocument/2006/relationships/slideLayout" Target="../slideLayouts/slideLayout93.xml"/><Relationship Id="rId61" Type="http://schemas.openxmlformats.org/officeDocument/2006/relationships/slideLayout" Target="../slideLayouts/slideLayout94.xml"/><Relationship Id="rId62" Type="http://schemas.openxmlformats.org/officeDocument/2006/relationships/slideLayout" Target="../slideLayouts/slideLayout95.xml"/><Relationship Id="rId63" Type="http://schemas.openxmlformats.org/officeDocument/2006/relationships/slideLayout" Target="../slideLayouts/slideLayout96.xml"/><Relationship Id="rId64" Type="http://schemas.openxmlformats.org/officeDocument/2006/relationships/slideLayout" Target="../slideLayouts/slideLayout97.xml"/><Relationship Id="rId65" Type="http://schemas.openxmlformats.org/officeDocument/2006/relationships/theme" Target="../theme/theme2.xml"/><Relationship Id="rId66" Type="http://schemas.openxmlformats.org/officeDocument/2006/relationships/tags" Target="../tags/tag1.xml"/><Relationship Id="rId67" Type="http://schemas.openxmlformats.org/officeDocument/2006/relationships/oleObject" Target="../embeddings/oleObject6.bin"/><Relationship Id="rId68" Type="http://schemas.openxmlformats.org/officeDocument/2006/relationships/image" Target="../media/image1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606" imgH="609" progId="TCLayout.ActiveDocument.1">
                  <p:embed/>
                </p:oleObj>
              </mc:Choice>
              <mc:Fallback>
                <p:oleObj name="think-cell Slide" r:id="rId35" imgW="606" imgH="609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485747" y="6327804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2A17138-BB3C-49F6-9250-356F901FCBF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"/>
          </p:nvPr>
        </p:nvSpPr>
        <p:spPr>
          <a:xfrm>
            <a:off x="994845" y="6327804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70531" y="6327804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grpSp>
        <p:nvGrpSpPr>
          <p:cNvPr id="6" name="Group 4" descr="Logo"/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/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/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/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467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 ftr="0" dt="0"/>
  <p:txStyles>
    <p:titleStyle>
      <a:lvl1pPr algn="l" defTabSz="914400" rtl="0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2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E6C1AFA-E92F-0C9E-DC48-9B6335D2E0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240578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7" imgW="473" imgH="473" progId="TCLayout.ActiveDocument.1">
                  <p:embed/>
                </p:oleObj>
              </mc:Choice>
              <mc:Fallback>
                <p:oleObj name="think-cell Slide" r:id="rId67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6C1AFA-E92F-0C9E-DC48-9B6335D2E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First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1"/>
            <a:r>
              <a:rPr lang="en-US"/>
              <a:t>Second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20pt</a:t>
            </a:r>
            <a:endParaRPr lang="en-US"/>
          </a:p>
          <a:p>
            <a:pPr lvl="2"/>
            <a:r>
              <a:rPr lang="en-US"/>
              <a:t>Third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18pt</a:t>
            </a:r>
            <a:endParaRPr lang="en-US"/>
          </a:p>
          <a:p>
            <a:pPr lvl="3"/>
            <a:r>
              <a:rPr lang="en-US"/>
              <a:t>Fourth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4"/>
            <a:r>
              <a:rPr lang="en-US"/>
              <a:t>Fifth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16pt</a:t>
            </a:r>
            <a:endParaRPr lang="en-US"/>
          </a:p>
          <a:p>
            <a:pPr lvl="5"/>
            <a:r>
              <a:rPr lang="en-US"/>
              <a:t>Sixth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6"/>
            <a:r>
              <a:rPr lang="en-US"/>
              <a:t>Seventh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14pt</a:t>
            </a:r>
            <a:endParaRPr lang="en-US"/>
          </a:p>
          <a:p>
            <a:pPr lvl="7"/>
            <a:r>
              <a:rPr lang="en-US"/>
              <a:t>Eighth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  <a:p>
            <a:pPr lvl="8"/>
            <a:r>
              <a:rPr lang="en-US"/>
              <a:t>Nineth level text style </a:t>
            </a:r>
            <a:r>
              <a:rPr lang="en-US" err="1"/>
              <a:t>EYInterstate</a:t>
            </a:r>
            <a:r>
              <a:rPr lang="en-US"/>
              <a:t> Light </a:t>
            </a:r>
            <a:r>
              <a:rPr lang="en-US" err="1"/>
              <a:t>12pt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E290D1-43DF-6DA2-6807-81A0EA835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390988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">
            <a:extLst>
              <a:ext uri="{FF2B5EF4-FFF2-40B4-BE49-F238E27FC236}">
                <a16:creationId xmlns:a16="http://schemas.microsoft.com/office/drawing/2014/main" id="{173B4AA1-0FB1-986B-36C1-A5EF26B85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390988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3637FA5-E211-431D-BAE9-7C47D9737975}" type="datetime1">
              <a:rPr lang="en-GB" smtClean="0"/>
              <a:t>07/10/2026</a:t>
            </a:fld>
            <a:endParaRPr lang="en-US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F4B9D0E-19BB-1F6F-43F4-D3F40510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390988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err="1"/>
              <a:t>EY.Ai</a:t>
            </a:r>
            <a:r>
              <a:rPr lang="en-GB"/>
              <a:t> Sustainability Offering</a:t>
            </a:r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92A19011-F13B-61BB-7319-F18841E1AA0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366417" y="6132893"/>
            <a:ext cx="346158" cy="355219"/>
            <a:chOff x="7110" y="4004"/>
            <a:chExt cx="191" cy="196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7A9DF9E-FAA6-1B54-7F9C-A8D13BFBF97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7B98982-9E47-CB75-7B1E-562AB72016F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7C8F8A70-F71F-7AB0-C83D-4C23948AEF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004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  <p:sldLayoutId id="2147483742" r:id="rId48"/>
    <p:sldLayoutId id="2147483743" r:id="rId49"/>
    <p:sldLayoutId id="2147483744" r:id="rId50"/>
    <p:sldLayoutId id="2147483745" r:id="rId51"/>
    <p:sldLayoutId id="2147483746" r:id="rId52"/>
    <p:sldLayoutId id="2147483747" r:id="rId53"/>
    <p:sldLayoutId id="2147483748" r:id="rId54"/>
    <p:sldLayoutId id="2147483749" r:id="rId55"/>
    <p:sldLayoutId id="2147483750" r:id="rId56"/>
    <p:sldLayoutId id="2147483751" r:id="rId57"/>
    <p:sldLayoutId id="2147483752" r:id="rId58"/>
    <p:sldLayoutId id="2147483753" r:id="rId59"/>
    <p:sldLayoutId id="2147483754" r:id="rId60"/>
    <p:sldLayoutId id="2147483755" r:id="rId61"/>
    <p:sldLayoutId id="2147483756" r:id="rId62"/>
    <p:sldLayoutId id="2147483757" r:id="rId63"/>
    <p:sldLayoutId id="2147483758" r:id="rId6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0" indent="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82563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357188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541338" indent="-18415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715963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898525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10731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BDEF60-2E7F-9E9E-F92D-1DEB49573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69255"/>
            <a:ext cx="4906009" cy="2148552"/>
          </a:xfrm>
        </p:spPr>
        <p:txBody>
          <a:bodyPr/>
          <a:lstStyle/>
          <a:p>
            <a:r>
              <a:rPr lang="en-GB" dirty="0"/>
              <a:t>Nature priorities for Lloyds Banking Group: UK NBSAP proof of concept</a:t>
            </a:r>
            <a:endParaRPr lang="en-GB" b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51E701F-B945-4F4B-F65D-1371AA9CC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762" y="4871362"/>
            <a:ext cx="4907628" cy="511939"/>
          </a:xfrm>
        </p:spPr>
        <p:txBody>
          <a:bodyPr/>
          <a:lstStyle/>
          <a:p>
            <a:r>
              <a:rPr lang="en-GB" dirty="0"/>
              <a:t>7th October 2026</a:t>
            </a:r>
            <a:r>
              <a:rPr lang="en-GB" baseline="30000" dirty="0"/>
              <a:t/>
            </a:r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2189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64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LBG's nature focus aligns with UK flood, water and habitat priorities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Executive summary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stat-card-1"/>
          <p:cNvSpPr/>
          <p:nvPr/>
        </p:nvSpPr>
        <p:spPr>
          <a:xfrm>
            <a:off x="530352" y="1280160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8952" y="1444751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1" i="0">
                <a:solidFill>
                  <a:srgbClr val="FFE600"/>
                </a:solidFill>
                <a:latin typeface="EYInterstate"/>
              </a:rPr>
              <a:t>£60.0bn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58952" y="2084831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F2F2F2"/>
                </a:solidFill>
                <a:latin typeface="EYInterstate Light"/>
              </a:rPr>
              <a:t>LBG exposure to nature priority sectors (9.3% of Group, Dec 2025)</a:t>
            </a:r>
          </a:p>
        </p:txBody>
      </p:sp>
      <p:sp>
        <p:nvSpPr>
          <p:cNvPr id="146" name="stat-card-2"/>
          <p:cNvSpPr/>
          <p:nvPr/>
        </p:nvSpPr>
        <p:spPr>
          <a:xfrm>
            <a:off x="530352" y="2852928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8952" y="301752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1" i="0">
                <a:solidFill>
                  <a:srgbClr val="F4B183"/>
                </a:solidFill>
                <a:latin typeface="EYInterstate"/>
              </a:rPr>
              <a:t>4 of 15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58952" y="36576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F2F2F2"/>
                </a:solidFill>
                <a:latin typeface="EYInterstate Light"/>
              </a:rPr>
              <a:t>UK NBSAP sub-themes scored High priority for LBG</a:t>
            </a:r>
          </a:p>
        </p:txBody>
      </p:sp>
      <p:sp>
        <p:nvSpPr>
          <p:cNvPr id="149" name="stat-card-3"/>
          <p:cNvSpPr/>
          <p:nvPr/>
        </p:nvSpPr>
        <p:spPr>
          <a:xfrm>
            <a:off x="530352" y="4425696"/>
            <a:ext cx="3200400" cy="138988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8952" y="459028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1" i="0">
                <a:solidFill>
                  <a:srgbClr val="B565D9"/>
                </a:solidFill>
                <a:latin typeface="EYInterstate"/>
              </a:rPr>
              <a:t>£70.9bn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58952" y="523036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F2F2F2"/>
                </a:solidFill>
                <a:latin typeface="EYInterstate Light"/>
              </a:rPr>
              <a:t>sustainable finance since 2022, not broken down by nature category</a:t>
            </a:r>
          </a:p>
        </p:txBody>
      </p:sp>
      <p:sp>
        <p:nvSpPr>
          <p:cNvPr id="152" name="summary-body"/>
          <p:cNvSpPr txBox="1"/>
          <p:nvPr/>
        </p:nvSpPr>
        <p:spPr>
          <a:xfrm>
            <a:off x="4069080" y="1234440"/>
            <a:ext cx="694029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i="0">
                <a:solidFill>
                  <a:srgbClr val="FFE600"/>
                </a:solidFill>
                <a:latin typeface="EYInterstate"/>
              </a:rPr>
              <a:t>Context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LBG positions nature-based solutions and resilient infrastructure as investable, citing a £56bn UK nature finance gap and an £11bn annual adaptation gap.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FFE600"/>
                </a:solidFill>
                <a:latin typeface="EYInterstate"/>
              </a:rPr>
              <a:t>Key findings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Exposure: £60.0bn in nature priority sectors, led by energy and water supply (£12.1bn), agriculture (£6.7bn) and construction (£5.9bn).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Action: nature is an eligible category in the 2025 Sustainable Financing Framework; deals include £120m HARP debt and £238.5m Cleve Hill financing.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Gap: no nature-specific targets or reporting. The agriculture target covers emissions only, and flood exposure of the £365.6bn mortgage book is not disclosed.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FFE600"/>
                </a:solidFill>
                <a:latin typeface="EYInterstate"/>
              </a:rPr>
              <a:t>Top priorities (score out of 5)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Risk reduction and prevention (4.5), land-use change and habitat protection (4.2), water availability (4.1) and water quality (4.0).</a:t>
            </a:r>
          </a:p>
          <a:p>
            <a:pPr>
              <a:spcBef>
                <a:spcPts val="700"/>
              </a:spcBef>
            </a:pPr>
            <a:r>
              <a:rPr sz="1300" b="1" i="0">
                <a:solidFill>
                  <a:srgbClr val="FFE600"/>
                </a:solidFill>
                <a:latin typeface="EYInterstate"/>
              </a:rPr>
              <a:t>Implication</a:t>
            </a:r>
          </a:p>
          <a:p>
            <a:pPr marL="182880" indent="-182880">
              <a:spcAft>
                <a:spcPts val="300"/>
              </a:spcAft>
              <a:buChar char="•"/>
            </a:pPr>
            <a:r>
              <a:rPr sz="1250" b="0" i="0">
                <a:solidFill>
                  <a:srgbClr val="F2F2F2"/>
                </a:solidFill>
                <a:latin typeface="EYInterstate Light"/>
              </a:rPr>
              <a:t>There is scope to move from eligibility criteria and deal-level outcomes to portfolio-level nature targets, metrics and TNFD-aligned disclosure.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6016752"/>
            <a:ext cx="104790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BFBFC7"/>
                </a:solidFill>
                <a:latin typeface="EYInterstate Light"/>
              </a:rPr>
              <a:t>Based on publicly available information. Sources in speaker notes. Scoring method on page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64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Flood, habitat and water score highest; agriculture is the largest exposure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Nature priorities ranked by score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43" name="priority-table"/>
          <p:cNvGraphicFramePr>
            <a:graphicFrameLocks noGrp="1"/>
          </p:cNvGraphicFramePr>
          <p:nvPr/>
        </p:nvGraphicFramePr>
        <p:xfrm>
          <a:off x="530352" y="1188720"/>
          <a:ext cx="10479024" cy="3538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2395728"/>
                <a:gridCol w="1325880"/>
                <a:gridCol w="1600200"/>
                <a:gridCol w="566928"/>
                <a:gridCol w="731520"/>
                <a:gridCol w="3493008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Sub-theme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NBSAP $ | no.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Client exposure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Tier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Key client evidence</a:t>
                      </a:r>
                    </a:p>
                  </a:txBody>
                  <a:tcPr marL="73152" marR="73152" marT="27432" marB="27432" anchor="ctr">
                    <a:solidFill>
                      <a:srgbClr val="2E2E38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Risk reduction and prevention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$27.1bn | 6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Not split out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4.5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24"/>
                          </a:solidFill>
                          <a:latin typeface="EYInterstate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E600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Cleve Hill (£238.5m) and HARP (£120m) financing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Land-use change and habitat protection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$20.4bn | 5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£5.9bn construction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4.2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24"/>
                          </a:solidFill>
                          <a:latin typeface="EYInterstate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E600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Project BNG of 10–65%; restoration eligible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Water availability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$2.9bn | 3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In £12.1bn utilities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4.1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24"/>
                          </a:solidFill>
                          <a:latin typeface="EYInterstate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E600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£120m HARP debt; reservoirs eligible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Water quality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$4.9bn | 5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£12.1bn utilities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4.0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1A24"/>
                          </a:solidFill>
                          <a:latin typeface="EYInterstate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E600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Wastewater eligible (SFF); wetland case studies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Sustainable agriculture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$6.6bn | 2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£6.7bn agriculture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3.9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5F5F6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685 farms assessed; regenerative farming eligible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Long-term adaptation and resilience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&lt;$0.1bn | 1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Cross-portfolio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3.6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5F5F6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£500m university retrofit; NbS eligible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Water usage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$0.2bn | 4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In £12.1bn utilities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3.3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5F5F6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Smart irrigation eligible; own-use water target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Nature-positive buildings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&lt;$0.1bn | 1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£26.3bn property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3.1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5F5F6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Biodiversity criteria in retrofit fund</a:t>
                      </a:r>
                    </a:p>
                  </a:txBody>
                  <a:tcPr marL="73152" marR="73152" marT="27432" marB="27432" anchor="ctr">
                    <a:solidFill>
                      <a:srgbClr val="22222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Flood mitigation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– | 0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£365.6bn mortgages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E600"/>
                          </a:solidFill>
                          <a:latin typeface="EYInterstate"/>
                        </a:rPr>
                        <a:t>3.0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2F2F2"/>
                          </a:solidFill>
                          <a:latin typeface="EYInterstate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5F5F6B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2F2F2"/>
                          </a:solidFill>
                          <a:latin typeface="EYInterstate Light"/>
                        </a:rPr>
                        <a:t>Flood products eligible; exposure not disclosed</a:t>
                      </a:r>
                    </a:p>
                  </a:txBody>
                  <a:tcPr marL="73152" marR="73152" marT="27432" marB="27432" anchor="ctr">
                    <a:solidFill>
                      <a:srgbClr val="16161D"/>
                    </a:solidFill>
                    <a:lnL w="6350">
                      <a:solidFill>
                        <a:srgbClr val="3A3A46"/>
                      </a:solidFill>
                    </a:lnL>
                    <a:lnR w="6350">
                      <a:solidFill>
                        <a:srgbClr val="3A3A46"/>
                      </a:solidFill>
                    </a:lnR>
                    <a:lnT w="6350">
                      <a:solidFill>
                        <a:srgbClr val="3A3A46"/>
                      </a:solidFill>
                    </a:lnT>
                    <a:lnB w="6350">
                      <a:solidFill>
                        <a:srgbClr val="3A3A4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4" name="low-panel"/>
          <p:cNvSpPr/>
          <p:nvPr/>
        </p:nvSpPr>
        <p:spPr>
          <a:xfrm>
            <a:off x="530352" y="5001768"/>
            <a:ext cx="10479024" cy="822960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13232" y="5047488"/>
            <a:ext cx="10113263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FFE600"/>
                </a:solidFill>
                <a:latin typeface="EYInterstate"/>
              </a:rPr>
              <a:t>Low (below 3.0): </a:t>
            </a:r>
            <a:r>
              <a:rPr sz="1100" b="0" i="0">
                <a:solidFill>
                  <a:srgbClr val="F2F2F2"/>
                </a:solidFill>
                <a:latin typeface="EYInterstate Light"/>
              </a:rPr>
              <a:t>Green-blue infrastructure, corridors and regeneration 2.8  |  Sustainable forestry 2.5  |  Air pollution, disturbances &amp; noise pollution 2.3  |  Waste &amp; circular economy 2.2  |  Innovation in sustainable packaging and biodegradable materials 1.9  |  Sustainable fisheries and aquaculture 1.4. </a:t>
            </a:r>
            <a:r>
              <a:rPr sz="1100" b="0" i="1">
                <a:solidFill>
                  <a:srgbClr val="BFBFC7"/>
                </a:solidFill>
                <a:latin typeface="EYInterstate Light"/>
              </a:rPr>
              <a:t>Agriculture is the largest nature priority exposure but has only two UK NBSAP commitments in the EY workbook.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0352" y="5897880"/>
            <a:ext cx="10479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BFBFC7"/>
                </a:solidFill>
                <a:latin typeface="EYInterstate Light"/>
              </a:rPr>
              <a:t>Score = weighted average (1–5): materiality 30%, action gap 25%, NBSAP emphasis 20%, regulatory and market momentum 15%, market opportunity 10%. NBSAP $ | no. = UK commitments in the EY NBSAP sizing workbook (indicative).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TextBox 135">
            <a:extLst>
              <a:ext uri="{FF2B5EF4-FFF2-40B4-BE49-F238E27FC236}">
                <a16:creationId xmlns:a16="http://schemas.microsoft.com/office/drawing/2014/main" id="{65FFDA4A-D922-B33B-FBEB-981B63BFC4C6}"/>
              </a:ext>
            </a:extLst>
          </p:cNvPr>
          <p:cNvSpPr txBox="1"/>
          <p:nvPr/>
        </p:nvSpPr>
        <p:spPr>
          <a:xfrm>
            <a:off x="502920" y="235958"/>
            <a:ext cx="110642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EY could help LBG move from nature criteria to portfolio-level action</a:t>
            </a:r>
            <a:endParaRPr kumimoji="0" sz="2400" b="1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F86720-086F-3C27-A8EC-CAC7CD478ED6}"/>
              </a:ext>
            </a:extLst>
          </p:cNvPr>
          <p:cNvSpPr txBox="1"/>
          <p:nvPr/>
        </p:nvSpPr>
        <p:spPr>
          <a:xfrm>
            <a:off x="530352" y="667845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rPr>
              <a:t>Lloyds Banking Group  |  How EY can assist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13DE41D7-E70C-E673-EFB2-5B0B24E50A54}"/>
              </a:ext>
            </a:extLst>
          </p:cNvPr>
          <p:cNvSpPr/>
          <p:nvPr/>
        </p:nvSpPr>
        <p:spPr>
          <a:xfrm>
            <a:off x="530352" y="932688"/>
            <a:ext cx="2103120" cy="22860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7ADCA6-AA98-2306-44E4-83F1FA6E80FA}"/>
              </a:ext>
            </a:extLst>
          </p:cNvPr>
          <p:cNvSpPr/>
          <p:nvPr/>
        </p:nvSpPr>
        <p:spPr>
          <a:xfrm>
            <a:off x="2624328" y="932688"/>
            <a:ext cx="2103120" cy="22860"/>
          </a:xfrm>
          <a:prstGeom prst="rect">
            <a:avLst/>
          </a:prstGeom>
          <a:solidFill>
            <a:srgbClr val="F4B18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1EA9AF8-C432-785B-96AA-42D4913F2639}"/>
              </a:ext>
            </a:extLst>
          </p:cNvPr>
          <p:cNvSpPr/>
          <p:nvPr/>
        </p:nvSpPr>
        <p:spPr>
          <a:xfrm>
            <a:off x="4718304" y="932688"/>
            <a:ext cx="2103120" cy="22860"/>
          </a:xfrm>
          <a:prstGeom prst="rect">
            <a:avLst/>
          </a:prstGeom>
          <a:solidFill>
            <a:srgbClr val="B56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F5453C5-83A5-50BE-FE2B-2DE1890A9808}"/>
              </a:ext>
            </a:extLst>
          </p:cNvPr>
          <p:cNvSpPr/>
          <p:nvPr/>
        </p:nvSpPr>
        <p:spPr>
          <a:xfrm>
            <a:off x="6812280" y="932688"/>
            <a:ext cx="2103120" cy="22860"/>
          </a:xfrm>
          <a:prstGeom prst="rect">
            <a:avLst/>
          </a:prstGeom>
          <a:solidFill>
            <a:srgbClr val="4E95D9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B05D98F-1E52-745C-7EFF-47A015F6CDC1}"/>
              </a:ext>
            </a:extLst>
          </p:cNvPr>
          <p:cNvSpPr/>
          <p:nvPr/>
        </p:nvSpPr>
        <p:spPr>
          <a:xfrm>
            <a:off x="8906256" y="932688"/>
            <a:ext cx="2103120" cy="22860"/>
          </a:xfrm>
          <a:prstGeom prst="rect">
            <a:avLst/>
          </a:prstGeom>
          <a:solidFill>
            <a:srgbClr val="19D3D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3" name="card-1"/>
          <p:cNvSpPr/>
          <p:nvPr/>
        </p:nvSpPr>
        <p:spPr>
          <a:xfrm>
            <a:off x="530352" y="1234440"/>
            <a:ext cx="2459736" cy="349300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13232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24"/>
                </a:solidFill>
                <a:latin typeface="EYInterstate"/>
              </a:rP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61872" y="1389888"/>
            <a:ext cx="1591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F2F2F2"/>
                </a:solidFill>
                <a:latin typeface="EYInterstate"/>
              </a:rPr>
              <a:t>Flood and drought risk reduction</a:t>
            </a:r>
          </a:p>
          <a:p>
            <a:r>
              <a:rPr sz="1050" b="0" i="0">
                <a:solidFill>
                  <a:srgbClr val="FFE600"/>
                </a:solidFill>
                <a:latin typeface="EYInterstate Light"/>
              </a:rPr>
              <a:t>Score 4.5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4944" y="2130552"/>
            <a:ext cx="21305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E600"/>
                </a:solidFill>
                <a:latin typeface="EYInterstate"/>
              </a:rPr>
              <a:t>What the public evidence shows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Resilience built into Cleve Hill and HARP; mortgage flood exposure not disclosed.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How EY could support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Physical and nature-related risk assessment of the lending book; resilience finance criteria.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Indicative output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Portfolio flood and drought heatmap</a:t>
            </a:r>
          </a:p>
        </p:txBody>
      </p:sp>
      <p:sp>
        <p:nvSpPr>
          <p:cNvPr id="148" name="card-2"/>
          <p:cNvSpPr/>
          <p:nvPr/>
        </p:nvSpPr>
        <p:spPr>
          <a:xfrm>
            <a:off x="3203143" y="1234440"/>
            <a:ext cx="2459736" cy="349300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386023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24"/>
                </a:solidFill>
                <a:latin typeface="EYInterstate"/>
              </a:rPr>
              <a:t>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934663" y="1389888"/>
            <a:ext cx="1591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F2F2F2"/>
                </a:solidFill>
                <a:latin typeface="EYInterstate"/>
              </a:rPr>
              <a:t>Habitat protection and BNG</a:t>
            </a:r>
          </a:p>
          <a:p>
            <a:r>
              <a:rPr sz="1050" b="0" i="0">
                <a:solidFill>
                  <a:srgbClr val="F4B183"/>
                </a:solidFill>
                <a:latin typeface="EYInterstate Light"/>
              </a:rPr>
              <a:t>Score 4.2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67735" y="2130552"/>
            <a:ext cx="21305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E600"/>
                </a:solidFill>
                <a:latin typeface="EYInterstate"/>
              </a:rPr>
              <a:t>What the public evidence shows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£5.9bn construction exposure in scope of BNG; BNG delivered project by project (10–65%).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How EY could support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Nature markets and BNG strategy; due diligence on nature outcomes in financed projects.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Indicative output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Nature markets options paper; BNG due diligence checklist</a:t>
            </a:r>
          </a:p>
        </p:txBody>
      </p:sp>
      <p:sp>
        <p:nvSpPr>
          <p:cNvPr id="153" name="card-3"/>
          <p:cNvSpPr/>
          <p:nvPr/>
        </p:nvSpPr>
        <p:spPr>
          <a:xfrm>
            <a:off x="5875934" y="1234440"/>
            <a:ext cx="2459736" cy="349300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solidFill>
            <a:srgbClr val="B56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058814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24"/>
                </a:solidFill>
                <a:latin typeface="EYInterstate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607454" y="1389888"/>
            <a:ext cx="1591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F2F2F2"/>
                </a:solidFill>
                <a:latin typeface="EYInterstate"/>
              </a:rPr>
              <a:t>Water availability and quality</a:t>
            </a:r>
          </a:p>
          <a:p>
            <a:r>
              <a:rPr sz="1050" b="0" i="0">
                <a:solidFill>
                  <a:srgbClr val="B565D9"/>
                </a:solidFill>
                <a:latin typeface="EYInterstate Light"/>
              </a:rPr>
              <a:t>Score 4.1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040526" y="2130552"/>
            <a:ext cx="21305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E600"/>
                </a:solidFill>
                <a:latin typeface="EYInterstate"/>
              </a:rPr>
              <a:t>What the public evidence shows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£12.1bn energy and water supply exposure; £120m HARP debt; water criteria in SFF.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How EY could support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UK water investment pipeline using the EY NBSAP sizing tool; sustainability-linked KPI design.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Indicative output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Water investment pipeline; KPI set</a:t>
            </a:r>
          </a:p>
        </p:txBody>
      </p:sp>
      <p:sp>
        <p:nvSpPr>
          <p:cNvPr id="158" name="card-4"/>
          <p:cNvSpPr/>
          <p:nvPr/>
        </p:nvSpPr>
        <p:spPr>
          <a:xfrm>
            <a:off x="8548725" y="1234440"/>
            <a:ext cx="2459736" cy="349300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731605" y="1417320"/>
            <a:ext cx="411480" cy="411480"/>
          </a:xfrm>
          <a:prstGeom prst="rect">
            <a:avLst/>
          </a:prstGeom>
          <a:solidFill>
            <a:srgbClr val="4E9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731605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A1A24"/>
                </a:solidFill>
                <a:latin typeface="EYInterstate"/>
              </a:rPr>
              <a:t>4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280245" y="1389888"/>
            <a:ext cx="159105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1" i="0">
                <a:solidFill>
                  <a:srgbClr val="F2F2F2"/>
                </a:solidFill>
                <a:latin typeface="EYInterstate"/>
              </a:rPr>
              <a:t>Sustainable agriculture</a:t>
            </a:r>
          </a:p>
          <a:p>
            <a:r>
              <a:rPr sz="1050" b="0" i="0">
                <a:solidFill>
                  <a:srgbClr val="4E95D9"/>
                </a:solidFill>
                <a:latin typeface="EYInterstate Light"/>
              </a:rPr>
              <a:t>Score 3.9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13317" y="2130552"/>
            <a:ext cx="2130552" cy="2542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 i="0">
                <a:solidFill>
                  <a:srgbClr val="FFE600"/>
                </a:solidFill>
                <a:latin typeface="EYInterstate"/>
              </a:rPr>
              <a:t>What the public evidence shows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£6.7bn agriculture exposure; 685 farms assessed; target covers emissions only.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How EY could support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Nature baseline for the agriculture book; regenerative farming products and nature targets.</a:t>
            </a:r>
          </a:p>
          <a:p>
            <a:r>
              <a:rPr sz="1050" b="1" i="0">
                <a:solidFill>
                  <a:srgbClr val="FFE600"/>
                </a:solidFill>
                <a:latin typeface="EYInterstate"/>
              </a:rPr>
              <a:t>Indicative output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F2F2F2"/>
                </a:solidFill>
                <a:latin typeface="EYInterstate Light"/>
              </a:rPr>
              <a:t>Agriculture nature baseline; product concept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30352" y="4846320"/>
            <a:ext cx="10479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 i="0">
                <a:solidFill>
                  <a:srgbClr val="FFE600"/>
                </a:solidFill>
                <a:latin typeface="EYInterstate"/>
              </a:rPr>
              <a:t>Across all four: </a:t>
            </a:r>
            <a:r>
              <a:rPr sz="1200" b="0" i="0">
                <a:solidFill>
                  <a:srgbClr val="F2F2F2"/>
                </a:solidFill>
                <a:latin typeface="EYInterstate Light"/>
              </a:rPr>
              <a:t>TNFD-aligned disclosure, nature metrics and target setting, and reporting sustainable finance by nature category.</a:t>
            </a:r>
          </a:p>
        </p:txBody>
      </p:sp>
      <p:sp>
        <p:nvSpPr>
          <p:cNvPr id="164" name="next-steps-panel"/>
          <p:cNvSpPr/>
          <p:nvPr/>
        </p:nvSpPr>
        <p:spPr>
          <a:xfrm>
            <a:off x="530352" y="5230368"/>
            <a:ext cx="10479024" cy="658368"/>
          </a:xfrm>
          <a:prstGeom prst="roundRect">
            <a:avLst>
              <a:gd name="adj" fmla="val 6000"/>
            </a:avLst>
          </a:prstGeom>
          <a:solidFill>
            <a:srgbClr val="2E2E38"/>
          </a:solidFill>
          <a:ln w="9525">
            <a:solidFill>
              <a:srgbClr val="3A3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1519" y="5266944"/>
            <a:ext cx="100766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E600"/>
                </a:solidFill>
                <a:latin typeface="EYInterstate"/>
              </a:rPr>
              <a:t>Proposed next steps   </a:t>
            </a:r>
            <a:r>
              <a:rPr sz="1200" b="0" i="0">
                <a:solidFill>
                  <a:srgbClr val="F2F2F2"/>
                </a:solidFill>
                <a:latin typeface="EYInterstate Light"/>
              </a:rPr>
              <a:t>1. Validate against the LBG Sustainability Report 2025   2. Discovery workshop with LBG sustainability, risk and corporate banking teams   3. Deep dive on nature exposure in agriculture and water lending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30352" y="5943600"/>
            <a:ext cx="104790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 i="1">
                <a:solidFill>
                  <a:srgbClr val="BFBFC7"/>
                </a:solidFill>
                <a:latin typeface="EYInterstate Light"/>
              </a:rPr>
              <a:t>Support areas are indicative and to be aligned with the EY CCaSS service catalogue. Scores from page 3.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Custom 10">
      <a:majorFont>
        <a:latin typeface="EYInterstate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884888A5-C629-42F8-9D4B-3CDF061885ED}" vid="{39A1E73B-99D1-4B7B-ACBD-88B4D756EAAE}"/>
    </a:ext>
  </a:extLst>
</a:theme>
</file>

<file path=ppt/theme/theme2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_EY All In PowerPoint Onscreen (Widescreen) 2024 PowerPoint ribbon (FINAL).pptx" id="{74B484E2-2FF1-4219-84B9-072474B8FEB1}" vid="{2AA547DC-10FC-4772-B511-C540E0FE6E5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</Words>
  <Application>Microsoft Office PowerPoint</Application>
  <PresentationFormat>Widescreen</PresentationFormat>
  <Paragraphs>9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Aptos</vt:lpstr>
      <vt:lpstr>Arial</vt:lpstr>
      <vt:lpstr>Calibri</vt:lpstr>
      <vt:lpstr>EYInterstate</vt:lpstr>
      <vt:lpstr>EYInterstate Light</vt:lpstr>
      <vt:lpstr>EYInterstate Regular</vt:lpstr>
      <vt:lpstr>Georgia Pro</vt:lpstr>
      <vt:lpstr>Wingdings</vt:lpstr>
      <vt:lpstr>EY Core Slides</vt:lpstr>
      <vt:lpstr>1_EY Core Slides</vt:lpstr>
      <vt:lpstr>think-cell Slide</vt:lpstr>
      <vt:lpstr>Deck Title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Dakoju</dc:creator>
  <cp:lastModifiedBy>Manikanta Dakoju</cp:lastModifiedBy>
  <cp:revision>1</cp:revision>
  <dcterms:created xsi:type="dcterms:W3CDTF">2026-10-07T20:03:48Z</dcterms:created>
  <dcterms:modified xsi:type="dcterms:W3CDTF">2026-10-07T20:06:08Z</dcterms:modified>
</cp:coreProperties>
</file>